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7.png"/><Relationship Id="rId10" Type="http://schemas.openxmlformats.org/officeDocument/2006/relationships/image" Target="../media/image-4-10.png"/><Relationship Id="rId11" Type="http://schemas.openxmlformats.org/officeDocument/2006/relationships/image" Target="../media/image-4-7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8.png"/><Relationship Id="rId10" Type="http://schemas.openxmlformats.org/officeDocument/2006/relationships/image" Target="../media/image-6-8.png"/><Relationship Id="rId11" Type="http://schemas.openxmlformats.org/officeDocument/2006/relationships/image" Target="../media/image-6-8.png"/><Relationship Id="rId12" Type="http://schemas.openxmlformats.org/officeDocument/2006/relationships/image" Target="../media/image-6-8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image" Target="../media/image-10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055A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4572000" cy="4572000"/>
          </a:xfrm>
          <a:prstGeom prst="ellipse">
            <a:avLst/>
          </a:prstGeom>
          <a:solidFill>
            <a:srgbClr val="4A90D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WISER GLOBAL QUANTUM + AI PROGRAM 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" y="137160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and Recommendations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4505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7121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+  Classical Optimization  +  Quantum Computing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9" name="Image 0" descr="icons/brain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410565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4599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514600" y="423367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2898648" y="397764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3" name="Image 1" descr="icons/cog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164" y="410565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98648" y="4599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73168" y="423367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157216" y="3977640"/>
            <a:ext cx="18745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4A90D9"/>
            </a:solidFill>
            <a:prstDash val="solid"/>
          </a:ln>
        </p:spPr>
      </p:sp>
      <p:pic>
        <p:nvPicPr>
          <p:cNvPr id="17" name="Image 2" descr="icons/atom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410565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57216" y="4599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031736" y="4233672"/>
            <a:ext cx="384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7488936" y="3977640"/>
            <a:ext cx="3383280" cy="1051560"/>
          </a:xfrm>
          <a:prstGeom prst="roundRect">
            <a:avLst>
              <a:gd name="adj" fmla="val 8696"/>
            </a:avLst>
          </a:prstGeom>
          <a:solidFill>
            <a:srgbClr val="0055A4"/>
          </a:solidFill>
          <a:ln/>
        </p:spPr>
      </p:sp>
      <p:pic>
        <p:nvPicPr>
          <p:cNvPr id="21" name="Image 3" descr="icons/dash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4261104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66176" y="40965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" y="59893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080" y="6236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Sirama Avinash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verified findings from the project, spanning AI prediction, optimization, and quantum readiness.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C2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61872" y="1984248"/>
            <a:ext cx="694944" cy="69494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7" name="Image 0" descr="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1305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8196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3232" y="2862072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Intelligence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provide predictive intelligence for demand and inventory decisions.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39212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C2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2444" y="1984248"/>
            <a:ext cx="694944" cy="69494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3" name="Image 1" descr="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213055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48940" y="18196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003804" y="2862072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Baseline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022092" y="356616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 provides a practical and explainable baseline for fulfillment decisions.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129784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C2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43016" y="1984248"/>
            <a:ext cx="694944" cy="69494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9" name="Image 2" descr="icons/at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3055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9512" y="18196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294376" y="2862072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Optimization Pathway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312664" y="356616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can be incorporated as a future pathway through QUBO-based formulations.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420356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C2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133588" y="1984248"/>
            <a:ext cx="694944" cy="69494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5" name="Image 3" descr="icons/lay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892" y="213055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30084" y="18196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584948" y="2862072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603236" y="356616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architecture can combine prediction, optimization, and future quantum experimentation.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710928" y="1691640"/>
            <a:ext cx="2121408" cy="4160520"/>
          </a:xfrm>
          <a:prstGeom prst="roundRect">
            <a:avLst>
              <a:gd name="adj" fmla="val 3879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9AAFC2">
                <a:alpha val="2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424160" y="1984248"/>
            <a:ext cx="694944" cy="694944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1" name="Image 4" descr="icons/dashbo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464" y="2130552"/>
            <a:ext cx="402336" cy="40233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820656" y="181965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875520" y="2862072"/>
            <a:ext cx="179222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Dashboard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9893808" y="3566160"/>
            <a:ext cx="1755648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dashboard converts technical outputs into business decisions.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WISER Global Quantum + AI Program 2026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 Demonstrated Strong Test-Set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60520" cy="4434840"/>
          </a:xfrm>
          <a:prstGeom prst="roundRect">
            <a:avLst>
              <a:gd name="adj" fmla="val 1978"/>
            </a:avLst>
          </a:prstGeom>
          <a:solidFill>
            <a:srgbClr val="0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68680" y="2468880"/>
            <a:ext cx="352044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9748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26974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20,143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1821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samples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08960" y="31821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5,036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36667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(raw)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08960" y="36667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25,193 rows × 81 cols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415137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ID removal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08960" y="415137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25,193 rows × 76 features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63600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removed (missing target)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08960" y="46360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modeling records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108960" y="51206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25,179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0" y="14173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RESULTS ON THE PROJECT TEST SET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0" y="182880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95681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20640" y="2231136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0.000310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138928" y="296265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78624" y="182880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5784" y="195681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70064" y="2231136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0.005716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388352" y="296265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528048" y="182880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65208" y="1956816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619488" y="2231136"/>
            <a:ext cx="1901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55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0.967557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9637776" y="2962656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of Determination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37033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0" y="4105656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5" name="Text 33"/>
          <p:cNvSpPr/>
          <p:nvPr/>
        </p:nvSpPr>
        <p:spPr>
          <a:xfrm>
            <a:off x="5285232" y="3995928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captured strong predictive relationships in the project dataset.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0" y="4672584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7" name="Text 35"/>
          <p:cNvSpPr/>
          <p:nvPr/>
        </p:nvSpPr>
        <p:spPr>
          <a:xfrm>
            <a:off x="5285232" y="4562856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can support downstream inventory and optimization workflows.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239512"/>
            <a:ext cx="109728" cy="10972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39" name="Text 37"/>
          <p:cNvSpPr/>
          <p:nvPr/>
        </p:nvSpPr>
        <p:spPr>
          <a:xfrm>
            <a:off x="5285232" y="5129784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estimation can help distinguish automated recommendations from cases requiring planner review.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5742432"/>
            <a:ext cx="6583680" cy="566928"/>
          </a:xfrm>
          <a:prstGeom prst="roundRect">
            <a:avLst>
              <a:gd name="adj" fmla="val 11290"/>
            </a:avLst>
          </a:prstGeom>
          <a:solidFill>
            <a:srgbClr val="FFF4E5"/>
          </a:solidFill>
          <a:ln w="9525">
            <a:solidFill>
              <a:srgbClr val="F0C674"/>
            </a:solidFill>
            <a:prstDash val="solid"/>
          </a:ln>
        </p:spPr>
      </p:sp>
      <p:pic>
        <p:nvPicPr>
          <p:cNvPr id="41" name="Image 0" descr="icons/warning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5852160"/>
            <a:ext cx="329184" cy="329184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596128" y="5742432"/>
            <a:ext cx="5897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reflect performance on the project test set only, not a claim of production-level accuracy.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WISER Global Quantum + AI Program 2026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Becomes Valuable When Converted Into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7464" y="160020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3184" y="160020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pic>
        <p:nvPicPr>
          <p:cNvPr id="6" name="Image 0" descr="icons/arrow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7664" y="1956816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6264" y="160020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11984" y="160020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pic>
        <p:nvPicPr>
          <p:cNvPr id="9" name="Image 1" descr="icons/arrow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464" y="195681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95064" y="160020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40784" y="160020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50" dirty="0"/>
          </a:p>
        </p:txBody>
      </p:sp>
      <p:pic>
        <p:nvPicPr>
          <p:cNvPr id="12" name="Image 2" descr="icons/arrow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264" y="1956816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23864" y="160020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269584" y="160020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pic>
        <p:nvPicPr>
          <p:cNvPr id="15" name="Image 3" descr="icons/arrow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064" y="195681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052664" y="160020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8098384" y="160020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pic>
        <p:nvPicPr>
          <p:cNvPr id="18" name="Image 4" descr="icons/arrow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2864" y="1956816"/>
            <a:ext cx="201168" cy="2011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9881464" y="1600200"/>
            <a:ext cx="1572768" cy="914400"/>
          </a:xfrm>
          <a:prstGeom prst="roundRect">
            <a:avLst>
              <a:gd name="adj" fmla="val 8000"/>
            </a:avLst>
          </a:prstGeom>
          <a:solidFill>
            <a:srgbClr val="0055A4"/>
          </a:solidFill>
          <a:ln w="12700">
            <a:solidFill>
              <a:srgbClr val="0055A4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927184" y="160020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548640" y="2697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Decision Pipeline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548640" y="32461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CATEGORIES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95148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23748" y="3886200"/>
            <a:ext cx="548640" cy="548640"/>
          </a:xfrm>
          <a:prstGeom prst="ellipse">
            <a:avLst/>
          </a:prstGeom>
          <a:solidFill>
            <a:srgbClr val="C77700"/>
          </a:solidFill>
          <a:ln/>
        </p:spPr>
      </p:sp>
      <p:pic>
        <p:nvPicPr>
          <p:cNvPr id="25" name="Image 5" descr="icons/ey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908" y="402336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09548" y="3858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450" dirty="0"/>
          </a:p>
        </p:txBody>
      </p:sp>
      <p:pic>
        <p:nvPicPr>
          <p:cNvPr id="27" name="Image 6" descr="icons/arrow_gra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748" y="459028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2550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Review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723748" y="49560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 driven by AI + business rules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4335628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4564228" y="3886200"/>
            <a:ext cx="548640" cy="54864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32" name="Image 7" descr="icons/warehouse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1388" y="4023360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250028" y="3858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Gap</a:t>
            </a:r>
            <a:endParaRPr lang="en-US" sz="1450" dirty="0"/>
          </a:p>
        </p:txBody>
      </p:sp>
      <p:pic>
        <p:nvPicPr>
          <p:cNvPr id="34" name="Image 8" descr="icons/arrow_gra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4228" y="4590288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486598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</a:t>
            </a:r>
            <a:endParaRPr lang="en-US" sz="1300" dirty="0"/>
          </a:p>
        </p:txBody>
      </p:sp>
      <p:sp>
        <p:nvSpPr>
          <p:cNvPr id="36" name="Text 25"/>
          <p:cNvSpPr/>
          <p:nvPr/>
        </p:nvSpPr>
        <p:spPr>
          <a:xfrm>
            <a:off x="4564228" y="49560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 driven by AI + business rules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8176108" y="3657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8404708" y="3886200"/>
            <a:ext cx="548640" cy="548640"/>
          </a:xfrm>
          <a:prstGeom prst="ellipse">
            <a:avLst/>
          </a:prstGeom>
          <a:solidFill>
            <a:srgbClr val="1E8A5F"/>
          </a:solidFill>
          <a:ln/>
        </p:spPr>
      </p:sp>
      <p:pic>
        <p:nvPicPr>
          <p:cNvPr id="39" name="Image 9" descr="icons/check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1868" y="4023360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9090508" y="385876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Gap</a:t>
            </a:r>
            <a:endParaRPr lang="en-US" sz="1450" dirty="0"/>
          </a:p>
        </p:txBody>
      </p:sp>
      <p:pic>
        <p:nvPicPr>
          <p:cNvPr id="41" name="Image 10" descr="icons/arrow_gr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4708" y="4590288"/>
            <a:ext cx="201168" cy="20116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870646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Inventory</a:t>
            </a:r>
            <a:endParaRPr lang="en-US" sz="1300" dirty="0"/>
          </a:p>
        </p:txBody>
      </p:sp>
      <p:sp>
        <p:nvSpPr>
          <p:cNvPr id="43" name="Text 30"/>
          <p:cNvSpPr/>
          <p:nvPr/>
        </p:nvSpPr>
        <p:spPr>
          <a:xfrm>
            <a:off x="8404708" y="49560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 driven by AI + business rules</a:t>
            </a:r>
            <a:endParaRPr lang="en-US" sz="950" dirty="0"/>
          </a:p>
        </p:txBody>
      </p:sp>
      <p:sp>
        <p:nvSpPr>
          <p:cNvPr id="44" name="Shape 31"/>
          <p:cNvSpPr/>
          <p:nvPr/>
        </p:nvSpPr>
        <p:spPr>
          <a:xfrm>
            <a:off x="548640" y="562356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0B2A4A"/>
          </a:solidFill>
          <a:ln/>
        </p:spPr>
      </p:sp>
      <p:sp>
        <p:nvSpPr>
          <p:cNvPr id="45" name="Text 32"/>
          <p:cNvSpPr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connects AI predictions to actionable business recommendations rather than stopping at forecasting.</a:t>
            </a:r>
            <a:endParaRPr lang="en-US" sz="1300" dirty="0"/>
          </a:p>
        </p:txBody>
      </p:sp>
      <p:sp>
        <p:nvSpPr>
          <p:cNvPr id="46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WISER Global Quantum + AI Program 2026</a:t>
            </a:r>
            <a:endParaRPr lang="en-US" sz="900" dirty="0"/>
          </a:p>
        </p:txBody>
      </p:sp>
      <p:sp>
        <p:nvSpPr>
          <p:cNvPr id="47" name="Text 34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Should Balance Multiple Business Constraints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fulfillment decision is not simply the nearest warehouse or the warehouse with the most inventory — it must balance multiple competing objectives and constraints.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27168" y="3291840"/>
            <a:ext cx="1737360" cy="173736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127000" dist="38100" dir="5400000">
              <a:srgbClr val="3B6FA0">
                <a:alpha val="35000"/>
              </a:srgbClr>
            </a:outerShdw>
          </a:effectLst>
        </p:spPr>
      </p:sp>
      <p:pic>
        <p:nvPicPr>
          <p:cNvPr id="6" name="Image 0" descr="icons/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800" y="3657600"/>
            <a:ext cx="768096" cy="7680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27168" y="445312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95848" y="3291840"/>
            <a:ext cx="0" cy="-1051560"/>
          </a:xfrm>
          <a:prstGeom prst="line">
            <a:avLst/>
          </a:prstGeom>
          <a:noFill/>
          <a:ln w="19050">
            <a:solidFill>
              <a:srgbClr val="DDE4EA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5309464" y="166878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10" name="Image 1" descr="icons/boxe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112" y="1778508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55184" y="2162556"/>
            <a:ext cx="1481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848147" y="3726180"/>
            <a:ext cx="910678" cy="-525780"/>
          </a:xfrm>
          <a:prstGeom prst="line">
            <a:avLst/>
          </a:prstGeom>
          <a:noFill/>
          <a:ln w="19050">
            <a:solidFill>
              <a:srgbClr val="DDE4EA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7012035" y="2651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14" name="Image 2" descr="icons/tru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683" y="276148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57755" y="3145536"/>
            <a:ext cx="1481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48147" y="4594860"/>
            <a:ext cx="910678" cy="525780"/>
          </a:xfrm>
          <a:prstGeom prst="line">
            <a:avLst/>
          </a:prstGeom>
          <a:noFill/>
          <a:ln w="19050">
            <a:solidFill>
              <a:srgbClr val="DDE4EA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7012035" y="461772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18" name="Image 3" descr="icons/warehous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683" y="4727448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57755" y="5111496"/>
            <a:ext cx="1481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Center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6095848" y="5029200"/>
            <a:ext cx="0" cy="1051560"/>
          </a:xfrm>
          <a:prstGeom prst="line">
            <a:avLst/>
          </a:prstGeom>
          <a:noFill/>
          <a:ln w="19050">
            <a:solidFill>
              <a:srgbClr val="DDE4EA"/>
            </a:solidFill>
            <a:prstDash val="dash"/>
          </a:ln>
        </p:spPr>
      </p:sp>
      <p:sp>
        <p:nvSpPr>
          <p:cNvPr id="21" name="Shape 15"/>
          <p:cNvSpPr/>
          <p:nvPr/>
        </p:nvSpPr>
        <p:spPr>
          <a:xfrm>
            <a:off x="5309464" y="560070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22" name="Image 4" descr="icons/users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2" y="5710428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55184" y="6094476"/>
            <a:ext cx="1481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/ Dock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5343549" y="4594860"/>
            <a:ext cx="-910678" cy="525780"/>
          </a:xfrm>
          <a:prstGeom prst="line">
            <a:avLst/>
          </a:prstGeom>
          <a:noFill/>
          <a:ln w="19050">
            <a:solidFill>
              <a:srgbClr val="DDE4EA"/>
            </a:solidFill>
            <a:prstDash val="dash"/>
          </a:ln>
        </p:spPr>
      </p:sp>
      <p:sp>
        <p:nvSpPr>
          <p:cNvPr id="25" name="Shape 18"/>
          <p:cNvSpPr/>
          <p:nvPr/>
        </p:nvSpPr>
        <p:spPr>
          <a:xfrm>
            <a:off x="3606892" y="461772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26" name="Image 5" descr="icons/chartlin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540" y="4727448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652612" y="5111496"/>
            <a:ext cx="1481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5343549" y="3726180"/>
            <a:ext cx="-910678" cy="-525780"/>
          </a:xfrm>
          <a:prstGeom prst="line">
            <a:avLst/>
          </a:prstGeom>
          <a:noFill/>
          <a:ln w="19050">
            <a:solidFill>
              <a:srgbClr val="DDE4EA"/>
            </a:solidFill>
            <a:prstDash val="dash"/>
          </a:ln>
        </p:spPr>
      </p:sp>
      <p:sp>
        <p:nvSpPr>
          <p:cNvPr id="29" name="Shape 21"/>
          <p:cNvSpPr/>
          <p:nvPr/>
        </p:nvSpPr>
        <p:spPr>
          <a:xfrm>
            <a:off x="3606892" y="2651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pic>
        <p:nvPicPr>
          <p:cNvPr id="30" name="Image 6" descr="icons/warning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9540" y="2761488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652612" y="3145536"/>
            <a:ext cx="14813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Unmet Demand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WISER Global Quantum + AI Program 2026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VS. QUANTUM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Is Practical Today; Quantum Creates Future Optionality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3728" y="1783080"/>
            <a:ext cx="5257800" cy="3611880"/>
          </a:xfrm>
          <a:prstGeom prst="roundRect">
            <a:avLst>
              <a:gd name="adj" fmla="val 2278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048" y="2057400"/>
            <a:ext cx="640080" cy="64008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6" name="Image 0" descr="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208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15288" y="21031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</a:t>
            </a:r>
            <a:endParaRPr lang="en-US" sz="1500" dirty="0"/>
          </a:p>
        </p:txBody>
      </p:sp>
      <p:pic>
        <p:nvPicPr>
          <p:cNvPr id="8" name="Image 1" descr="icons/chec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8" y="2926080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22096" y="287121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</a:t>
            </a:r>
            <a:endParaRPr lang="en-US" sz="1300" dirty="0"/>
          </a:p>
        </p:txBody>
      </p:sp>
      <p:pic>
        <p:nvPicPr>
          <p:cNvPr id="10" name="Image 2" descr="icons/chec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341071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22096" y="3355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pic>
        <p:nvPicPr>
          <p:cNvPr id="12" name="Image 3" descr="icons/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68" y="3895344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22096" y="3840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300" dirty="0"/>
          </a:p>
        </p:txBody>
      </p:sp>
      <p:pic>
        <p:nvPicPr>
          <p:cNvPr id="14" name="Image 4" descr="icons/check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768" y="4379976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22096" y="43251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Constraint-friendly</a:t>
            </a:r>
            <a:endParaRPr lang="en-US" sz="1300" dirty="0"/>
          </a:p>
        </p:txBody>
      </p:sp>
      <p:pic>
        <p:nvPicPr>
          <p:cNvPr id="16" name="Image 5" descr="icons/check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768" y="4864608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22096" y="480974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current deployment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6370168" y="1783080"/>
            <a:ext cx="5257800" cy="3611880"/>
          </a:xfrm>
          <a:prstGeom prst="roundRect">
            <a:avLst>
              <a:gd name="adj" fmla="val 2278"/>
            </a:avLst>
          </a:prstGeom>
          <a:solidFill>
            <a:srgbClr val="0B2A4A"/>
          </a:solidFill>
          <a:ln/>
        </p:spPr>
      </p:sp>
      <p:sp>
        <p:nvSpPr>
          <p:cNvPr id="19" name="Shape 11"/>
          <p:cNvSpPr/>
          <p:nvPr/>
        </p:nvSpPr>
        <p:spPr>
          <a:xfrm>
            <a:off x="6644488" y="2057400"/>
            <a:ext cx="640080" cy="640080"/>
          </a:xfrm>
          <a:prstGeom prst="ellipse">
            <a:avLst/>
          </a:prstGeom>
          <a:solidFill>
            <a:srgbClr val="4A90D9"/>
          </a:solidFill>
          <a:ln/>
        </p:spPr>
      </p:sp>
      <p:pic>
        <p:nvPicPr>
          <p:cNvPr id="20" name="Image 6" descr="icons/atom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648" y="219456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21728" y="21031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</a:t>
            </a:r>
            <a:endParaRPr lang="en-US" sz="1500" dirty="0"/>
          </a:p>
        </p:txBody>
      </p:sp>
      <p:pic>
        <p:nvPicPr>
          <p:cNvPr id="22" name="Image 7" descr="icons/check_lightblu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0208" y="2926080"/>
            <a:ext cx="219456" cy="21945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028536" y="287121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300" dirty="0"/>
          </a:p>
        </p:txBody>
      </p:sp>
      <p:pic>
        <p:nvPicPr>
          <p:cNvPr id="24" name="Image 8" descr="icons/check_lightblu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0208" y="3410712"/>
            <a:ext cx="219456" cy="219456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028536" y="335584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QUBO-compatible</a:t>
            </a:r>
            <a:endParaRPr lang="en-US" sz="1300" dirty="0"/>
          </a:p>
        </p:txBody>
      </p:sp>
      <p:pic>
        <p:nvPicPr>
          <p:cNvPr id="26" name="Image 9" descr="icons/check_lightblu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0208" y="3895344"/>
            <a:ext cx="219456" cy="219456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7028536" y="38404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Research-oriented</a:t>
            </a:r>
            <a:endParaRPr lang="en-US" sz="1300" dirty="0"/>
          </a:p>
        </p:txBody>
      </p:sp>
      <p:pic>
        <p:nvPicPr>
          <p:cNvPr id="28" name="Image 10" descr="icons/check_lightblu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0208" y="4379976"/>
            <a:ext cx="219456" cy="219456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7028536" y="43251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for future complex optimization</a:t>
            </a:r>
            <a:endParaRPr lang="en-US" sz="1300" dirty="0"/>
          </a:p>
        </p:txBody>
      </p:sp>
      <p:pic>
        <p:nvPicPr>
          <p:cNvPr id="30" name="Image 11" descr="icons/check_lightblu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0208" y="4864608"/>
            <a:ext cx="219456" cy="219456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7028536" y="480974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continued validation</a:t>
            </a:r>
            <a:endParaRPr lang="en-US" sz="1300" dirty="0"/>
          </a:p>
        </p:txBody>
      </p:sp>
      <p:sp>
        <p:nvSpPr>
          <p:cNvPr id="32" name="Shape 18"/>
          <p:cNvSpPr/>
          <p:nvPr/>
        </p:nvSpPr>
        <p:spPr>
          <a:xfrm>
            <a:off x="1821028" y="3296412"/>
            <a:ext cx="0" cy="0"/>
          </a:xfrm>
          <a:prstGeom prst="roundRect">
            <a:avLst/>
          </a:prstGeom>
          <a:noFill/>
          <a:ln/>
        </p:spPr>
      </p:sp>
      <p:pic>
        <p:nvPicPr>
          <p:cNvPr id="33" name="Image 12" descr="icons/arrow_gra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75808" y="3451860"/>
            <a:ext cx="822960" cy="274320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563728" y="14904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35" name="Text 20"/>
          <p:cNvSpPr/>
          <p:nvPr/>
        </p:nvSpPr>
        <p:spPr>
          <a:xfrm>
            <a:off x="6370168" y="14904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36" name="Shape 21"/>
          <p:cNvSpPr/>
          <p:nvPr/>
        </p:nvSpPr>
        <p:spPr>
          <a:xfrm>
            <a:off x="548640" y="548640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FF4E5"/>
          </a:solidFill>
          <a:ln w="9525">
            <a:solidFill>
              <a:srgbClr val="F0C674"/>
            </a:solidFill>
            <a:prstDash val="solid"/>
          </a:ln>
        </p:spPr>
      </p:sp>
      <p:pic>
        <p:nvPicPr>
          <p:cNvPr id="37" name="Image 13" descr="icons/lightbulb_blu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5742432"/>
            <a:ext cx="365760" cy="365760"/>
          </a:xfrm>
          <a:prstGeom prst="rect">
            <a:avLst/>
          </a:prstGeom>
        </p:spPr>
      </p:pic>
      <p:sp>
        <p:nvSpPr>
          <p:cNvPr id="38" name="Text 22"/>
          <p:cNvSpPr/>
          <p:nvPr/>
        </p:nvSpPr>
        <p:spPr>
          <a:xfrm>
            <a:off x="1280160" y="548640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Quantum computing should be treated as a strategic capability under evaluation — not an assumption of immediate quantum advantage.</a:t>
            </a:r>
            <a:endParaRPr lang="en-US" sz="1250" dirty="0"/>
          </a:p>
        </p:txBody>
      </p:sp>
      <p:sp>
        <p:nvSpPr>
          <p:cNvPr id="39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WISER Global Quantum + AI Program 2026</a:t>
            </a:r>
            <a:endParaRPr lang="en-US" sz="900" dirty="0"/>
          </a:p>
        </p:txBody>
      </p:sp>
      <p:sp>
        <p:nvSpPr>
          <p:cNvPr id="40" name="Text 24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Findings Mean for the Business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0868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5188" y="1874520"/>
            <a:ext cx="685800" cy="6858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6" name="Image 0" descr="icons/box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636" y="202996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83868" y="1892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83868" y="22585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into demand and inventory gaps.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15188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55868" y="1600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0188" y="1874520"/>
            <a:ext cx="685800" cy="6858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2" name="Image 1" descr="icons/tru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636" y="202996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98868" y="1892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398868" y="22585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can support cost-aware fulfillment decisions.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30188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0868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5188" y="4160520"/>
            <a:ext cx="685800" cy="6858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8" name="Image 2" descr="icons/clipbo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6" y="431596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83868" y="4178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83868" y="45445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can reduce manual analysis.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15188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255868" y="38862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30188" y="4160520"/>
            <a:ext cx="685800" cy="685800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4" name="Image 3" descr="icons/clou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636" y="4315968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8868" y="4178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98868" y="454456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AI + optimization platform creates a foundation for intelligent supply-chain planning.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530188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described as business implications and potential benefits, not directly measured outcomes.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WISER Global Quantum + AI Program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Should 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36776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36776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0" descr="icons/brain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556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159105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AI Forecasting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057400" y="19202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feature engineering, validation, and uncertainty modeling.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9994392" y="1755648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B23A2F"/>
          </a:solidFill>
          <a:ln/>
        </p:spPr>
      </p:sp>
      <p:sp>
        <p:nvSpPr>
          <p:cNvPr id="11" name="Text 8"/>
          <p:cNvSpPr/>
          <p:nvPr/>
        </p:nvSpPr>
        <p:spPr>
          <a:xfrm>
            <a:off x="9994392" y="17556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459736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9808" y="2587752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" y="258775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icons/cog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0662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5420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Optimization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057400" y="2871216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inventory, transportation cost, capacity, labor, and fulfillment constraints.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9994392" y="270662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B23A2F"/>
          </a:solidFill>
          <a:ln/>
        </p:spPr>
      </p:sp>
      <p:sp>
        <p:nvSpPr>
          <p:cNvPr id="19" name="Text 15"/>
          <p:cNvSpPr/>
          <p:nvPr/>
        </p:nvSpPr>
        <p:spPr>
          <a:xfrm>
            <a:off x="9994392" y="27066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" y="3410712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9808" y="3538728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22" name="Text 18"/>
          <p:cNvSpPr/>
          <p:nvPr/>
        </p:nvSpPr>
        <p:spPr>
          <a:xfrm>
            <a:off x="749808" y="35387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pic>
        <p:nvPicPr>
          <p:cNvPr id="23" name="Image 2" descr="icons/chartlin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657600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57400" y="349300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Continuously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2057400" y="3822192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default, greedy, classical, quantum, and hybrid approaches using consistent KPIs.</a:t>
            </a:r>
            <a:endParaRPr lang="en-US" sz="1080" dirty="0"/>
          </a:p>
        </p:txBody>
      </p:sp>
      <p:sp>
        <p:nvSpPr>
          <p:cNvPr id="26" name="Shape 21"/>
          <p:cNvSpPr/>
          <p:nvPr/>
        </p:nvSpPr>
        <p:spPr>
          <a:xfrm>
            <a:off x="9994392" y="365760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/>
        </p:spPr>
      </p:sp>
      <p:sp>
        <p:nvSpPr>
          <p:cNvPr id="27" name="Text 22"/>
          <p:cNvSpPr/>
          <p:nvPr/>
        </p:nvSpPr>
        <p:spPr>
          <a:xfrm>
            <a:off x="9994392" y="36576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8640" y="4361688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49808" y="4489704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0" name="Text 25"/>
          <p:cNvSpPr/>
          <p:nvPr/>
        </p:nvSpPr>
        <p:spPr>
          <a:xfrm>
            <a:off x="749808" y="448970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pic>
        <p:nvPicPr>
          <p:cNvPr id="31" name="Image 3" descr="icons/users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4608576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057400" y="444398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2057400" y="477316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planners to review low-confidence AI recommendations.</a:t>
            </a:r>
            <a:endParaRPr lang="en-US" sz="1080" dirty="0"/>
          </a:p>
        </p:txBody>
      </p:sp>
      <p:sp>
        <p:nvSpPr>
          <p:cNvPr id="34" name="Shape 28"/>
          <p:cNvSpPr/>
          <p:nvPr/>
        </p:nvSpPr>
        <p:spPr>
          <a:xfrm>
            <a:off x="9994392" y="4608576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/>
        </p:spPr>
      </p:sp>
      <p:sp>
        <p:nvSpPr>
          <p:cNvPr id="35" name="Text 29"/>
          <p:cNvSpPr/>
          <p:nvPr/>
        </p:nvSpPr>
        <p:spPr>
          <a:xfrm>
            <a:off x="9994392" y="46085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548640" y="5312664"/>
            <a:ext cx="11091672" cy="841248"/>
          </a:xfrm>
          <a:prstGeom prst="roundRect">
            <a:avLst>
              <a:gd name="adj" fmla="val 8696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49808" y="5440680"/>
            <a:ext cx="585216" cy="58521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8" name="Text 32"/>
          <p:cNvSpPr/>
          <p:nvPr/>
        </p:nvSpPr>
        <p:spPr>
          <a:xfrm>
            <a:off x="749808" y="54406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pic>
        <p:nvPicPr>
          <p:cNvPr id="39" name="Image 4" descr="icons/atom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5559552"/>
            <a:ext cx="347472" cy="34747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2057400" y="53949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Quantum Readiness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2057400" y="5724144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QUBO formulations and hybrid solver interfaces for future quantum hardware.</a:t>
            </a:r>
            <a:endParaRPr lang="en-US" sz="1080" dirty="0"/>
          </a:p>
        </p:txBody>
      </p:sp>
      <p:sp>
        <p:nvSpPr>
          <p:cNvPr id="42" name="Shape 35"/>
          <p:cNvSpPr/>
          <p:nvPr/>
        </p:nvSpPr>
        <p:spPr>
          <a:xfrm>
            <a:off x="9994392" y="5559552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0055A4"/>
          </a:solidFill>
          <a:ln/>
        </p:spPr>
      </p:sp>
      <p:sp>
        <p:nvSpPr>
          <p:cNvPr id="43" name="Text 36"/>
          <p:cNvSpPr/>
          <p:nvPr/>
        </p:nvSpPr>
        <p:spPr>
          <a:xfrm>
            <a:off x="9994392" y="555955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WISER Global Quantum + AI Program 2026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Path Forward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01088" y="1920240"/>
            <a:ext cx="7589520" cy="0"/>
          </a:xfrm>
          <a:prstGeom prst="line">
            <a:avLst/>
          </a:prstGeom>
          <a:noFill/>
          <a:ln w="25400">
            <a:solidFill>
              <a:srgbClr val="DDE4E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0868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89608" y="1673352"/>
            <a:ext cx="822960" cy="822960"/>
          </a:xfrm>
          <a:prstGeom prst="ellipse">
            <a:avLst/>
          </a:prstGeom>
          <a:solidFill>
            <a:srgbClr val="0055A4"/>
          </a:solidFill>
          <a:ln/>
          <a:effectLst>
            <a:outerShdw sx="100000" sy="100000" kx="0" ky="0" algn="bl" rotWithShape="0" blurRad="76200" dist="25400" dir="5400000">
              <a:srgbClr val="9AAFC2">
                <a:alpha val="30000"/>
              </a:srgbClr>
            </a:outerShdw>
          </a:effectLst>
        </p:spPr>
      </p:sp>
      <p:pic>
        <p:nvPicPr>
          <p:cNvPr id="7" name="Image 0" descr="icons/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632" y="1865376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0868" y="26060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5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3748" y="29260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Productionize the AI and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optimization pipeline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06628" y="3794760"/>
            <a:ext cx="2788920" cy="0"/>
          </a:xfrm>
          <a:prstGeom prst="line">
            <a:avLst/>
          </a:prstGeom>
          <a:noFill/>
          <a:ln w="12700">
            <a:solidFill>
              <a:srgbClr val="DD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3476" y="4005072"/>
            <a:ext cx="82296" cy="82296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2" name="Text 9"/>
          <p:cNvSpPr/>
          <p:nvPr/>
        </p:nvSpPr>
        <p:spPr>
          <a:xfrm>
            <a:off x="1016356" y="38770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833476" y="4389120"/>
            <a:ext cx="82296" cy="82296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4" name="Text 11"/>
          <p:cNvSpPr/>
          <p:nvPr/>
        </p:nvSpPr>
        <p:spPr>
          <a:xfrm>
            <a:off x="1016356" y="42611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833476" y="4773168"/>
            <a:ext cx="82296" cy="82296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356" y="4645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constraints</a:t>
            </a:r>
            <a:endParaRPr lang="en-US" sz="1030" dirty="0"/>
          </a:p>
        </p:txBody>
      </p:sp>
      <p:sp>
        <p:nvSpPr>
          <p:cNvPr id="17" name="Shape 14"/>
          <p:cNvSpPr/>
          <p:nvPr/>
        </p:nvSpPr>
        <p:spPr>
          <a:xfrm>
            <a:off x="833476" y="5157216"/>
            <a:ext cx="82296" cy="82296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18" name="Text 15"/>
          <p:cNvSpPr/>
          <p:nvPr/>
        </p:nvSpPr>
        <p:spPr>
          <a:xfrm>
            <a:off x="1016356" y="5029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workflow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833476" y="5541264"/>
            <a:ext cx="82296" cy="82296"/>
          </a:xfrm>
          <a:prstGeom prst="ellipse">
            <a:avLst/>
          </a:prstGeom>
          <a:solidFill>
            <a:srgbClr val="0055A4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356" y="54132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integration</a:t>
            </a:r>
            <a:endParaRPr lang="en-US" sz="1030" dirty="0"/>
          </a:p>
        </p:txBody>
      </p:sp>
      <p:sp>
        <p:nvSpPr>
          <p:cNvPr id="21" name="Shape 18"/>
          <p:cNvSpPr/>
          <p:nvPr/>
        </p:nvSpPr>
        <p:spPr>
          <a:xfrm>
            <a:off x="4335628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84368" y="1673352"/>
            <a:ext cx="822960" cy="822960"/>
          </a:xfrm>
          <a:prstGeom prst="ellipse">
            <a:avLst/>
          </a:prstGeom>
          <a:solidFill>
            <a:srgbClr val="0B2A4A"/>
          </a:solidFill>
          <a:ln/>
          <a:effectLst>
            <a:outerShdw sx="100000" sy="100000" kx="0" ky="0" algn="bl" rotWithShape="0" blurRad="76200" dist="25400" dir="5400000">
              <a:srgbClr val="9AAFC2">
                <a:alpha val="30000"/>
              </a:srgbClr>
            </a:outerShdw>
          </a:effectLst>
        </p:spPr>
      </p:sp>
      <p:pic>
        <p:nvPicPr>
          <p:cNvPr id="23" name="Image 1" descr="icons/lay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92" y="1865376"/>
            <a:ext cx="438912" cy="43891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335628" y="26060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518508" y="29260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strengthen the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platform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701388" y="3794760"/>
            <a:ext cx="2788920" cy="0"/>
          </a:xfrm>
          <a:prstGeom prst="line">
            <a:avLst/>
          </a:prstGeom>
          <a:noFill/>
          <a:ln w="12700">
            <a:solidFill>
              <a:srgbClr val="DDE4E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28236" y="4005072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28" name="Text 24"/>
          <p:cNvSpPr/>
          <p:nvPr/>
        </p:nvSpPr>
        <p:spPr>
          <a:xfrm>
            <a:off x="4811116" y="38770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datasets</a:t>
            </a:r>
            <a:endParaRPr lang="en-US" sz="1030" dirty="0"/>
          </a:p>
        </p:txBody>
      </p:sp>
      <p:sp>
        <p:nvSpPr>
          <p:cNvPr id="29" name="Shape 25"/>
          <p:cNvSpPr/>
          <p:nvPr/>
        </p:nvSpPr>
        <p:spPr>
          <a:xfrm>
            <a:off x="4628236" y="4389120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0" name="Text 26"/>
          <p:cNvSpPr/>
          <p:nvPr/>
        </p:nvSpPr>
        <p:spPr>
          <a:xfrm>
            <a:off x="4811116" y="42611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constraints</a:t>
            </a:r>
            <a:endParaRPr lang="en-US" sz="1030" dirty="0"/>
          </a:p>
        </p:txBody>
      </p:sp>
      <p:sp>
        <p:nvSpPr>
          <p:cNvPr id="31" name="Shape 27"/>
          <p:cNvSpPr/>
          <p:nvPr/>
        </p:nvSpPr>
        <p:spPr>
          <a:xfrm>
            <a:off x="4628236" y="4773168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2" name="Text 28"/>
          <p:cNvSpPr/>
          <p:nvPr/>
        </p:nvSpPr>
        <p:spPr>
          <a:xfrm>
            <a:off x="4811116" y="4645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</a:t>
            </a:r>
            <a:endParaRPr lang="en-US" sz="1030" dirty="0"/>
          </a:p>
        </p:txBody>
      </p:sp>
      <p:sp>
        <p:nvSpPr>
          <p:cNvPr id="33" name="Shape 29"/>
          <p:cNvSpPr/>
          <p:nvPr/>
        </p:nvSpPr>
        <p:spPr>
          <a:xfrm>
            <a:off x="4628236" y="5157216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4" name="Text 30"/>
          <p:cNvSpPr/>
          <p:nvPr/>
        </p:nvSpPr>
        <p:spPr>
          <a:xfrm>
            <a:off x="4811116" y="5029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automation</a:t>
            </a:r>
            <a:endParaRPr lang="en-US" sz="1030" dirty="0"/>
          </a:p>
        </p:txBody>
      </p:sp>
      <p:sp>
        <p:nvSpPr>
          <p:cNvPr id="35" name="Shape 31"/>
          <p:cNvSpPr/>
          <p:nvPr/>
        </p:nvSpPr>
        <p:spPr>
          <a:xfrm>
            <a:off x="4628236" y="5541264"/>
            <a:ext cx="82296" cy="82296"/>
          </a:xfrm>
          <a:prstGeom prst="ellipse">
            <a:avLst/>
          </a:prstGeom>
          <a:solidFill>
            <a:srgbClr val="0B2A4A"/>
          </a:solidFill>
          <a:ln/>
        </p:spPr>
      </p:sp>
      <p:sp>
        <p:nvSpPr>
          <p:cNvPr id="36" name="Text 32"/>
          <p:cNvSpPr/>
          <p:nvPr/>
        </p:nvSpPr>
        <p:spPr>
          <a:xfrm>
            <a:off x="4811116" y="54132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planning</a:t>
            </a:r>
            <a:endParaRPr lang="en-US" sz="1030" dirty="0"/>
          </a:p>
        </p:txBody>
      </p:sp>
      <p:sp>
        <p:nvSpPr>
          <p:cNvPr id="37" name="Shape 33"/>
          <p:cNvSpPr/>
          <p:nvPr/>
        </p:nvSpPr>
        <p:spPr>
          <a:xfrm>
            <a:off x="8130388" y="1508760"/>
            <a:ext cx="3520440" cy="4480560"/>
          </a:xfrm>
          <a:prstGeom prst="roundRect">
            <a:avLst>
              <a:gd name="adj" fmla="val 2338"/>
            </a:avLst>
          </a:prstGeom>
          <a:solidFill>
            <a:srgbClr val="F4F8FC"/>
          </a:solidFill>
          <a:ln w="9525">
            <a:solidFill>
              <a:srgbClr val="DDE4E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479128" y="1673352"/>
            <a:ext cx="822960" cy="822960"/>
          </a:xfrm>
          <a:prstGeom prst="ellipse">
            <a:avLst/>
          </a:prstGeom>
          <a:solidFill>
            <a:srgbClr val="2C4A6E"/>
          </a:solidFill>
          <a:ln/>
          <a:effectLst>
            <a:outerShdw sx="100000" sy="100000" kx="0" ky="0" algn="bl" rotWithShape="0" blurRad="76200" dist="25400" dir="5400000">
              <a:srgbClr val="9AAFC2">
                <a:alpha val="30000"/>
              </a:srgbClr>
            </a:outerShdw>
          </a:effectLst>
        </p:spPr>
      </p:sp>
      <p:pic>
        <p:nvPicPr>
          <p:cNvPr id="39" name="Image 2" descr="icons/atom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152" y="1865376"/>
            <a:ext cx="438912" cy="43891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130388" y="26060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8313268" y="29260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quantum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8496148" y="3794760"/>
            <a:ext cx="2788920" cy="0"/>
          </a:xfrm>
          <a:prstGeom prst="line">
            <a:avLst/>
          </a:prstGeom>
          <a:noFill/>
          <a:ln w="12700">
            <a:solidFill>
              <a:srgbClr val="DDE4E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422996" y="4005072"/>
            <a:ext cx="82296" cy="82296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44" name="Text 39"/>
          <p:cNvSpPr/>
          <p:nvPr/>
        </p:nvSpPr>
        <p:spPr>
          <a:xfrm>
            <a:off x="8605876" y="38770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QUBO problems</a:t>
            </a:r>
            <a:endParaRPr lang="en-US" sz="1030" dirty="0"/>
          </a:p>
        </p:txBody>
      </p:sp>
      <p:sp>
        <p:nvSpPr>
          <p:cNvPr id="45" name="Shape 40"/>
          <p:cNvSpPr/>
          <p:nvPr/>
        </p:nvSpPr>
        <p:spPr>
          <a:xfrm>
            <a:off x="8422996" y="4389120"/>
            <a:ext cx="82296" cy="82296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46" name="Text 41"/>
          <p:cNvSpPr/>
          <p:nvPr/>
        </p:nvSpPr>
        <p:spPr>
          <a:xfrm>
            <a:off x="8605876" y="42611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quantum-classical solvers</a:t>
            </a:r>
            <a:endParaRPr lang="en-US" sz="1030" dirty="0"/>
          </a:p>
        </p:txBody>
      </p:sp>
      <p:sp>
        <p:nvSpPr>
          <p:cNvPr id="47" name="Shape 42"/>
          <p:cNvSpPr/>
          <p:nvPr/>
        </p:nvSpPr>
        <p:spPr>
          <a:xfrm>
            <a:off x="8422996" y="4773168"/>
            <a:ext cx="82296" cy="82296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48" name="Text 43"/>
          <p:cNvSpPr/>
          <p:nvPr/>
        </p:nvSpPr>
        <p:spPr>
          <a:xfrm>
            <a:off x="8605876" y="46451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experiments</a:t>
            </a:r>
            <a:endParaRPr lang="en-US" sz="1030" dirty="0"/>
          </a:p>
        </p:txBody>
      </p:sp>
      <p:sp>
        <p:nvSpPr>
          <p:cNvPr id="49" name="Shape 44"/>
          <p:cNvSpPr/>
          <p:nvPr/>
        </p:nvSpPr>
        <p:spPr>
          <a:xfrm>
            <a:off x="8422996" y="5157216"/>
            <a:ext cx="82296" cy="82296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50" name="Text 45"/>
          <p:cNvSpPr/>
          <p:nvPr/>
        </p:nvSpPr>
        <p:spPr>
          <a:xfrm>
            <a:off x="8605876" y="50292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benchmarking</a:t>
            </a:r>
            <a:endParaRPr lang="en-US" sz="1030" dirty="0"/>
          </a:p>
        </p:txBody>
      </p:sp>
      <p:sp>
        <p:nvSpPr>
          <p:cNvPr id="51" name="Shape 46"/>
          <p:cNvSpPr/>
          <p:nvPr/>
        </p:nvSpPr>
        <p:spPr>
          <a:xfrm>
            <a:off x="8422996" y="5541264"/>
            <a:ext cx="82296" cy="82296"/>
          </a:xfrm>
          <a:prstGeom prst="ellipse">
            <a:avLst/>
          </a:prstGeom>
          <a:solidFill>
            <a:srgbClr val="2C4A6E"/>
          </a:solidFill>
          <a:ln/>
        </p:spPr>
      </p:sp>
      <p:sp>
        <p:nvSpPr>
          <p:cNvPr id="52" name="Text 47"/>
          <p:cNvSpPr/>
          <p:nvPr/>
        </p:nvSpPr>
        <p:spPr>
          <a:xfrm>
            <a:off x="8605876" y="54132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advantage assessment</a:t>
            </a:r>
            <a:endParaRPr lang="en-US" sz="1030" dirty="0"/>
          </a:p>
        </p:txBody>
      </p:sp>
      <p:sp>
        <p:nvSpPr>
          <p:cNvPr id="53" name="Text 4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Distributed Order Management — WISER Global Quantum + AI Program 2026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11002975" y="652881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055A4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RECOMMENDATION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“Deploy AI-assisted classical optimization for practical business value today, while maintaining a quantum-ready architecture for future optimization opportunities.”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86588" y="214884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6588" y="2313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71904" y="2651760"/>
            <a:ext cx="658368" cy="65836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8" name="Image 0" descr="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208" y="279806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3748" y="341071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Classical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pic>
        <p:nvPicPr>
          <p:cNvPr id="10" name="Image 1" descr="icons/arrow_light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200504" y="395935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3748" y="4206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81348" y="214884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81348" y="2313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6664" y="2651760"/>
            <a:ext cx="658368" cy="65836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15" name="Image 2" descr="icons/lay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2968" y="2798064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18508" y="341071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Hybrid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pic>
        <p:nvPicPr>
          <p:cNvPr id="17" name="Image 3" descr="icons/arrow_light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995264" y="395935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18508" y="4206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176108" y="214884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176108" y="2313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561424" y="2651760"/>
            <a:ext cx="658368" cy="658368"/>
          </a:xfrm>
          <a:prstGeom prst="ellipse">
            <a:avLst/>
          </a:prstGeom>
          <a:solidFill>
            <a:srgbClr val="0055A4"/>
          </a:solidFill>
          <a:ln/>
        </p:spPr>
      </p:sp>
      <p:pic>
        <p:nvPicPr>
          <p:cNvPr id="22" name="Image 4" descr="icons/ato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7728" y="2798064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13268" y="3410712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300" dirty="0"/>
          </a:p>
        </p:txBody>
      </p:sp>
      <p:pic>
        <p:nvPicPr>
          <p:cNvPr id="24" name="Image 5" descr="icons/arrow_light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790024" y="395935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313268" y="42062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Optionality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for today’s operational requirements while remaining ready for tomorrow’s quantum opportunity.”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822960" y="5989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Opportunities for Continued Development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2026-08-07T06:03:32Z</dcterms:created>
  <dcterms:modified xsi:type="dcterms:W3CDTF">2026-08-07T06:03:32Z</dcterms:modified>
</cp:coreProperties>
</file>