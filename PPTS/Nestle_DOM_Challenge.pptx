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1.png"/><Relationship Id="rId13" Type="http://schemas.openxmlformats.org/officeDocument/2006/relationships/image" Target="../media/image-5-13.png"/><Relationship Id="rId14" Type="http://schemas.openxmlformats.org/officeDocument/2006/relationships/image" Target="../media/image-5-2.png"/><Relationship Id="rId15" Type="http://schemas.openxmlformats.org/officeDocument/2006/relationships/image" Target="../media/image-5-2.png"/><Relationship Id="rId16" Type="http://schemas.openxmlformats.org/officeDocument/2006/relationships/image" Target="../media/image-5-16.png"/><Relationship Id="rId17" Type="http://schemas.openxmlformats.org/officeDocument/2006/relationships/image" Target="../media/image-5-11.png"/><Relationship Id="rId18" Type="http://schemas.openxmlformats.org/officeDocument/2006/relationships/image" Target="../media/image-5-11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image" Target="../media/image-6-2.png"/><Relationship Id="rId11" Type="http://schemas.openxmlformats.org/officeDocument/2006/relationships/image" Target="../media/image-6-2.png"/><Relationship Id="rId12" Type="http://schemas.openxmlformats.org/officeDocument/2006/relationships/image" Target="../media/image-6-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image" Target="../media/image-9-7.png"/><Relationship Id="rId8" Type="http://schemas.openxmlformats.org/officeDocument/2006/relationships/image" Target="../media/image-9-2.png"/><Relationship Id="rId9" Type="http://schemas.openxmlformats.org/officeDocument/2006/relationships/image" Target="../media/image-9-9.png"/><Relationship Id="rId10" Type="http://schemas.openxmlformats.org/officeDocument/2006/relationships/image" Target="../media/image-9-2.png"/><Relationship Id="rId11" Type="http://schemas.openxmlformats.org/officeDocument/2006/relationships/image" Target="../media/image-9-11.png"/><Relationship Id="rId12" Type="http://schemas.openxmlformats.org/officeDocument/2006/relationships/image" Target="../media/image-9-2.png"/><Relationship Id="rId13" Type="http://schemas.openxmlformats.org/officeDocument/2006/relationships/image" Target="../media/image-9-13.png"/><Relationship Id="rId14" Type="http://schemas.openxmlformats.org/officeDocument/2006/relationships/image" Target="../media/image-9-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371600"/>
            <a:ext cx="4663440" cy="466344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40080"/>
            <a:ext cx="3200400" cy="3200400"/>
          </a:xfrm>
          <a:prstGeom prst="ellipse">
            <a:avLst/>
          </a:prstGeom>
          <a:ln w="15875">
            <a:solidFill>
              <a:srgbClr val="1D5D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03120" y="4663440"/>
            <a:ext cx="4754880" cy="475488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5394960"/>
            <a:ext cx="3291840" cy="3291840"/>
          </a:xfrm>
          <a:prstGeom prst="ellipse">
            <a:avLst/>
          </a:prstGeom>
          <a:ln w="15875">
            <a:solidFill>
              <a:srgbClr val="1D5D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48640"/>
            <a:ext cx="164592" cy="164592"/>
          </a:xfrm>
          <a:prstGeom prst="ellipse">
            <a:avLst/>
          </a:prstGeom>
          <a:solidFill>
            <a:srgbClr val="4DA3E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B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WISER GLOBAL QUANTUM + AI PROGRAM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61320" y="457200"/>
            <a:ext cx="566928" cy="56692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10" name="Image 0" descr="/home/claude/nestle_ppt/icons/at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855" y="533735"/>
            <a:ext cx="413857" cy="4138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874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·  PART 1 OF 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21945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or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You Addressed</a:t>
            </a:r>
            <a:endParaRPr lang="en-US" sz="4400" dirty="0"/>
          </a:p>
        </p:txBody>
      </p:sp>
      <p:sp>
        <p:nvSpPr>
          <p:cNvPr id="13" name="Shape 10"/>
          <p:cNvSpPr/>
          <p:nvPr/>
        </p:nvSpPr>
        <p:spPr>
          <a:xfrm>
            <a:off x="658368" y="3913632"/>
            <a:ext cx="1005840" cy="0"/>
          </a:xfrm>
          <a:prstGeom prst="line">
            <a:avLst/>
          </a:prstGeom>
          <a:noFill/>
          <a:ln w="38100">
            <a:solidFill>
              <a:srgbClr val="4DA3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4096512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+ AI Optimization Platform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8368" y="553212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06427A"/>
          </a:solidFill>
          <a:ln w="9525">
            <a:solidFill>
              <a:srgbClr val="0F589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56509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96112" y="5870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Sirama Avinash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Nestlé — A Global Supply Chain at Scale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operates one of the world's most complex consumer goods supply chains — spanning manufacturing, distribution and retail across a dense, interconnected global network. Every customer order must be routed through this network with speed, accuracy and cost discipline.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960120" cy="960120"/>
          </a:xfrm>
          <a:prstGeom prst="ellipse">
            <a:avLst/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8" name="Image 0" descr="/home/claude/nestle_ppt/icons/fac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16" y="3375736"/>
            <a:ext cx="700888" cy="700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" y="43159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472184" y="3726180"/>
            <a:ext cx="1143000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670048" y="3246120"/>
            <a:ext cx="960120" cy="96012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2" name="Image 1" descr="/home/claude/nestle_ppt/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664" y="3375736"/>
            <a:ext cx="700888" cy="700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58568" y="43159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85032" y="3726180"/>
            <a:ext cx="1143000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882896" y="3246120"/>
            <a:ext cx="960120" cy="96012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6" name="Image 2" descr="/home/claude/nestle_ppt/icons/wareho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512" y="3375736"/>
            <a:ext cx="700888" cy="700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71416" y="43159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897880" y="3726180"/>
            <a:ext cx="1143000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095744" y="3246120"/>
            <a:ext cx="960120" cy="96012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0" name="Image 3" descr="/home/claude/nestle_ppt/icons/sto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360" y="3375736"/>
            <a:ext cx="700888" cy="700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84264" y="43159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110728" y="3726180"/>
            <a:ext cx="1143000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9308592" y="3246120"/>
            <a:ext cx="960120" cy="960120"/>
          </a:xfrm>
          <a:prstGeom prst="ellipse">
            <a:avLst/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4" name="Image 4" descr="/home/claude/nestle_ppt/icons/custom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8208" y="3375736"/>
            <a:ext cx="700888" cy="7008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97112" y="43159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57200" y="5074920"/>
            <a:ext cx="3657600" cy="1234440"/>
          </a:xfrm>
          <a:prstGeom prst="roundRect">
            <a:avLst>
              <a:gd name="adj" fmla="val 5185"/>
            </a:avLst>
          </a:prstGeom>
          <a:solidFill>
            <a:srgbClr val="EEF4FA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58368" y="5276088"/>
            <a:ext cx="502920" cy="50292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8" name="Image 5" descr="/home/claude/nestle_ppt/icons/glob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62" y="5343982"/>
            <a:ext cx="367132" cy="3671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80160" y="5221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Footprint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280160" y="55321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spanning multiple continents and markets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334256" y="5074920"/>
            <a:ext cx="3657600" cy="1234440"/>
          </a:xfrm>
          <a:prstGeom prst="roundRect">
            <a:avLst>
              <a:gd name="adj" fmla="val 5185"/>
            </a:avLst>
          </a:prstGeom>
          <a:solidFill>
            <a:srgbClr val="EEF4FA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535424" y="5276088"/>
            <a:ext cx="502920" cy="50292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3" name="Image 6" descr="/home/claude/nestle_ppt/icons/boxe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318" y="5343982"/>
            <a:ext cx="367132" cy="3671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57216" y="5221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Network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157216" y="55321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SKUs moving through layered distribution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8211312" y="5074920"/>
            <a:ext cx="3657600" cy="1234440"/>
          </a:xfrm>
          <a:prstGeom prst="roundRect">
            <a:avLst>
              <a:gd name="adj" fmla="val 5185"/>
            </a:avLst>
          </a:prstGeom>
          <a:solidFill>
            <a:srgbClr val="EEF4FA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8412480" y="5276088"/>
            <a:ext cx="502920" cy="50292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8" name="Image 7" descr="/home/claude/nestle_ppt/icons/chartLin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0374" y="5343982"/>
            <a:ext cx="367132" cy="3671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034272" y="5221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Order Velocity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9034272" y="55321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high-frequency order fulfillment demand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Distributed Order Management?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1247120" cy="896112"/>
          </a:xfrm>
          <a:prstGeom prst="roundRect">
            <a:avLst>
              <a:gd name="adj" fmla="val 7143"/>
            </a:avLst>
          </a:prstGeom>
          <a:solidFill>
            <a:srgbClr val="EE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8" name="Image 0" descr="/home/claude/nestle_ppt/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94" y="1805254"/>
            <a:ext cx="367132" cy="3671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27632"/>
            <a:ext cx="10104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Order Management (DOM) determines which warehouse or distribution center should fulfill each customer order — balancing delivery speed, transportation cost, inventory position and capacity constraints in real time.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2395728" cy="2331720"/>
          </a:xfrm>
          <a:prstGeom prst="roundRect">
            <a:avLst>
              <a:gd name="adj" fmla="val 3529"/>
            </a:avLst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271016" y="3154680"/>
            <a:ext cx="768096" cy="76809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nestle_ppt/icons/c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300984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4360" y="411480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0080" y="4507992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placed across any channel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907792" y="4046220"/>
            <a:ext cx="445008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407664" y="2880360"/>
            <a:ext cx="2395728" cy="2331720"/>
          </a:xfrm>
          <a:prstGeom prst="roundRect">
            <a:avLst>
              <a:gd name="adj" fmla="val 3529"/>
            </a:avLst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21480" y="3154680"/>
            <a:ext cx="768096" cy="76809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/home/claude/nestle_ppt/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784" y="3300984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53968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44824" y="411480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590544" y="4507992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fulfillment nodes are identified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858256" y="4046220"/>
            <a:ext cx="445008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358128" y="2880360"/>
            <a:ext cx="2395728" cy="2331720"/>
          </a:xfrm>
          <a:prstGeom prst="roundRect">
            <a:avLst>
              <a:gd name="adj" fmla="val 3529"/>
            </a:avLst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171944" y="3154680"/>
            <a:ext cx="768096" cy="76809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/home/claude/nestle_ppt/icons/warehou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248" y="3300984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04432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95288" y="411480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Selection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541008" y="4507992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node chosen under real constraints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808720" y="4046220"/>
            <a:ext cx="445008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9308592" y="2880360"/>
            <a:ext cx="2395728" cy="2331720"/>
          </a:xfrm>
          <a:prstGeom prst="roundRect">
            <a:avLst>
              <a:gd name="adj" fmla="val 3529"/>
            </a:avLst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122408" y="3154680"/>
            <a:ext cx="768096" cy="768096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4" descr="/home/claude/nestle_ppt/icons/tru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3300984"/>
            <a:ext cx="475488" cy="4754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454896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9445752" y="411480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9491472" y="4507992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fulfilled to the customer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 in Distributed Order Fulfillment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929384"/>
            <a:ext cx="566928" cy="566928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8" name="Image 0" descr="/home/claude/nestle_ppt/icons/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79" y="2005919"/>
            <a:ext cx="413857" cy="4138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262432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Imbalance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" y="2953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unevenly distributed across warehouses and regions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9704" y="1929384"/>
            <a:ext cx="566928" cy="566928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3" name="Image 1" descr="/home/claude/nestle_ppt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39" y="2005919"/>
            <a:ext cx="413857" cy="4138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9704" y="262432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89704" y="2953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Sub-optimal routing drives avoidable freight expense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84464" y="1929384"/>
            <a:ext cx="566928" cy="566928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8" name="Image 2" descr="/home/claude/nestle_ppt/icons/gau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999" y="2005919"/>
            <a:ext cx="413857" cy="41385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262432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Capacity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4464" y="2953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 limits create bottlenecks under peak demand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3849624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" y="4087368"/>
            <a:ext cx="566928" cy="566928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3" name="Image 3" descr="/home/claude/nestle_ppt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79" y="4163903"/>
            <a:ext cx="413857" cy="41385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" y="478231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Uncertainty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94944" y="511149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Volatile, hard-to-predict order volumes across markets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51960" y="3849624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89704" y="4087368"/>
            <a:ext cx="566928" cy="566928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8" name="Image 4" descr="/home/claude/nestle_ppt/icons/handPap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239" y="4163903"/>
            <a:ext cx="413857" cy="41385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489704" y="478231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489704" y="511149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Order-to-warehouse decisions rely on manual judgment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046720" y="3849624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84464" y="4087368"/>
            <a:ext cx="566928" cy="566928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33" name="Image 5" descr="/home/claude/nestle_ppt/icons/puzz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999" y="4163903"/>
            <a:ext cx="413857" cy="41385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284464" y="478231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Optimization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284464" y="511149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interacting variables for simple heuristics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— Executive Dashboard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" y="1911096"/>
            <a:ext cx="530352" cy="530352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8" name="Image 0" descr="/home/claude/nestle_ppt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254" y="1982694"/>
            <a:ext cx="387157" cy="387157"/>
          </a:xfrm>
          <a:prstGeom prst="rect">
            <a:avLst/>
          </a:prstGeom>
        </p:spPr>
      </p:pic>
      <p:pic>
        <p:nvPicPr>
          <p:cNvPr id="9" name="Image 1" descr="/home/claude/nestle_ppt/icons/arrow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911096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65576" y="1874520"/>
            <a:ext cx="402336" cy="402336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11" name="Image 2" descr="/home/claude/nestle_ppt/icons/arrow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94767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6656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76656" y="29900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4251960" y="1691640"/>
            <a:ext cx="36118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C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71416" y="1911096"/>
            <a:ext cx="530352" cy="530352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16" name="Image 3" descr="/home/claude/nestle_ppt/icons/boxOpe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014" y="1982694"/>
            <a:ext cx="387157" cy="387157"/>
          </a:xfrm>
          <a:prstGeom prst="rect">
            <a:avLst/>
          </a:prstGeom>
        </p:spPr>
      </p:pic>
      <p:pic>
        <p:nvPicPr>
          <p:cNvPr id="17" name="Image 4" descr="/home/claude/nestle_ppt/icons/arrowU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911096"/>
            <a:ext cx="329184" cy="32918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260336" y="1874520"/>
            <a:ext cx="402336" cy="402336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19" name="Image 5" descr="/home/claude/nestle_ppt/icons/arrowU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194767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71416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Frequency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471416" y="29900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2000" dirty="0"/>
          </a:p>
        </p:txBody>
      </p:sp>
      <p:sp>
        <p:nvSpPr>
          <p:cNvPr id="22" name="Shape 14"/>
          <p:cNvSpPr/>
          <p:nvPr/>
        </p:nvSpPr>
        <p:spPr>
          <a:xfrm>
            <a:off x="8046720" y="1691640"/>
            <a:ext cx="36118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C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266176" y="1911096"/>
            <a:ext cx="530352" cy="530352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24" name="Image 6" descr="/home/claude/nestle_ppt/icons/boxesStacke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7774" y="1982694"/>
            <a:ext cx="387157" cy="387157"/>
          </a:xfrm>
          <a:prstGeom prst="rect">
            <a:avLst/>
          </a:prstGeom>
        </p:spPr>
      </p:pic>
      <p:pic>
        <p:nvPicPr>
          <p:cNvPr id="25" name="Image 7" descr="/home/claude/nestle_ppt/icons/arrowU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672" y="1911096"/>
            <a:ext cx="329184" cy="329184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11055096" y="1874520"/>
            <a:ext cx="402336" cy="402336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27" name="Image 8" descr="/home/claude/nestle_ppt/icons/arrowUp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8248" y="1947672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266176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8266176" y="29900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</a:t>
            </a:r>
            <a:endParaRPr lang="en-US" sz="2000" dirty="0"/>
          </a:p>
        </p:txBody>
      </p:sp>
      <p:sp>
        <p:nvSpPr>
          <p:cNvPr id="30" name="Shape 19"/>
          <p:cNvSpPr/>
          <p:nvPr/>
        </p:nvSpPr>
        <p:spPr>
          <a:xfrm>
            <a:off x="457200" y="3995928"/>
            <a:ext cx="36118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C">
                <a:alpha val="12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676656" y="4215384"/>
            <a:ext cx="530352" cy="530352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32" name="Image 9" descr="/home/claude/nestle_ppt/icons/gaug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254" y="4286982"/>
            <a:ext cx="387157" cy="387157"/>
          </a:xfrm>
          <a:prstGeom prst="rect">
            <a:avLst/>
          </a:prstGeom>
        </p:spPr>
      </p:pic>
      <p:pic>
        <p:nvPicPr>
          <p:cNvPr id="33" name="Image 10" descr="/home/claude/nestle_ppt/icons/arrowDown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2152" y="4215384"/>
            <a:ext cx="329184" cy="329184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3465576" y="4178808"/>
            <a:ext cx="402336" cy="402336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35" name="Image 11" descr="/home/claude/nestle_ppt/icons/arrowDown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4251960"/>
            <a:ext cx="256032" cy="25603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76656" y="49103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</a:t>
            </a:r>
            <a:endParaRPr lang="en-US" sz="1300" dirty="0"/>
          </a:p>
        </p:txBody>
      </p:sp>
      <p:sp>
        <p:nvSpPr>
          <p:cNvPr id="37" name="Text 23"/>
          <p:cNvSpPr/>
          <p:nvPr/>
        </p:nvSpPr>
        <p:spPr>
          <a:xfrm>
            <a:off x="676656" y="529437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</a:t>
            </a:r>
            <a:endParaRPr lang="en-US" sz="2000" dirty="0"/>
          </a:p>
        </p:txBody>
      </p:sp>
      <p:sp>
        <p:nvSpPr>
          <p:cNvPr id="38" name="Shape 24"/>
          <p:cNvSpPr/>
          <p:nvPr/>
        </p:nvSpPr>
        <p:spPr>
          <a:xfrm>
            <a:off x="4251960" y="3995928"/>
            <a:ext cx="36118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C">
                <a:alpha val="12000"/>
              </a:srgbClr>
            </a:outerShdw>
          </a:effectLst>
        </p:spPr>
      </p:sp>
      <p:sp>
        <p:nvSpPr>
          <p:cNvPr id="39" name="Shape 25"/>
          <p:cNvSpPr/>
          <p:nvPr/>
        </p:nvSpPr>
        <p:spPr>
          <a:xfrm>
            <a:off x="4471416" y="4215384"/>
            <a:ext cx="530352" cy="530352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40" name="Image 12" descr="/home/claude/nestle_ppt/icons/clockAlert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3014" y="4286982"/>
            <a:ext cx="387157" cy="387157"/>
          </a:xfrm>
          <a:prstGeom prst="rect">
            <a:avLst/>
          </a:prstGeom>
        </p:spPr>
      </p:pic>
      <p:pic>
        <p:nvPicPr>
          <p:cNvPr id="41" name="Image 13" descr="/home/claude/nestle_ppt/icons/arrowUp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912" y="4215384"/>
            <a:ext cx="329184" cy="329184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7260336" y="4178808"/>
            <a:ext cx="402336" cy="402336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43" name="Image 14" descr="/home/claude/nestle_ppt/icons/arrowUp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3488" y="4251960"/>
            <a:ext cx="256032" cy="25603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4471416" y="49103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</a:t>
            </a:r>
            <a:endParaRPr lang="en-US" sz="1300" dirty="0"/>
          </a:p>
        </p:txBody>
      </p:sp>
      <p:sp>
        <p:nvSpPr>
          <p:cNvPr id="45" name="Text 28"/>
          <p:cNvSpPr/>
          <p:nvPr/>
        </p:nvSpPr>
        <p:spPr>
          <a:xfrm>
            <a:off x="4471416" y="529437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2000" dirty="0"/>
          </a:p>
        </p:txBody>
      </p:sp>
      <p:sp>
        <p:nvSpPr>
          <p:cNvPr id="46" name="Shape 29"/>
          <p:cNvSpPr/>
          <p:nvPr/>
        </p:nvSpPr>
        <p:spPr>
          <a:xfrm>
            <a:off x="8046720" y="3995928"/>
            <a:ext cx="36118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C">
                <a:alpha val="12000"/>
              </a:srgbClr>
            </a:outerShdw>
          </a:effectLst>
        </p:spPr>
      </p:sp>
      <p:sp>
        <p:nvSpPr>
          <p:cNvPr id="47" name="Shape 30"/>
          <p:cNvSpPr/>
          <p:nvPr/>
        </p:nvSpPr>
        <p:spPr>
          <a:xfrm>
            <a:off x="8266176" y="4215384"/>
            <a:ext cx="530352" cy="530352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48" name="Image 15" descr="/home/claude/nestle_ppt/icons/faceFrown_whit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7774" y="4286982"/>
            <a:ext cx="387157" cy="387157"/>
          </a:xfrm>
          <a:prstGeom prst="rect">
            <a:avLst/>
          </a:prstGeom>
        </p:spPr>
      </p:pic>
      <p:pic>
        <p:nvPicPr>
          <p:cNvPr id="49" name="Image 16" descr="/home/claude/nestle_ppt/icons/arrowDown_whit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91672" y="4215384"/>
            <a:ext cx="329184" cy="329184"/>
          </a:xfrm>
          <a:prstGeom prst="rect">
            <a:avLst/>
          </a:prstGeom>
        </p:spPr>
      </p:pic>
      <p:sp>
        <p:nvSpPr>
          <p:cNvPr id="50" name="Shape 31"/>
          <p:cNvSpPr/>
          <p:nvPr/>
        </p:nvSpPr>
        <p:spPr>
          <a:xfrm>
            <a:off x="11055096" y="4178808"/>
            <a:ext cx="402336" cy="402336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51" name="Image 17" descr="/home/claude/nestle_ppt/icons/arrowDown_whit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28248" y="4251960"/>
            <a:ext cx="256032" cy="256032"/>
          </a:xfrm>
          <a:prstGeom prst="rect">
            <a:avLst/>
          </a:prstGeom>
        </p:spPr>
      </p:pic>
      <p:sp>
        <p:nvSpPr>
          <p:cNvPr id="52" name="Text 32"/>
          <p:cNvSpPr/>
          <p:nvPr/>
        </p:nvSpPr>
        <p:spPr>
          <a:xfrm>
            <a:off x="8266176" y="49103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300" dirty="0"/>
          </a:p>
        </p:txBody>
      </p:sp>
      <p:sp>
        <p:nvSpPr>
          <p:cNvPr id="53" name="Text 33"/>
          <p:cNvSpPr/>
          <p:nvPr/>
        </p:nvSpPr>
        <p:spPr>
          <a:xfrm>
            <a:off x="8266176" y="529437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</a:t>
            </a:r>
            <a:endParaRPr lang="en-US" sz="2000" dirty="0"/>
          </a:p>
        </p:txBody>
      </p:sp>
      <p:sp>
        <p:nvSpPr>
          <p:cNvPr id="5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55" name="Text 35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56" name="Text 36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Methods Are Not Enough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00335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48840"/>
            <a:ext cx="361188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819656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0" name="Image 0" descr="/home/claude/nestle_ppt/icons/pers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97" y="1888785"/>
            <a:ext cx="373807" cy="3738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874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</a:t>
            </a:r>
            <a:endParaRPr lang="en-US" sz="1450" dirty="0"/>
          </a:p>
        </p:txBody>
      </p:sp>
      <p:pic>
        <p:nvPicPr>
          <p:cNvPr id="12" name="Image 1" descr="/home/claude/nestle_ppt/icons/x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7919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2606040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individual experience</a:t>
            </a:r>
            <a:endParaRPr lang="en-US" sz="1050" dirty="0"/>
          </a:p>
        </p:txBody>
      </p:sp>
      <p:pic>
        <p:nvPicPr>
          <p:cNvPr id="14" name="Image 2" descr="/home/claude/nestle_ppt/icons/xmar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9242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3319272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react to demand shifts</a:t>
            </a:r>
            <a:endParaRPr lang="en-US" sz="1050" dirty="0"/>
          </a:p>
        </p:txBody>
      </p:sp>
      <p:pic>
        <p:nvPicPr>
          <p:cNvPr id="16" name="Image 3" descr="/home/claude/nestle_ppt/icons/xma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0565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7552" y="4032504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repeatable at enterprise scale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251960" y="169164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251960" y="16916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00335C"/>
          </a:solidFill>
          <a:ln/>
        </p:spPr>
      </p:sp>
      <p:sp>
        <p:nvSpPr>
          <p:cNvPr id="20" name="Shape 14"/>
          <p:cNvSpPr/>
          <p:nvPr/>
        </p:nvSpPr>
        <p:spPr>
          <a:xfrm>
            <a:off x="4251960" y="2148840"/>
            <a:ext cx="361188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21" name="Shape 15"/>
          <p:cNvSpPr/>
          <p:nvPr/>
        </p:nvSpPr>
        <p:spPr>
          <a:xfrm>
            <a:off x="4453128" y="1819656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2" name="Image 4" descr="/home/claude/nestle_ppt/icons/list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257" y="1888785"/>
            <a:ext cx="373807" cy="37380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74920" y="1874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Planning</a:t>
            </a:r>
            <a:endParaRPr lang="en-US" sz="1450" dirty="0"/>
          </a:p>
        </p:txBody>
      </p:sp>
      <p:pic>
        <p:nvPicPr>
          <p:cNvPr id="24" name="Image 5" descr="/home/claude/nestle_ppt/icons/xmar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267919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782312" y="2606040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logic cannot weigh trade-offs</a:t>
            </a:r>
            <a:endParaRPr lang="en-US" sz="1050" dirty="0"/>
          </a:p>
        </p:txBody>
      </p:sp>
      <p:pic>
        <p:nvPicPr>
          <p:cNvPr id="26" name="Image 6" descr="/home/claude/nestle_ppt/icons/xmar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3392424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782312" y="3319272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under exceptions</a:t>
            </a:r>
            <a:endParaRPr lang="en-US" sz="1050" dirty="0"/>
          </a:p>
        </p:txBody>
      </p:sp>
      <p:pic>
        <p:nvPicPr>
          <p:cNvPr id="28" name="Image 7" descr="/home/claude/nestle_ppt/icons/xmar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4105656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782312" y="4032504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constant manual tuning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8046720" y="169164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8046720" y="16916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00335C"/>
          </a:solidFill>
          <a:ln/>
        </p:spPr>
      </p:sp>
      <p:sp>
        <p:nvSpPr>
          <p:cNvPr id="32" name="Shape 22"/>
          <p:cNvSpPr/>
          <p:nvPr/>
        </p:nvSpPr>
        <p:spPr>
          <a:xfrm>
            <a:off x="8046720" y="2148840"/>
            <a:ext cx="361188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33" name="Shape 23"/>
          <p:cNvSpPr/>
          <p:nvPr/>
        </p:nvSpPr>
        <p:spPr>
          <a:xfrm>
            <a:off x="8247888" y="1819656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4" name="Image 8" descr="/home/claude/nestle_ppt/icons/calculato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7017" y="1888785"/>
            <a:ext cx="373807" cy="373807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869680" y="1874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450" dirty="0"/>
          </a:p>
        </p:txBody>
      </p:sp>
      <p:pic>
        <p:nvPicPr>
          <p:cNvPr id="36" name="Image 9" descr="/home/claude/nestle_ppt/icons/xmar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7888" y="2679192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577072" y="2606040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at limited scale</a:t>
            </a:r>
            <a:endParaRPr lang="en-US" sz="1050" dirty="0"/>
          </a:p>
        </p:txBody>
      </p:sp>
      <p:pic>
        <p:nvPicPr>
          <p:cNvPr id="38" name="Image 10" descr="/home/claude/nestle_ppt/icons/xmark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888" y="3392424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577072" y="3319272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combinatorial growth</a:t>
            </a:r>
            <a:endParaRPr lang="en-US" sz="1050" dirty="0"/>
          </a:p>
        </p:txBody>
      </p:sp>
      <p:pic>
        <p:nvPicPr>
          <p:cNvPr id="40" name="Image 11" descr="/home/claude/nestle_ppt/icons/xmark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7888" y="4105656"/>
            <a:ext cx="237744" cy="23774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8577072" y="4032504"/>
            <a:ext cx="2862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for real-time, network-wide decisions</a:t>
            </a:r>
            <a:endParaRPr lang="en-US" sz="1050" dirty="0"/>
          </a:p>
        </p:txBody>
      </p:sp>
      <p:sp>
        <p:nvSpPr>
          <p:cNvPr id="42" name="Shape 28"/>
          <p:cNvSpPr/>
          <p:nvPr/>
        </p:nvSpPr>
        <p:spPr>
          <a:xfrm>
            <a:off x="457200" y="5166360"/>
            <a:ext cx="11247120" cy="777240"/>
          </a:xfrm>
          <a:prstGeom prst="roundRect">
            <a:avLst>
              <a:gd name="adj" fmla="val 8235"/>
            </a:avLst>
          </a:prstGeom>
          <a:solidFill>
            <a:srgbClr val="EEF4FA"/>
          </a:solidFill>
          <a:ln/>
        </p:spPr>
      </p:sp>
      <p:sp>
        <p:nvSpPr>
          <p:cNvPr id="43" name="Shape 29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4" name="Image 12" descr="/home/claude/nestle_ppt/icons/puzzle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090" y="5392674"/>
            <a:ext cx="333756" cy="333756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1280160" y="523036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order volume, SKU complexity and network size grow, the decision space expands combinatorially — demanding intelligent, adaptive optimization beyond traditional approaches.</a:t>
            </a:r>
            <a:endParaRPr lang="en-US" sz="1200" dirty="0"/>
          </a:p>
        </p:txBody>
      </p:sp>
      <p:sp>
        <p:nvSpPr>
          <p:cNvPr id="46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47" name="Text 32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48" name="Text 33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Intelligent, AI-Driven Decision Making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148840" y="3749040"/>
            <a:ext cx="1554480" cy="1554480"/>
          </a:xfrm>
          <a:prstGeom prst="ellipse">
            <a:avLst/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7" name="Image 0" descr="/home/claude/nestle_ppt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695" y="3958895"/>
            <a:ext cx="1134770" cy="11347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5376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3703320" y="4526280"/>
            <a:ext cx="1005840" cy="-2523744"/>
          </a:xfrm>
          <a:prstGeom prst="line">
            <a:avLst/>
          </a:prstGeom>
          <a:noFill/>
          <a:ln w="19050">
            <a:solidFill>
              <a:srgbClr val="4DA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691640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1" name="Image 1" descr="/home/claude/nestle_ppt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102" y="1775582"/>
            <a:ext cx="453908" cy="453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09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0" y="201168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order volume ahead of need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 flipV="1">
            <a:off x="3703320" y="4526280"/>
            <a:ext cx="1005840" cy="-1591056"/>
          </a:xfrm>
          <a:prstGeom prst="line">
            <a:avLst/>
          </a:prstGeom>
          <a:noFill/>
          <a:ln w="19050">
            <a:solidFill>
              <a:srgbClr val="4DA3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2624328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6" name="Image 2" descr="/home/claude/nestle_ppt/icons/boxesStacke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102" y="2708270"/>
            <a:ext cx="453908" cy="453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264261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Planning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0" y="294436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stock where demand will emerge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 flipV="1">
            <a:off x="3703320" y="4526280"/>
            <a:ext cx="1005840" cy="-658368"/>
          </a:xfrm>
          <a:prstGeom prst="line">
            <a:avLst/>
          </a:prstGeom>
          <a:noFill/>
          <a:ln w="19050">
            <a:solidFill>
              <a:srgbClr val="4DA3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09160" y="3557016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1" name="Image 3" descr="/home/claude/nestle_ppt/icons/coin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102" y="3640958"/>
            <a:ext cx="453908" cy="453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57530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0" y="387705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service level against total cost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703320" y="4526280"/>
            <a:ext cx="1005840" cy="274320"/>
          </a:xfrm>
          <a:prstGeom prst="line">
            <a:avLst/>
          </a:prstGeom>
          <a:noFill/>
          <a:ln w="19050">
            <a:solidFill>
              <a:srgbClr val="4DA3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4489704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6" name="Image 4" descr="/home/claude/nestle_ppt/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102" y="4573646"/>
            <a:ext cx="453908" cy="453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5079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0" y="480974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instantly as conditions change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703320" y="4526280"/>
            <a:ext cx="1005840" cy="1207008"/>
          </a:xfrm>
          <a:prstGeom prst="line">
            <a:avLst/>
          </a:prstGeom>
          <a:noFill/>
          <a:ln w="19050">
            <a:solidFill>
              <a:srgbClr val="4DA3E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09160" y="5422392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1" name="Image 5" descr="/home/claude/nestle_ppt/icons/seedlin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102" y="5506334"/>
            <a:ext cx="453908" cy="453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86400" y="544068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Chains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486400" y="574243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continuously learning network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Distributed Order Management Platform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enterprise DOM platform integrating six connected capability layers — from raw data to executive decision-making.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8" name="Image 0" descr="/home/claude/nestle_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329" y="2217969"/>
            <a:ext cx="373807" cy="3738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0" y="2167128"/>
            <a:ext cx="8503920" cy="475488"/>
          </a:xfrm>
          <a:prstGeom prst="roundRect">
            <a:avLst>
              <a:gd name="adj" fmla="val 11538"/>
            </a:avLst>
          </a:prstGeom>
          <a:solidFill>
            <a:srgbClr val="EEF4FA"/>
          </a:solidFill>
          <a:ln/>
        </p:spPr>
      </p:sp>
      <p:sp>
        <p:nvSpPr>
          <p:cNvPr id="10" name="Text 7"/>
          <p:cNvSpPr/>
          <p:nvPr/>
        </p:nvSpPr>
        <p:spPr>
          <a:xfrm>
            <a:off x="2926080" y="21671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52160" y="2167128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reliable data foundation across the network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2660904"/>
            <a:ext cx="0" cy="173736"/>
          </a:xfrm>
          <a:prstGeom prst="line">
            <a:avLst/>
          </a:prstGeom>
          <a:noFill/>
          <a:ln w="19050">
            <a:solidFill>
              <a:srgbClr val="4DA3E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57200" y="2834640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4" name="Image 1" descr="/home/claude/nestle_ppt/icon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29" y="2903769"/>
            <a:ext cx="373807" cy="37380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43200" y="2852928"/>
            <a:ext cx="8001000" cy="475488"/>
          </a:xfrm>
          <a:prstGeom prst="roundRect">
            <a:avLst>
              <a:gd name="adj" fmla="val 11538"/>
            </a:avLst>
          </a:prstGeom>
          <a:solidFill>
            <a:srgbClr val="EEF4FA"/>
          </a:solidFill>
          <a:ln/>
        </p:spPr>
      </p:sp>
      <p:sp>
        <p:nvSpPr>
          <p:cNvPr id="16" name="Text 12"/>
          <p:cNvSpPr/>
          <p:nvPr/>
        </p:nvSpPr>
        <p:spPr>
          <a:xfrm>
            <a:off x="2926080" y="28529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52160" y="285292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behavior prediction at scale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13232" y="3346704"/>
            <a:ext cx="0" cy="173736"/>
          </a:xfrm>
          <a:prstGeom prst="line">
            <a:avLst/>
          </a:prstGeom>
          <a:noFill/>
          <a:ln w="19050">
            <a:solidFill>
              <a:srgbClr val="4DA3E0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57200" y="3520440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0" name="Image 2" descr="/home/claude/nestle_ppt/icons/cub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29" y="3589569"/>
            <a:ext cx="373807" cy="37380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43200" y="3538728"/>
            <a:ext cx="7498080" cy="475488"/>
          </a:xfrm>
          <a:prstGeom prst="roundRect">
            <a:avLst>
              <a:gd name="adj" fmla="val 11538"/>
            </a:avLst>
          </a:prstGeom>
          <a:solidFill>
            <a:srgbClr val="EEF4FA"/>
          </a:solidFill>
          <a:ln/>
        </p:spPr>
      </p:sp>
      <p:sp>
        <p:nvSpPr>
          <p:cNvPr id="22" name="Text 17"/>
          <p:cNvSpPr/>
          <p:nvPr/>
        </p:nvSpPr>
        <p:spPr>
          <a:xfrm>
            <a:off x="2926080" y="35387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852160" y="3538728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solvers for structured decision problems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13232" y="4032504"/>
            <a:ext cx="0" cy="173736"/>
          </a:xfrm>
          <a:prstGeom prst="line">
            <a:avLst/>
          </a:prstGeom>
          <a:noFill/>
          <a:ln w="19050">
            <a:solidFill>
              <a:srgbClr val="4DA3E0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457200" y="4206240"/>
            <a:ext cx="512064" cy="512064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26" name="Image 3" descr="/home/claude/nestle_ppt/icons/ato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29" y="4275369"/>
            <a:ext cx="373807" cy="37380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743200" y="4224528"/>
            <a:ext cx="6995160" cy="475488"/>
          </a:xfrm>
          <a:prstGeom prst="roundRect">
            <a:avLst>
              <a:gd name="adj" fmla="val 11538"/>
            </a:avLst>
          </a:prstGeom>
          <a:solidFill>
            <a:srgbClr val="00335C"/>
          </a:solidFill>
          <a:ln/>
        </p:spPr>
      </p:sp>
      <p:sp>
        <p:nvSpPr>
          <p:cNvPr id="28" name="Text 22"/>
          <p:cNvSpPr/>
          <p:nvPr/>
        </p:nvSpPr>
        <p:spPr>
          <a:xfrm>
            <a:off x="2926080" y="42245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852160" y="42245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solvers for combinatorial complexity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13232" y="4718304"/>
            <a:ext cx="0" cy="173736"/>
          </a:xfrm>
          <a:prstGeom prst="line">
            <a:avLst/>
          </a:prstGeom>
          <a:noFill/>
          <a:ln w="19050">
            <a:solidFill>
              <a:srgbClr val="4DA3E0"/>
            </a:solidFill>
            <a:prstDash val="dash"/>
          </a:ln>
        </p:spPr>
      </p:sp>
      <p:sp>
        <p:nvSpPr>
          <p:cNvPr id="31" name="Shape 25"/>
          <p:cNvSpPr/>
          <p:nvPr/>
        </p:nvSpPr>
        <p:spPr>
          <a:xfrm>
            <a:off x="457200" y="4892040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2" name="Image 4" descr="/home/claude/nestle_ppt/icons/chartSimp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329" y="4961169"/>
            <a:ext cx="373807" cy="373807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2743200" y="4910328"/>
            <a:ext cx="6492240" cy="475488"/>
          </a:xfrm>
          <a:prstGeom prst="roundRect">
            <a:avLst>
              <a:gd name="adj" fmla="val 11538"/>
            </a:avLst>
          </a:prstGeom>
          <a:solidFill>
            <a:srgbClr val="EEF4FA"/>
          </a:solidFill>
          <a:ln/>
        </p:spPr>
      </p:sp>
      <p:sp>
        <p:nvSpPr>
          <p:cNvPr id="34" name="Text 27"/>
          <p:cNvSpPr/>
          <p:nvPr/>
        </p:nvSpPr>
        <p:spPr>
          <a:xfrm>
            <a:off x="2926080" y="49103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Dashboard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852160" y="491032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for planners and operators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13232" y="5404104"/>
            <a:ext cx="0" cy="173736"/>
          </a:xfrm>
          <a:prstGeom prst="line">
            <a:avLst/>
          </a:prstGeom>
          <a:noFill/>
          <a:ln w="19050">
            <a:solidFill>
              <a:srgbClr val="4DA3E0"/>
            </a:solidFill>
            <a:prstDash val="dash"/>
          </a:ln>
        </p:spPr>
      </p:sp>
      <p:sp>
        <p:nvSpPr>
          <p:cNvPr id="37" name="Shape 30"/>
          <p:cNvSpPr/>
          <p:nvPr/>
        </p:nvSpPr>
        <p:spPr>
          <a:xfrm>
            <a:off x="457200" y="5577840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8" name="Image 5" descr="/home/claude/nestle_ppt/icons/briefc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29" y="5646969"/>
            <a:ext cx="373807" cy="373807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2743200" y="5596128"/>
            <a:ext cx="5989320" cy="475488"/>
          </a:xfrm>
          <a:prstGeom prst="roundRect">
            <a:avLst>
              <a:gd name="adj" fmla="val 11538"/>
            </a:avLst>
          </a:prstGeom>
          <a:solidFill>
            <a:srgbClr val="EEF4FA"/>
          </a:solidFill>
          <a:ln/>
        </p:spPr>
      </p:sp>
      <p:sp>
        <p:nvSpPr>
          <p:cNvPr id="40" name="Text 32"/>
          <p:cNvSpPr/>
          <p:nvPr/>
        </p:nvSpPr>
        <p:spPr>
          <a:xfrm>
            <a:off x="2926080" y="55961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5852160" y="5596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aligned to enterprise objectives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Benefits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929384"/>
            <a:ext cx="621792" cy="621792"/>
          </a:xfrm>
          <a:prstGeom prst="ellipse">
            <a:avLst/>
          </a:prstGeom>
          <a:solidFill>
            <a:srgbClr val="1E7A46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8" name="Image 0" descr="/home/claude/nestle_ppt/icons/truckFa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270" y="2013326"/>
            <a:ext cx="453908" cy="453908"/>
          </a:xfrm>
          <a:prstGeom prst="rect">
            <a:avLst/>
          </a:prstGeom>
        </p:spPr>
      </p:pic>
      <p:pic>
        <p:nvPicPr>
          <p:cNvPr id="9" name="Image 1" descr="/home/claude/nestle_ppt/icons/arrow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191109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" y="274320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Transportation Cost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00984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25112" y="1929384"/>
            <a:ext cx="621792" cy="621792"/>
          </a:xfrm>
          <a:prstGeom prst="ellipse">
            <a:avLst/>
          </a:prstGeom>
          <a:solidFill>
            <a:srgbClr val="1E7A46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3" name="Image 2" descr="/home/claude/nestle_ppt/icons/boxesStacked2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054" y="2013326"/>
            <a:ext cx="453908" cy="453908"/>
          </a:xfrm>
          <a:prstGeom prst="rect">
            <a:avLst/>
          </a:prstGeom>
        </p:spPr>
      </p:pic>
      <p:pic>
        <p:nvPicPr>
          <p:cNvPr id="14" name="Image 3" descr="/home/claude/nestle_ppt/icons/arrow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110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29000" y="274320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Utilization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144768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68896" y="1929384"/>
            <a:ext cx="621792" cy="621792"/>
          </a:xfrm>
          <a:prstGeom prst="ellipse">
            <a:avLst/>
          </a:prstGeom>
          <a:solidFill>
            <a:srgbClr val="1E7A46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8" name="Image 4" descr="/home/claude/nestle_ppt/icons/boxOpe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838" y="2013326"/>
            <a:ext cx="453908" cy="453908"/>
          </a:xfrm>
          <a:prstGeom prst="rect">
            <a:avLst/>
          </a:prstGeom>
        </p:spPr>
      </p:pic>
      <p:pic>
        <p:nvPicPr>
          <p:cNvPr id="19" name="Image 5" descr="/home/claude/nestle_ppt/icons/arrowU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911096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72784" y="274320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Stockouts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8988552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10012680" y="1929384"/>
            <a:ext cx="621792" cy="621792"/>
          </a:xfrm>
          <a:prstGeom prst="ellipse">
            <a:avLst/>
          </a:prstGeom>
          <a:solidFill>
            <a:srgbClr val="1E7A46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3" name="Image 6" descr="/home/claude/nestle_ppt/icons/stopwat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622" y="2013326"/>
            <a:ext cx="453908" cy="453908"/>
          </a:xfrm>
          <a:prstGeom prst="rect">
            <a:avLst/>
          </a:prstGeom>
        </p:spPr>
      </p:pic>
      <p:pic>
        <p:nvPicPr>
          <p:cNvPr id="24" name="Image 7" descr="/home/claude/nestle_ppt/icons/arrowU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8440" y="1911096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116568" y="274320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Planning Cycles</a:t>
            </a:r>
            <a:endParaRPr lang="en-US" sz="1150" dirty="0"/>
          </a:p>
        </p:txBody>
      </p:sp>
      <p:sp>
        <p:nvSpPr>
          <p:cNvPr id="26" name="Shape 16"/>
          <p:cNvSpPr/>
          <p:nvPr/>
        </p:nvSpPr>
        <p:spPr>
          <a:xfrm>
            <a:off x="457200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1481328" y="4005072"/>
            <a:ext cx="621792" cy="621792"/>
          </a:xfrm>
          <a:prstGeom prst="ellipse">
            <a:avLst/>
          </a:prstGeom>
          <a:solidFill>
            <a:srgbClr val="1E7A46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8" name="Image 8" descr="/home/claude/nestle_ppt/icons/faceSmil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5270" y="4089014"/>
            <a:ext cx="453908" cy="453908"/>
          </a:xfrm>
          <a:prstGeom prst="rect">
            <a:avLst/>
          </a:prstGeom>
        </p:spPr>
      </p:pic>
      <p:pic>
        <p:nvPicPr>
          <p:cNvPr id="29" name="Image 9" descr="/home/claude/nestle_ppt/icons/arrowUp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7088" y="3986784"/>
            <a:ext cx="219456" cy="219456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85216" y="4818888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Customer Satisfaction</a:t>
            </a:r>
            <a:endParaRPr lang="en-US" sz="1150" dirty="0"/>
          </a:p>
        </p:txBody>
      </p:sp>
      <p:sp>
        <p:nvSpPr>
          <p:cNvPr id="31" name="Shape 19"/>
          <p:cNvSpPr/>
          <p:nvPr/>
        </p:nvSpPr>
        <p:spPr>
          <a:xfrm>
            <a:off x="3300984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32" name="Shape 20"/>
          <p:cNvSpPr/>
          <p:nvPr/>
        </p:nvSpPr>
        <p:spPr>
          <a:xfrm>
            <a:off x="4325112" y="4005072"/>
            <a:ext cx="621792" cy="621792"/>
          </a:xfrm>
          <a:prstGeom prst="ellipse">
            <a:avLst/>
          </a:prstGeom>
          <a:solidFill>
            <a:srgbClr val="1E7A46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33" name="Image 10" descr="/home/claude/nestle_ppt/icons/warehouseFull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9054" y="4089014"/>
            <a:ext cx="453908" cy="453908"/>
          </a:xfrm>
          <a:prstGeom prst="rect">
            <a:avLst/>
          </a:prstGeom>
        </p:spPr>
      </p:pic>
      <p:pic>
        <p:nvPicPr>
          <p:cNvPr id="34" name="Image 11" descr="/home/claude/nestle_ppt/icons/arrowUp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0872" y="3986784"/>
            <a:ext cx="219456" cy="219456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3429000" y="4818888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Warehouse Utilization</a:t>
            </a:r>
            <a:endParaRPr lang="en-US" sz="1150" dirty="0"/>
          </a:p>
        </p:txBody>
      </p:sp>
      <p:sp>
        <p:nvSpPr>
          <p:cNvPr id="36" name="Shape 22"/>
          <p:cNvSpPr/>
          <p:nvPr/>
        </p:nvSpPr>
        <p:spPr>
          <a:xfrm>
            <a:off x="6144768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37" name="Shape 23"/>
          <p:cNvSpPr/>
          <p:nvPr/>
        </p:nvSpPr>
        <p:spPr>
          <a:xfrm>
            <a:off x="7168896" y="4005072"/>
            <a:ext cx="621792" cy="621792"/>
          </a:xfrm>
          <a:prstGeom prst="ellipse">
            <a:avLst/>
          </a:prstGeom>
          <a:solidFill>
            <a:srgbClr val="1E7A46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38" name="Image 12" descr="/home/claude/nestle_ppt/icons/rocket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2838" y="4089014"/>
            <a:ext cx="453908" cy="453908"/>
          </a:xfrm>
          <a:prstGeom prst="rect">
            <a:avLst/>
          </a:prstGeom>
        </p:spPr>
      </p:pic>
      <p:pic>
        <p:nvPicPr>
          <p:cNvPr id="39" name="Image 13" descr="/home/claude/nestle_ppt/icons/arrowUp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4656" y="3986784"/>
            <a:ext cx="219456" cy="219456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272784" y="4818888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Optimization</a:t>
            </a:r>
            <a:endParaRPr lang="en-US" sz="1150" dirty="0"/>
          </a:p>
        </p:txBody>
      </p:sp>
      <p:sp>
        <p:nvSpPr>
          <p:cNvPr id="41" name="Shape 25"/>
          <p:cNvSpPr/>
          <p:nvPr/>
        </p:nvSpPr>
        <p:spPr>
          <a:xfrm>
            <a:off x="8988552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00335C"/>
          </a:solidFill>
          <a:ln/>
        </p:spPr>
      </p:sp>
      <p:sp>
        <p:nvSpPr>
          <p:cNvPr id="42" name="Text 26"/>
          <p:cNvSpPr/>
          <p:nvPr/>
        </p:nvSpPr>
        <p:spPr>
          <a:xfrm>
            <a:off x="9134856" y="3931920"/>
            <a:ext cx="2377440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measurably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supply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400" dirty="0"/>
          </a:p>
        </p:txBody>
      </p:sp>
      <p:sp>
        <p:nvSpPr>
          <p:cNvPr id="43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44" name="Text 28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45" name="Text 29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669280" cy="566928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4846320"/>
            <a:ext cx="4572000" cy="457200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164592" cy="164592"/>
          </a:xfrm>
          <a:prstGeom prst="ellipse">
            <a:avLst/>
          </a:prstGeom>
          <a:solidFill>
            <a:srgbClr val="4DA3E0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B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WISER GLOBAL QUANTUM + AI PROGRAM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Fragmented Challenge to an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Enterprise Platform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420624" cy="420624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9" name="Image 0" descr="/home/claude/nestle_ppt/icons/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152" y="2845704"/>
            <a:ext cx="307056" cy="307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3584" y="2770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77640" y="27706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 across a vast distributed network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355848"/>
            <a:ext cx="420624" cy="420624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13" name="Image 1" descr="/home/claude/nestle_ppt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52" y="3412632"/>
            <a:ext cx="307056" cy="307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43584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977640" y="3337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costs, stockouts and eroding service levels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8368" y="3922776"/>
            <a:ext cx="420624" cy="420624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17" name="Image 2" descr="/home/claude/nestle_ppt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2" y="3979560"/>
            <a:ext cx="307056" cy="307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584" y="3904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AI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977640" y="390448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for demand and inventory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58368" y="4489704"/>
            <a:ext cx="420624" cy="420624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21" name="Image 3" descr="/home/claude/nestle_ppt/icons/cub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52" y="4546488"/>
            <a:ext cx="307056" cy="307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43584" y="44714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Optimization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977640" y="447141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decisions across competing constraints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58368" y="5056632"/>
            <a:ext cx="420624" cy="420624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25" name="Image 4" descr="/home/claude/nestle_ppt/icons/ato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52" y="5113416"/>
            <a:ext cx="307056" cy="3070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43584" y="5038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Quantum Computing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977640" y="503834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what classical solvers can reach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0080" y="574243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06427A"/>
          </a:solidFill>
          <a:ln w="9525">
            <a:solidFill>
              <a:srgbClr val="0F5892"/>
            </a:solidFill>
            <a:prstDash val="solid"/>
          </a:ln>
        </p:spPr>
      </p:sp>
      <p:pic>
        <p:nvPicPr>
          <p:cNvPr id="29" name="Image 5" descr="/home/claude/nestle_ppt/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591616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96112" y="5742432"/>
            <a:ext cx="8961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Proposed Solution and Enterprise System Architecture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2026-08-07T04:07:20Z</dcterms:created>
  <dcterms:modified xsi:type="dcterms:W3CDTF">2026-08-07T04:07:20Z</dcterms:modified>
</cp:coreProperties>
</file>