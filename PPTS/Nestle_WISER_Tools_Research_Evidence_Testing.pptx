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Tools, Research, Evidence,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Testing Used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of the Nestlé Distributed Order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5376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63624" y="4526280"/>
            <a:ext cx="530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48840" y="4526280"/>
            <a:ext cx="777240" cy="77724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5376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80944" y="4526280"/>
            <a:ext cx="530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66160" y="4526280"/>
            <a:ext cx="777240" cy="77724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5376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98264" y="4526280"/>
            <a:ext cx="530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83480" y="4526280"/>
            <a:ext cx="777240" cy="77724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5376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15584" y="4526280"/>
            <a:ext cx="530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4526280"/>
            <a:ext cx="777240" cy="777240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0760" y="5376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69680" y="4572000"/>
            <a:ext cx="0" cy="1417320"/>
          </a:xfrm>
          <a:prstGeom prst="line">
            <a:avLst/>
          </a:prstGeom>
          <a:noFill/>
          <a:ln w="12700">
            <a:solidFill>
              <a:srgbClr val="3A4A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4590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98280" y="4864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Sirama Avinash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9828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61722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using Artificial Intelligence,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E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 and Quantum Computing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Solution Was Researched and Validated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1348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1641348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4721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4173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1708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" name="Text 9"/>
          <p:cNvSpPr/>
          <p:nvPr/>
        </p:nvSpPr>
        <p:spPr>
          <a:xfrm>
            <a:off x="4521708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92424" y="14721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4173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2068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7402068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2784" y="14721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23960" y="14173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828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2428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" name="Text 19"/>
          <p:cNvSpPr/>
          <p:nvPr/>
        </p:nvSpPr>
        <p:spPr>
          <a:xfrm>
            <a:off x="10282428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53144" y="14721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1348" y="2651760"/>
            <a:ext cx="237744" cy="23774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5" name="Text 23"/>
          <p:cNvSpPr/>
          <p:nvPr/>
        </p:nvSpPr>
        <p:spPr>
          <a:xfrm>
            <a:off x="1641348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" y="28437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3240" y="27889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7560" y="27889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1708" y="2651760"/>
            <a:ext cx="237744" cy="23774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0" name="Text 28"/>
          <p:cNvSpPr/>
          <p:nvPr/>
        </p:nvSpPr>
        <p:spPr>
          <a:xfrm>
            <a:off x="4521708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92424" y="28437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27889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27889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2068" y="2651760"/>
            <a:ext cx="237744" cy="23774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5" name="Text 33"/>
          <p:cNvSpPr/>
          <p:nvPr/>
        </p:nvSpPr>
        <p:spPr>
          <a:xfrm>
            <a:off x="7402068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28437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23960" y="278892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98280" y="27889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82428" y="2651760"/>
            <a:ext cx="237744" cy="23774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40" name="Text 38"/>
          <p:cNvSpPr/>
          <p:nvPr/>
        </p:nvSpPr>
        <p:spPr>
          <a:xfrm>
            <a:off x="10282428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53144" y="2843784"/>
            <a:ext cx="24963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9136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used an iterative engineering and experimentation approach — each stage produced measurable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informed the next.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5262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0E1B32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554126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98648" y="50292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49" name="Text 47"/>
          <p:cNvSpPr/>
          <p:nvPr/>
        </p:nvSpPr>
        <p:spPr>
          <a:xfrm>
            <a:off x="2898648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578608" y="554126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0056" y="50292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2" name="Text 50"/>
          <p:cNvSpPr/>
          <p:nvPr/>
        </p:nvSpPr>
        <p:spPr>
          <a:xfrm>
            <a:off x="5020056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00016" y="554126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41464" y="50292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5" name="Text 53"/>
          <p:cNvSpPr/>
          <p:nvPr/>
        </p:nvSpPr>
        <p:spPr>
          <a:xfrm>
            <a:off x="7141464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21424" y="554126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262872" y="50292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8" name="Text 56"/>
          <p:cNvSpPr/>
          <p:nvPr/>
        </p:nvSpPr>
        <p:spPr>
          <a:xfrm>
            <a:off x="9262872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942832" y="554126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Business-oriented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8191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13055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58775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2988" y="141732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7580" y="158191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" name="Text 9"/>
          <p:cNvSpPr/>
          <p:nvPr/>
        </p:nvSpPr>
        <p:spPr>
          <a:xfrm>
            <a:off x="349758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7580" y="213055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7580" y="258775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41732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158191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3368" y="213055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84564" y="141732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9156" y="158191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" name="Text 19"/>
          <p:cNvSpPr/>
          <p:nvPr/>
        </p:nvSpPr>
        <p:spPr>
          <a:xfrm>
            <a:off x="9249156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9156" y="213055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Optimization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49156" y="258775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/ mathematical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tools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PuLP-compatible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400507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455371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1792" y="501091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Qiskit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PennyLane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2988" y="384048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97580" y="400507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1" name="Text 29"/>
          <p:cNvSpPr/>
          <p:nvPr/>
        </p:nvSpPr>
        <p:spPr>
          <a:xfrm>
            <a:off x="349758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97580" y="455371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97580" y="501091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8776" y="384048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00507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73368" y="4553712"/>
            <a:ext cx="22905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73368" y="5010912"/>
            <a:ext cx="22905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virtual environment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PyInstaller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PyWebView desktop launcher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84564" y="3840480"/>
            <a:ext cx="2619756" cy="2148840"/>
          </a:xfrm>
          <a:prstGeom prst="roundRect">
            <a:avLst>
              <a:gd name="adj" fmla="val 3404"/>
            </a:avLst>
          </a:prstGeom>
          <a:solidFill>
            <a:srgbClr val="0E1B32"/>
          </a:solidFill>
          <a:ln/>
        </p:spPr>
      </p:sp>
      <p:sp>
        <p:nvSpPr>
          <p:cNvPr id="40" name="Text 38"/>
          <p:cNvSpPr/>
          <p:nvPr/>
        </p:nvSpPr>
        <p:spPr>
          <a:xfrm>
            <a:off x="9267444" y="4023360"/>
            <a:ext cx="22539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reproducible pipeline — from raw enterprise data to a deployable AI + optimization + quantum decision platform.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Quality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7265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977265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5074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81378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1443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" name="Text 9"/>
          <p:cNvSpPr/>
          <p:nvPr/>
        </p:nvSpPr>
        <p:spPr>
          <a:xfrm>
            <a:off x="2401443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6242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9252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5556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5621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3825621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0420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3430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29734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49799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" name="Text 19"/>
          <p:cNvSpPr/>
          <p:nvPr/>
        </p:nvSpPr>
        <p:spPr>
          <a:xfrm>
            <a:off x="5249799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4598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7608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3912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3977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3977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31786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78090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8155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1" name="Text 29"/>
          <p:cNvSpPr/>
          <p:nvPr/>
        </p:nvSpPr>
        <p:spPr>
          <a:xfrm>
            <a:off x="8098155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2954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55964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02268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2333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6" name="Text 34"/>
          <p:cNvSpPr/>
          <p:nvPr/>
        </p:nvSpPr>
        <p:spPr>
          <a:xfrm>
            <a:off x="9522333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57132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80142" y="141732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426446" y="1417320"/>
            <a:ext cx="1277874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46511" y="128016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41" name="Text 39"/>
          <p:cNvSpPr/>
          <p:nvPr/>
        </p:nvSpPr>
        <p:spPr>
          <a:xfrm>
            <a:off x="10946511" y="1280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81310" y="1472184"/>
            <a:ext cx="116814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EVIDENCE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83464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2926080"/>
            <a:ext cx="1847088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25,193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30352" y="3599993"/>
            <a:ext cx="188366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Rows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61488" y="283464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52928" y="2926080"/>
            <a:ext cx="1847088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834640" y="3599993"/>
            <a:ext cx="188366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65776" y="283464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157216" y="2926080"/>
            <a:ext cx="1847088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138928" y="3599993"/>
            <a:ext cx="188366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Removal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370064" y="283464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461504" y="2926080"/>
            <a:ext cx="1847088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443216" y="3599993"/>
            <a:ext cx="188366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74352" y="283464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765792" y="2926080"/>
            <a:ext cx="1847088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25,179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747504" y="3599993"/>
            <a:ext cx="188366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PERFORMED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316736" y="4709160"/>
            <a:ext cx="347472" cy="34747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61" name="Text 59"/>
          <p:cNvSpPr/>
          <p:nvPr/>
        </p:nvSpPr>
        <p:spPr>
          <a:xfrm>
            <a:off x="1316736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57200" y="51663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11880" y="4709160"/>
            <a:ext cx="347472" cy="34747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64" name="Text 62"/>
          <p:cNvSpPr/>
          <p:nvPr/>
        </p:nvSpPr>
        <p:spPr>
          <a:xfrm>
            <a:off x="3611880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752344" y="51663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Data-type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907024" y="4709160"/>
            <a:ext cx="347472" cy="34747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67" name="Text 65"/>
          <p:cNvSpPr/>
          <p:nvPr/>
        </p:nvSpPr>
        <p:spPr>
          <a:xfrm>
            <a:off x="5907024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047488" y="51663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202168" y="4709160"/>
            <a:ext cx="347472" cy="34747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0" name="Text 68"/>
          <p:cNvSpPr/>
          <p:nvPr/>
        </p:nvSpPr>
        <p:spPr>
          <a:xfrm>
            <a:off x="8202168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342632" y="51663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0497312" y="4709160"/>
            <a:ext cx="347472" cy="34747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3" name="Text 71"/>
          <p:cNvSpPr/>
          <p:nvPr/>
        </p:nvSpPr>
        <p:spPr>
          <a:xfrm>
            <a:off x="10497312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637776" y="51663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Development and Quantitative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E1B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70048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82696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95344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95344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79976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07992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992624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2064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605272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733288"/>
            <a:ext cx="3383280" cy="484632"/>
          </a:xfrm>
          <a:prstGeom prst="roundRect">
            <a:avLst>
              <a:gd name="adj" fmla="val 1132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33288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463040"/>
            <a:ext cx="4937760" cy="256032"/>
          </a:xfrm>
          <a:prstGeom prst="roundRect">
            <a:avLst>
              <a:gd name="adj" fmla="val 50000"/>
            </a:avLst>
          </a:prstGeom>
          <a:solidFill>
            <a:srgbClr val="0055A4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1463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 ON THE PROJECT TEST SET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1965960"/>
            <a:ext cx="359816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43400" y="2057400"/>
            <a:ext cx="3415284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20,143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325112" y="2731313"/>
            <a:ext cx="34518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06156" y="1965960"/>
            <a:ext cx="359816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97596" y="2057400"/>
            <a:ext cx="3415284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5,036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79308" y="2731313"/>
            <a:ext cx="34518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Samples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3429000"/>
            <a:ext cx="359816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43400" y="3520440"/>
            <a:ext cx="3415284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0.000310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325112" y="4194353"/>
            <a:ext cx="34518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06156" y="3429000"/>
            <a:ext cx="359816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97596" y="3520440"/>
            <a:ext cx="3415284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0.005716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179308" y="4194353"/>
            <a:ext cx="34518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4892040"/>
            <a:ext cx="7452360" cy="960120"/>
          </a:xfrm>
          <a:prstGeom prst="roundRect">
            <a:avLst>
              <a:gd name="adj" fmla="val 7619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343400" y="4983480"/>
            <a:ext cx="7269480" cy="53766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0.9676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4325112" y="5487314"/>
            <a:ext cx="7306056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Coefficient of Determination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51960" y="5989320"/>
            <a:ext cx="745236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598932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reflect performance on the held-out project test set. They are not represented as real-world production accuracy.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Business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0627" y="132588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1360627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517904"/>
            <a:ext cx="193487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01798" y="14630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57830" y="146304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1258" y="132588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" name="Text 9"/>
          <p:cNvSpPr/>
          <p:nvPr/>
        </p:nvSpPr>
        <p:spPr>
          <a:xfrm>
            <a:off x="3661258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12694" y="1517904"/>
            <a:ext cx="193487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2429" y="14630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58461" y="146304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132588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5961888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13325" y="1517904"/>
            <a:ext cx="193487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03059" y="14630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59091" y="146304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2518" y="132588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" name="Text 19"/>
          <p:cNvSpPr/>
          <p:nvPr/>
        </p:nvSpPr>
        <p:spPr>
          <a:xfrm>
            <a:off x="8262518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13955" y="1517904"/>
            <a:ext cx="193487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03690" y="14630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59722" y="146304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63149" y="1325880"/>
            <a:ext cx="237744" cy="23774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3149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14586" y="1517904"/>
            <a:ext cx="193487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 (CONCEPTUAL)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273552"/>
            <a:ext cx="365760" cy="36576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324612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749040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Planner Review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429768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2272" y="3273552"/>
            <a:ext cx="365760" cy="365760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24612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 Detected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62272" y="3749040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Replenish Stock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813816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2752" y="3273552"/>
            <a:ext cx="365760" cy="365760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41" name="Text 39"/>
          <p:cNvSpPr/>
          <p:nvPr/>
        </p:nvSpPr>
        <p:spPr>
          <a:xfrm>
            <a:off x="8302752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78240" y="324612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02752" y="3749040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Maintain Inventory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DEMONSTRATED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16736" y="4937760"/>
            <a:ext cx="347472" cy="34747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46" name="Text 44"/>
          <p:cNvSpPr/>
          <p:nvPr/>
        </p:nvSpPr>
        <p:spPr>
          <a:xfrm>
            <a:off x="1316736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53949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11880" y="4937760"/>
            <a:ext cx="347472" cy="34747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52344" y="53949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07024" y="4937760"/>
            <a:ext cx="347472" cy="34747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2" name="Text 50"/>
          <p:cNvSpPr/>
          <p:nvPr/>
        </p:nvSpPr>
        <p:spPr>
          <a:xfrm>
            <a:off x="5907024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47488" y="53949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02168" y="4937760"/>
            <a:ext cx="347472" cy="34747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5" name="Text 53"/>
          <p:cNvSpPr/>
          <p:nvPr/>
        </p:nvSpPr>
        <p:spPr>
          <a:xfrm>
            <a:off x="8202168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42632" y="53949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497312" y="4937760"/>
            <a:ext cx="347472" cy="34747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8" name="Text 56"/>
          <p:cNvSpPr/>
          <p:nvPr/>
        </p:nvSpPr>
        <p:spPr>
          <a:xfrm>
            <a:off x="10497312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637776" y="539496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Distribution-center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preserved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0055A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349240" cy="635508"/>
          </a:xfrm>
          <a:prstGeom prst="roundRect">
            <a:avLst>
              <a:gd name="adj" fmla="val 86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51663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Assignment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47188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75204"/>
            <a:ext cx="5349240" cy="635508"/>
          </a:xfrm>
          <a:prstGeom prst="roundRect">
            <a:avLst>
              <a:gd name="adj" fmla="val 86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5204"/>
            <a:ext cx="51663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Assignment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5349240" cy="635508"/>
          </a:xfrm>
          <a:prstGeom prst="roundRect">
            <a:avLst>
              <a:gd name="adj" fmla="val 86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38728"/>
            <a:ext cx="51663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74236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02252"/>
            <a:ext cx="5349240" cy="635508"/>
          </a:xfrm>
          <a:prstGeom prst="roundRect">
            <a:avLst>
              <a:gd name="adj" fmla="val 86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02252"/>
            <a:ext cx="516636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41732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00A99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17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011680"/>
            <a:ext cx="5349240" cy="482803"/>
          </a:xfrm>
          <a:prstGeom prst="roundRect">
            <a:avLst>
              <a:gd name="adj" fmla="val 1136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011680"/>
            <a:ext cx="51663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Variables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2494483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2622499"/>
            <a:ext cx="5349240" cy="482803"/>
          </a:xfrm>
          <a:prstGeom prst="roundRect">
            <a:avLst>
              <a:gd name="adj" fmla="val 1136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622499"/>
            <a:ext cx="51663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105302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233318"/>
            <a:ext cx="5349240" cy="482803"/>
          </a:xfrm>
          <a:prstGeom prst="roundRect">
            <a:avLst>
              <a:gd name="adj" fmla="val 1136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233318"/>
            <a:ext cx="51663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Construction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3716122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844138"/>
            <a:ext cx="5349240" cy="482803"/>
          </a:xfrm>
          <a:prstGeom prst="roundRect">
            <a:avLst>
              <a:gd name="adj" fmla="val 1136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844138"/>
            <a:ext cx="51663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 PennyLane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4326941"/>
            <a:ext cx="5349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454957"/>
            <a:ext cx="5349240" cy="482803"/>
          </a:xfrm>
          <a:prstGeom prst="roundRect">
            <a:avLst>
              <a:gd name="adj" fmla="val 1136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454957"/>
            <a:ext cx="51663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/ Hybrid Experiment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1417320"/>
            <a:ext cx="0" cy="3520440"/>
          </a:xfrm>
          <a:prstGeom prst="line">
            <a:avLst/>
          </a:prstGeom>
          <a:noFill/>
          <a:ln w="19050">
            <a:solidFill>
              <a:srgbClr val="DCE2E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0E1B3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practical baselines and reliable optimization.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methods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investigated as a future-oriented optimization pathway. Quantum advantage is not claimed without measured evidence.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EVIDENCE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Compared the Approaches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160520"/>
        </p:xfrm>
        <a:graphic>
          <a:graphicData uri="http://schemas.openxmlformats.org/drawingml/2006/table">
            <a:tbl>
              <a:tblPr/>
              <a:tblGrid>
                <a:gridCol w="2834640"/>
                <a:gridCol w="1682496"/>
                <a:gridCol w="1682496"/>
                <a:gridCol w="1682496"/>
                <a:gridCol w="1682496"/>
                <a:gridCol w="1682496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Satisfaction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Interpretability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8A9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/ Not measured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42432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7424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dimensions reflect the project’s benchmarking framework. Values are reported only where measured — no figures are fabricated.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Testing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loading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validation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359152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32304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87168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Uncertainty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261104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34256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Testing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 validation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Assignment validation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Objective evaluation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163056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36208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Testing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1072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QUBO construction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Solver execution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validation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8065008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95944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6" name="Text 24"/>
          <p:cNvSpPr/>
          <p:nvPr/>
        </p:nvSpPr>
        <p:spPr>
          <a:xfrm>
            <a:off x="8695944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38160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Testing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93024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modules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outputs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function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9966960" y="1463040"/>
            <a:ext cx="1737360" cy="4343400"/>
          </a:xfrm>
          <a:prstGeom prst="roundRect">
            <a:avLst>
              <a:gd name="adj" fmla="val 3684"/>
            </a:avLst>
          </a:prstGeom>
          <a:solidFill>
            <a:srgbClr val="EAF0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97896" y="1664208"/>
            <a:ext cx="475488" cy="475488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1" name="Text 29"/>
          <p:cNvSpPr/>
          <p:nvPr/>
        </p:nvSpPr>
        <p:spPr>
          <a:xfrm>
            <a:off x="10597896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40112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94976" y="2880360"/>
            <a:ext cx="1481328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execution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environment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 executable</a:t>
            </a:r>
            <a:endParaRPr lang="en-US" sz="83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Desktop launcher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validation — from raw data integrity through to a deployable Windows application — mirrors an enterprise QA lifecycle.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474720" cy="3474720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Supporting the Final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91056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25,193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records processed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1584" y="1463040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4464" y="1591056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74464" y="1847088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0.9676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74464" y="2331720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0.000310  ·  RMSE 0.005716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25968" y="1463040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1591056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08848" y="1847088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5,036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08848" y="2331720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test samples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64408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Tracks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080" y="4005072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and quantum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experiments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1584" y="3136392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4464" y="3264408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74464" y="3520440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474464" y="4005072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enterprise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25968" y="3136392"/>
            <a:ext cx="3578352" cy="1417320"/>
          </a:xfrm>
          <a:prstGeom prst="roundRect">
            <a:avLst>
              <a:gd name="adj" fmla="val 5161"/>
            </a:avLst>
          </a:prstGeom>
          <a:solidFill>
            <a:srgbClr val="16273F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8848" y="3264408"/>
            <a:ext cx="3212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08848" y="3520440"/>
            <a:ext cx="3212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Packaged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08848" y="4005072"/>
            <a:ext cx="321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Windows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85546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03E7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5546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solution was developed through measurable experimentation, quantitative model evaluation, optimization benchmarking, application testing, and deployment validation.”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5879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FINDINGS AND RECOMMENDATIONS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2026-08-07T05:54:42Z</dcterms:created>
  <dcterms:modified xsi:type="dcterms:W3CDTF">2026-08-07T05:54:42Z</dcterms:modified>
</cp:coreProperties>
</file>