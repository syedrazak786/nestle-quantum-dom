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8.png"/><Relationship Id="rId9" Type="http://schemas.openxmlformats.org/officeDocument/2006/relationships/image" Target="../media/image-5-5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356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4937760" cy="4937760"/>
          </a:xfrm>
          <a:prstGeom prst="ellipse">
            <a:avLst/>
          </a:prstGeom>
          <a:solidFill>
            <a:srgbClr val="0F3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Classical, AI, Quantum, or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Methods Considered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2999232"/>
            <a:ext cx="1463040" cy="0"/>
          </a:xfrm>
          <a:prstGeom prst="line">
            <a:avLst/>
          </a:prstGeom>
          <a:noFill/>
          <a:ln w="381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60273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+ AI Optimization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6052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Sirama Avinash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97496" y="4197096"/>
            <a:ext cx="841248" cy="841248"/>
          </a:xfrm>
          <a:prstGeom prst="ellipse">
            <a:avLst/>
          </a:prstGeom>
          <a:solidFill>
            <a:srgbClr val="12406F"/>
          </a:solidFill>
          <a:ln/>
        </p:spPr>
      </p:sp>
      <p:pic>
        <p:nvPicPr>
          <p:cNvPr id="12" name="Image 0" descr="/home/claude/nestle_ppt/icons/brai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441655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51192" y="514807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476488" y="4197096"/>
            <a:ext cx="841248" cy="841248"/>
          </a:xfrm>
          <a:prstGeom prst="ellipse">
            <a:avLst/>
          </a:prstGeom>
          <a:solidFill>
            <a:srgbClr val="12406F"/>
          </a:solidFill>
          <a:ln/>
        </p:spPr>
      </p:sp>
      <p:pic>
        <p:nvPicPr>
          <p:cNvPr id="15" name="Image 1" descr="/home/claude/nestle_ppt/icons/atom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944" y="441655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30184" y="514807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555480" y="4197096"/>
            <a:ext cx="841248" cy="841248"/>
          </a:xfrm>
          <a:prstGeom prst="ellipse">
            <a:avLst/>
          </a:prstGeom>
          <a:solidFill>
            <a:srgbClr val="12406F"/>
          </a:solidFill>
          <a:ln/>
        </p:spPr>
      </p:sp>
      <p:pic>
        <p:nvPicPr>
          <p:cNvPr id="18" name="Image 2" descr="/home/claude/nestle_ppt/icons/wire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36" y="44165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09176" y="514807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0634472" y="4197096"/>
            <a:ext cx="841248" cy="841248"/>
          </a:xfrm>
          <a:prstGeom prst="ellipse">
            <a:avLst/>
          </a:prstGeom>
          <a:solidFill>
            <a:srgbClr val="12406F"/>
          </a:solidFill>
          <a:ln/>
        </p:spPr>
      </p:sp>
      <p:pic>
        <p:nvPicPr>
          <p:cNvPr id="21" name="Image 3" descr="/home/claude/nestle_ppt/icons/chartlin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928" y="44165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488168" y="514807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Multiple Optimization Approaches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Considered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every customer order to the optimal distribution center is a complex, combinatorial decision — one that must be re-solved continuously as conditions shift. No single technique excels across every dimension of the problem, which is why classical, AI, and quantum methods were each evaluated on their merits.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730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COMPLEXITY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order-to-DC assignment interacts with every other — capacity, inventory, and routing constraints compound as order volume grows, demanding intelligent, scalable decision-making rather than static rules.</a:t>
            </a:r>
            <a:endParaRPr lang="en-US" sz="1250" dirty="0"/>
          </a:p>
        </p:txBody>
      </p:sp>
      <p:pic>
        <p:nvPicPr>
          <p:cNvPr id="8" name="Image 0" descr="/home/claude/nestle_ppt/icons/puzz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525780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ASSIGNMENT DECISION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8727053" y="2004962"/>
            <a:ext cx="325507" cy="1698358"/>
          </a:xfrm>
          <a:prstGeom prst="line">
            <a:avLst/>
          </a:prstGeom>
          <a:noFill/>
          <a:ln w="222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9052560" y="2714154"/>
            <a:ext cx="1535517" cy="989166"/>
          </a:xfrm>
          <a:prstGeom prst="line">
            <a:avLst/>
          </a:prstGeom>
          <a:noFill/>
          <a:ln w="22225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52560" y="3703320"/>
            <a:ext cx="1535517" cy="989166"/>
          </a:xfrm>
          <a:prstGeom prst="line">
            <a:avLst/>
          </a:prstGeom>
          <a:noFill/>
          <a:ln w="22225">
            <a:solidFill>
              <a:srgbClr val="D8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8727053" y="3703320"/>
            <a:ext cx="325507" cy="1698358"/>
          </a:xfrm>
          <a:prstGeom prst="line">
            <a:avLst/>
          </a:prstGeom>
          <a:noFill/>
          <a:ln w="22225">
            <a:solidFill>
              <a:srgbClr val="D8E0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7291087" y="3703320"/>
            <a:ext cx="1761473" cy="589834"/>
          </a:xfrm>
          <a:prstGeom prst="line">
            <a:avLst/>
          </a:prstGeom>
          <a:noFill/>
          <a:ln w="22225">
            <a:solidFill>
              <a:srgbClr val="D8E0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43589" y="1721498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6" name="Image 1" descr="/home/claude/nestle_ppt/icons/box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749" y="185865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1253" y="233414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10304613" y="2430690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9" name="Image 2" descr="/home/claude/nestle_ppt/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773" y="256785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02277" y="304333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0304613" y="4409022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2" name="Image 3" descr="/home/claude/nestle_ppt/icons/warehou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773" y="454618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02277" y="502167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443589" y="5118214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5" name="Image 4" descr="/home/claude/nestle_ppt/icons/rou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749" y="5255374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1253" y="573086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7007623" y="4009690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8" name="Image 5" descr="/home/claude/nestle_ppt/icons/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83" y="414685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05287" y="462233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275320" y="2926080"/>
            <a:ext cx="1554480" cy="155448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31" name="Image 6" descr="/home/claude/nestle_ppt/icons/cub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3291840"/>
            <a:ext cx="822960" cy="8229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12480" y="34107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Approaches Evaluated Across 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Decision-Making Spectrum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892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6484" y="1911096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/home/claude/nestle_ppt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0574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0604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322783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3232" y="341071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rules-based order assignment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3232" y="405079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3232" y="423367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explainable, proven at scale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3232" y="487375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3232" y="505663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scale &amp; nonlinear trade-offs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569671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3232" y="587959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operational baseline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10712" y="1691640"/>
            <a:ext cx="2697480" cy="4892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48556" y="1911096"/>
            <a:ext cx="621792" cy="621792"/>
          </a:xfrm>
          <a:prstGeom prst="ellipse">
            <a:avLst/>
          </a:prstGeom>
          <a:solidFill>
            <a:srgbClr val="3D7DBF"/>
          </a:solidFill>
          <a:ln/>
        </p:spPr>
      </p:sp>
      <p:pic>
        <p:nvPicPr>
          <p:cNvPr id="18" name="Image 1" descr="/home/claude/nestle_ppt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574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260604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575304" y="322783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575304" y="341071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demand &amp; inventory patterns from data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575304" y="405079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575304" y="423367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complex, shifting conditions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575304" y="487375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575304" y="505663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quality data &amp; validation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575304" y="569671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ROLE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575304" y="587959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layer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72784" y="1691640"/>
            <a:ext cx="2697480" cy="4892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310628" y="1911096"/>
            <a:ext cx="621792" cy="62179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0" name="Image 2" descr="/home/claude/nestle_ppt/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205740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82512" y="260604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6437376" y="322783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437376" y="341071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vast solution spaces via QUBO/QAOA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437376" y="405079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437376" y="423367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exponential scaling advantage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437376" y="487375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437376" y="505663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maturity still emerging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437376" y="569671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ROLE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437376" y="587959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Future-scalability research track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9134856" y="1691640"/>
            <a:ext cx="2697480" cy="4892040"/>
          </a:xfrm>
          <a:prstGeom prst="roundRect">
            <a:avLst>
              <a:gd name="adj" fmla="val 2712"/>
            </a:avLst>
          </a:prstGeom>
          <a:solidFill>
            <a:srgbClr val="EAF2FB"/>
          </a:solidFill>
          <a:ln w="12700">
            <a:solidFill>
              <a:srgbClr val="0055A4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10172700" y="1911096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42" name="Image 3" descr="/home/claude/nestle_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9004" y="2057400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244584" y="260604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450" dirty="0"/>
          </a:p>
        </p:txBody>
      </p:sp>
      <p:sp>
        <p:nvSpPr>
          <p:cNvPr id="44" name="Text 38"/>
          <p:cNvSpPr/>
          <p:nvPr/>
        </p:nvSpPr>
        <p:spPr>
          <a:xfrm>
            <a:off x="9299448" y="322783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9299448" y="341071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AI, classical &amp; quantum solvers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9299448" y="405079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9299448" y="423367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Best-of-all-worlds decision quality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9299448" y="487375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9299448" y="505663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architectural complexity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9299448" y="5696712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ROLE</a:t>
            </a:r>
            <a:endParaRPr lang="en-US" sz="850" dirty="0"/>
          </a:p>
        </p:txBody>
      </p:sp>
      <p:sp>
        <p:nvSpPr>
          <p:cNvPr id="51" name="Text 45"/>
          <p:cNvSpPr/>
          <p:nvPr/>
        </p:nvSpPr>
        <p:spPr>
          <a:xfrm>
            <a:off x="9299448" y="5879592"/>
            <a:ext cx="2368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enterprise solution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Methods Considered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93392"/>
            <a:ext cx="640080" cy="64008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/home/claude/nestle_ppt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Assignment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00837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order allocation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" y="338328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360273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" y="397764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" y="419709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optimization capability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178308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5424" y="1993392"/>
            <a:ext cx="640080" cy="64008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6" name="Image 1" descr="/home/claude/nestle_ppt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14884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5232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Optimization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81144" y="278892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81144" y="300837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cost-effective assignment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81144" y="338328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81144" y="360273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decision making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81144" y="397764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81144" y="419709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achieve global optimum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101584" y="178308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11896" y="1993392"/>
            <a:ext cx="640080" cy="64008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6" name="Image 2" descr="/home/claude/nestle_ppt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148840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61704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Programming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357616" y="278892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357616" y="300837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optimization under constraints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357616" y="338328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357616" y="360273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and explainable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8357616" y="397764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357616" y="419709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increases with problem size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48640" y="4892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FLOW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5349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" y="5349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</a:t>
            </a:r>
            <a:endParaRPr lang="en-US" sz="1200" dirty="0"/>
          </a:p>
        </p:txBody>
      </p:sp>
      <p:pic>
        <p:nvPicPr>
          <p:cNvPr id="37" name="Image 3" descr="/home/claude/nestle_ppt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5591556"/>
            <a:ext cx="347472" cy="292608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3383280" y="5349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/>
        </p:spPr>
      </p:sp>
      <p:sp>
        <p:nvSpPr>
          <p:cNvPr id="39" name="Text 33"/>
          <p:cNvSpPr/>
          <p:nvPr/>
        </p:nvSpPr>
        <p:spPr>
          <a:xfrm>
            <a:off x="3383280" y="5349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00" dirty="0"/>
          </a:p>
        </p:txBody>
      </p:sp>
      <p:pic>
        <p:nvPicPr>
          <p:cNvPr id="40" name="Image 4" descr="/home/claude/nestle_ppt/icons/arrowrigh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5591556"/>
            <a:ext cx="347472" cy="292608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217920" y="5349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/>
        </p:spPr>
      </p:sp>
      <p:sp>
        <p:nvSpPr>
          <p:cNvPr id="42" name="Text 35"/>
          <p:cNvSpPr/>
          <p:nvPr/>
        </p:nvSpPr>
        <p:spPr>
          <a:xfrm>
            <a:off x="6217920" y="5349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pic>
        <p:nvPicPr>
          <p:cNvPr id="43" name="Image 5" descr="/home/claude/nestle_ppt/icons/arrowrigh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5591556"/>
            <a:ext cx="347472" cy="292608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9052560" y="5349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2A4A"/>
          </a:solidFill>
          <a:ln/>
        </p:spPr>
      </p:sp>
      <p:sp>
        <p:nvSpPr>
          <p:cNvPr id="45" name="Text 37"/>
          <p:cNvSpPr/>
          <p:nvPr/>
        </p:nvSpPr>
        <p:spPr>
          <a:xfrm>
            <a:off x="9052560" y="5349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Predictive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1801368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/home/claude/nestle_ppt/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195681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877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Prediction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4672" y="3118104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044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customer demand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4672" y="3502152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demand patterns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25112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56148" y="1801368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4" name="Image 1" descr="/home/claude/nestle_ppt/icons/box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195681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62272" y="25877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Prediction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581144" y="3118104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3"/>
          <p:cNvSpPr/>
          <p:nvPr/>
        </p:nvSpPr>
        <p:spPr>
          <a:xfrm>
            <a:off x="4736592" y="3044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required inventory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81144" y="3502152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5"/>
          <p:cNvSpPr/>
          <p:nvPr/>
        </p:nvSpPr>
        <p:spPr>
          <a:xfrm>
            <a:off x="4736592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shortages and excess stock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01584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32620" y="1801368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2" name="Image 2" descr="/home/claude/nestle_ppt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68" y="1956816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38744" y="25877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 Engine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357616" y="3118104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0"/>
          <p:cNvSpPr/>
          <p:nvPr/>
        </p:nvSpPr>
        <p:spPr>
          <a:xfrm>
            <a:off x="8513064" y="3044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 actions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357616" y="3502152"/>
            <a:ext cx="64008" cy="640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Text 22"/>
          <p:cNvSpPr/>
          <p:nvPr/>
        </p:nvSpPr>
        <p:spPr>
          <a:xfrm>
            <a:off x="8513064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confidence-based decisions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416052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0B2A4A"/>
          </a:solidFill>
          <a:ln/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77240" y="42611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7724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548640" y="5074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PIPELINE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30936" y="5522976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3" name="Image 3" descr="/home/claude/nestle_ppt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660136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28600" y="6172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pic>
        <p:nvPicPr>
          <p:cNvPr id="35" name="Image 4" descr="/home/claude/nestle_ppt/icons/arrowrigh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024" y="5660136"/>
            <a:ext cx="292608" cy="29260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2779776" y="5522976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7" name="Image 5" descr="/home/claude/nestle_ppt/icons/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" y="566013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377440" y="6172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</p:txBody>
      </p:sp>
      <p:pic>
        <p:nvPicPr>
          <p:cNvPr id="39" name="Image 6" descr="/home/claude/nestle_ppt/icons/arrowrigh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660136"/>
            <a:ext cx="292608" cy="292608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4928616" y="5522976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1" name="Image 7" descr="/home/claude/nestle_ppt/icons/chartba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5776" y="566013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526280" y="6172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pic>
        <p:nvPicPr>
          <p:cNvPr id="43" name="Image 8" descr="/home/claude/nestle_ppt/icons/arrowright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2704" y="5660136"/>
            <a:ext cx="292608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7077456" y="5522976"/>
            <a:ext cx="566928" cy="56692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5" name="Image 9" descr="/home/claude/nestle_ppt/icons/clipboard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4616" y="5660136"/>
            <a:ext cx="292608" cy="29260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675120" y="6172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7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Technologies Considered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12406F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1947672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nestle_ppt/icons/cub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093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79192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 Formulation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044952"/>
            <a:ext cx="2066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DOM assignment problem into binary optimization form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27248" y="169164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12406F"/>
          </a:solidFill>
          <a:ln/>
        </p:spPr>
      </p:sp>
      <p:sp>
        <p:nvSpPr>
          <p:cNvPr id="10" name="Shape 7"/>
          <p:cNvSpPr/>
          <p:nvPr/>
        </p:nvSpPr>
        <p:spPr>
          <a:xfrm>
            <a:off x="4014216" y="1947672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1" name="Image 1" descr="/home/claude/nestle_ppt/icons/microchi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0939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4408" y="2679192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Qiskit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3044952"/>
            <a:ext cx="2066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quantum circuit-based optimization experiments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705856" y="169164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12406F"/>
          </a:solidFill>
          <a:ln/>
        </p:spPr>
      </p:sp>
      <p:sp>
        <p:nvSpPr>
          <p:cNvPr id="15" name="Shape 11"/>
          <p:cNvSpPr/>
          <p:nvPr/>
        </p:nvSpPr>
        <p:spPr>
          <a:xfrm>
            <a:off x="6592824" y="1947672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6" name="Image 2" descr="/home/claude/nestle_ppt/icons/wire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0939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43016" y="2679192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PennyLane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70448" y="3044952"/>
            <a:ext cx="2066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hybrid quantum machine learning and QAOA experiments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284464" y="169164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12406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71432" y="1947672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1" name="Image 3" descr="/home/claude/nestle_ppt/icons/bol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09397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21624" y="2679192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49056" y="3044952"/>
            <a:ext cx="2066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Approximate Optimization Algorithm for combinatorial search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SOLUTION PATHWAY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572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pic>
        <p:nvPicPr>
          <p:cNvPr id="27" name="Image 4" descr="/home/claude/nestle_ppt/icons/arrowrigh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512" y="4837176"/>
            <a:ext cx="347472" cy="29260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383280" y="4572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9" name="Text 22"/>
          <p:cNvSpPr/>
          <p:nvPr/>
        </p:nvSpPr>
        <p:spPr>
          <a:xfrm>
            <a:off x="3383280" y="4572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</a:t>
            </a:r>
            <a:endParaRPr lang="en-US" sz="1300" dirty="0"/>
          </a:p>
        </p:txBody>
      </p:sp>
      <p:pic>
        <p:nvPicPr>
          <p:cNvPr id="30" name="Image 5" descr="/home/claude/nestle_ppt/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4837176"/>
            <a:ext cx="347472" cy="29260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17920" y="4572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32" name="Text 24"/>
          <p:cNvSpPr/>
          <p:nvPr/>
        </p:nvSpPr>
        <p:spPr>
          <a:xfrm>
            <a:off x="6217920" y="4572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300" dirty="0"/>
          </a:p>
        </p:txBody>
      </p:sp>
      <p:pic>
        <p:nvPicPr>
          <p:cNvPr id="33" name="Image 6" descr="/home/claude/nestle_ppt/icons/arrowrigh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4837176"/>
            <a:ext cx="347472" cy="29260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052560" y="4572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C9A24B"/>
          </a:solidFill>
          <a:ln/>
        </p:spPr>
      </p:sp>
      <p:sp>
        <p:nvSpPr>
          <p:cNvPr id="35" name="Text 26"/>
          <p:cNvSpPr/>
          <p:nvPr/>
        </p:nvSpPr>
        <p:spPr>
          <a:xfrm>
            <a:off x="9052560" y="4572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48640" y="5715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remains a forward-looking research track — evaluated for long-term scalability as problem complexity grows beyond classical limits.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 + Optimization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20624" cy="42062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/home/claude/nestle_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110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300" dirty="0"/>
          </a:p>
        </p:txBody>
      </p:sp>
      <p:pic>
        <p:nvPicPr>
          <p:cNvPr id="8" name="Image 1" descr="/home/claude/nestle_ppt/icons/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76856" y="2377440"/>
            <a:ext cx="29260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606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/>
        </p:spPr>
      </p:sp>
      <p:sp>
        <p:nvSpPr>
          <p:cNvPr id="10" name="Shape 6"/>
          <p:cNvSpPr/>
          <p:nvPr/>
        </p:nvSpPr>
        <p:spPr>
          <a:xfrm>
            <a:off x="777240" y="2724912"/>
            <a:ext cx="420624" cy="42062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1" name="Image 2" descr="/home/claude/nestle_ppt/icons/box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8254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6060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300" dirty="0"/>
          </a:p>
        </p:txBody>
      </p:sp>
      <p:pic>
        <p:nvPicPr>
          <p:cNvPr id="13" name="Image 3" descr="/home/claude/nestle_ppt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76856" y="3291840"/>
            <a:ext cx="29260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3520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/>
        </p:spPr>
      </p:sp>
      <p:sp>
        <p:nvSpPr>
          <p:cNvPr id="15" name="Shape 9"/>
          <p:cNvSpPr/>
          <p:nvPr/>
        </p:nvSpPr>
        <p:spPr>
          <a:xfrm>
            <a:off x="777240" y="3639312"/>
            <a:ext cx="420624" cy="42062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6" name="Image 4" descr="/home/claude/nestle_ppt/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73989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35204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</a:t>
            </a:r>
            <a:endParaRPr lang="en-US" sz="1300" dirty="0"/>
          </a:p>
        </p:txBody>
      </p:sp>
      <p:pic>
        <p:nvPicPr>
          <p:cNvPr id="18" name="Image 5" descr="/home/claude/nestle_ppt/icons/arrowrigh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76856" y="4206240"/>
            <a:ext cx="29260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8640" y="4453128"/>
            <a:ext cx="1792224" cy="713232"/>
          </a:xfrm>
          <a:prstGeom prst="roundRect">
            <a:avLst>
              <a:gd name="adj" fmla="val 10256"/>
            </a:avLst>
          </a:prstGeom>
          <a:solidFill>
            <a:srgbClr val="0B2A4A"/>
          </a:solidFill>
          <a:ln/>
        </p:spPr>
      </p:sp>
      <p:sp>
        <p:nvSpPr>
          <p:cNvPr id="20" name="Text 12"/>
          <p:cNvSpPr/>
          <p:nvPr/>
        </p:nvSpPr>
        <p:spPr>
          <a:xfrm>
            <a:off x="548640" y="445312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2505456" y="4453128"/>
            <a:ext cx="1792224" cy="713232"/>
          </a:xfrm>
          <a:prstGeom prst="roundRect">
            <a:avLst>
              <a:gd name="adj" fmla="val 10256"/>
            </a:avLst>
          </a:prstGeom>
          <a:solidFill>
            <a:srgbClr val="C9A24B"/>
          </a:solidFill>
          <a:ln/>
        </p:spPr>
      </p:sp>
      <p:sp>
        <p:nvSpPr>
          <p:cNvPr id="22" name="Text 14"/>
          <p:cNvSpPr/>
          <p:nvPr/>
        </p:nvSpPr>
        <p:spPr>
          <a:xfrm>
            <a:off x="2505456" y="445312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22860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pic>
        <p:nvPicPr>
          <p:cNvPr id="24" name="Image 6" descr="/home/claude/nestle_ppt/icons/arrowright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76856" y="5193792"/>
            <a:ext cx="292608" cy="20116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48640" y="5440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B2A4A"/>
          </a:solidFill>
          <a:ln/>
        </p:spPr>
      </p:sp>
      <p:sp>
        <p:nvSpPr>
          <p:cNvPr id="26" name="Shape 17"/>
          <p:cNvSpPr/>
          <p:nvPr/>
        </p:nvSpPr>
        <p:spPr>
          <a:xfrm>
            <a:off x="777240" y="5559552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7" name="Image 7" descr="/home/claude/nestle_ppt/icons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5660136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25880" y="54406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Assignment Decision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4892040" y="16916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4892040" y="2103120"/>
            <a:ext cx="6720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5248656" y="2441448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2" name="Image 8" descr="/home/claude/nestle_ppt/icons/puzzle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5816" y="2578608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989320" y="226771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Combines prediction and optimization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5989320" y="265176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forecasts feed directly into the optimization engine for context-aware assignment decisions.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4892040" y="3520440"/>
            <a:ext cx="6720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5248656" y="3858768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7" name="Image 9" descr="/home/claude/nestle_ppt/icons/chartline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5816" y="3995928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989320" y="368503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decision quality</a:t>
            </a:r>
            <a:endParaRPr lang="en-US" sz="1400" dirty="0"/>
          </a:p>
        </p:txBody>
      </p:sp>
      <p:sp>
        <p:nvSpPr>
          <p:cNvPr id="39" name="Text 27"/>
          <p:cNvSpPr/>
          <p:nvPr/>
        </p:nvSpPr>
        <p:spPr>
          <a:xfrm>
            <a:off x="5989320" y="406908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solver strategy blends reliable classical results with exploratory quantum search.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4892040" y="4937760"/>
            <a:ext cx="6720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942">
                <a:alpha val="18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5248656" y="5276088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2" name="Image 10" descr="/home/claude/nestle_ppt/icons/rocket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5816" y="5413248"/>
            <a:ext cx="292608" cy="29260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989320" y="510235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future quantum scalability</a:t>
            </a:r>
            <a:endParaRPr lang="en-US" sz="1400" dirty="0"/>
          </a:p>
        </p:txBody>
      </p:sp>
      <p:sp>
        <p:nvSpPr>
          <p:cNvPr id="44" name="Text 31"/>
          <p:cNvSpPr/>
          <p:nvPr/>
        </p:nvSpPr>
        <p:spPr>
          <a:xfrm>
            <a:off x="5989320" y="548640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designed to scale into full quantum advantage as hardware matures.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Comparison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502920"/>
          </a:xfrm>
          <a:prstGeom prst="roundRect">
            <a:avLst>
              <a:gd name="adj" fmla="val 10909"/>
            </a:avLst>
          </a:prstGeom>
          <a:solidFill>
            <a:srgbClr val="0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2044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5820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0412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22951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4" name="Image 0" descr="/home/claude/nestle_ppt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4048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1872" y="2103120"/>
            <a:ext cx="2057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76472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Shape 14"/>
          <p:cNvSpPr/>
          <p:nvPr/>
        </p:nvSpPr>
        <p:spPr>
          <a:xfrm>
            <a:off x="3977640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Shape 15"/>
          <p:cNvSpPr/>
          <p:nvPr/>
        </p:nvSpPr>
        <p:spPr>
          <a:xfrm>
            <a:off x="4178808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Shape 16"/>
          <p:cNvSpPr/>
          <p:nvPr/>
        </p:nvSpPr>
        <p:spPr>
          <a:xfrm>
            <a:off x="4379976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20" name="Shape 17"/>
          <p:cNvSpPr/>
          <p:nvPr/>
        </p:nvSpPr>
        <p:spPr>
          <a:xfrm>
            <a:off x="4581144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21" name="Shape 18"/>
          <p:cNvSpPr/>
          <p:nvPr/>
        </p:nvSpPr>
        <p:spPr>
          <a:xfrm>
            <a:off x="5422392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Shape 19"/>
          <p:cNvSpPr/>
          <p:nvPr/>
        </p:nvSpPr>
        <p:spPr>
          <a:xfrm>
            <a:off x="5623560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Shape 20"/>
          <p:cNvSpPr/>
          <p:nvPr/>
        </p:nvSpPr>
        <p:spPr>
          <a:xfrm>
            <a:off x="5824728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5896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25" name="Shape 22"/>
          <p:cNvSpPr/>
          <p:nvPr/>
        </p:nvSpPr>
        <p:spPr>
          <a:xfrm>
            <a:off x="6227064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26" name="Shape 23"/>
          <p:cNvSpPr/>
          <p:nvPr/>
        </p:nvSpPr>
        <p:spPr>
          <a:xfrm>
            <a:off x="7068312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Shape 24"/>
          <p:cNvSpPr/>
          <p:nvPr/>
        </p:nvSpPr>
        <p:spPr>
          <a:xfrm>
            <a:off x="7269480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Shape 25"/>
          <p:cNvSpPr/>
          <p:nvPr/>
        </p:nvSpPr>
        <p:spPr>
          <a:xfrm>
            <a:off x="7470648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9" name="Shape 26"/>
          <p:cNvSpPr/>
          <p:nvPr/>
        </p:nvSpPr>
        <p:spPr>
          <a:xfrm>
            <a:off x="7671816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0" name="Shape 27"/>
          <p:cNvSpPr/>
          <p:nvPr/>
        </p:nvSpPr>
        <p:spPr>
          <a:xfrm>
            <a:off x="7872984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1" name="Shape 28"/>
          <p:cNvSpPr/>
          <p:nvPr/>
        </p:nvSpPr>
        <p:spPr>
          <a:xfrm>
            <a:off x="8714232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2" name="Shape 29"/>
          <p:cNvSpPr/>
          <p:nvPr/>
        </p:nvSpPr>
        <p:spPr>
          <a:xfrm>
            <a:off x="8915400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3" name="Shape 30"/>
          <p:cNvSpPr/>
          <p:nvPr/>
        </p:nvSpPr>
        <p:spPr>
          <a:xfrm>
            <a:off x="9116568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4" name="Shape 31"/>
          <p:cNvSpPr/>
          <p:nvPr/>
        </p:nvSpPr>
        <p:spPr>
          <a:xfrm>
            <a:off x="9317736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35" name="Shape 32"/>
          <p:cNvSpPr/>
          <p:nvPr/>
        </p:nvSpPr>
        <p:spPr>
          <a:xfrm>
            <a:off x="9518904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36" name="Shape 33"/>
          <p:cNvSpPr/>
          <p:nvPr/>
        </p:nvSpPr>
        <p:spPr>
          <a:xfrm>
            <a:off x="10360152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7" name="Shape 34"/>
          <p:cNvSpPr/>
          <p:nvPr/>
        </p:nvSpPr>
        <p:spPr>
          <a:xfrm>
            <a:off x="10561320" y="24505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8" name="Shape 35"/>
          <p:cNvSpPr/>
          <p:nvPr/>
        </p:nvSpPr>
        <p:spPr>
          <a:xfrm>
            <a:off x="10762488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39" name="Shape 36"/>
          <p:cNvSpPr/>
          <p:nvPr/>
        </p:nvSpPr>
        <p:spPr>
          <a:xfrm>
            <a:off x="10963656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40" name="Shape 37"/>
          <p:cNvSpPr/>
          <p:nvPr/>
        </p:nvSpPr>
        <p:spPr>
          <a:xfrm>
            <a:off x="11164824" y="24505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41" name="Shape 38"/>
          <p:cNvSpPr/>
          <p:nvPr/>
        </p:nvSpPr>
        <p:spPr>
          <a:xfrm>
            <a:off x="548640" y="30175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4088" y="32095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43" name="Image 1" descr="/home/claude/nestle_ppt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319272"/>
            <a:ext cx="237744" cy="23774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261872" y="3017520"/>
            <a:ext cx="2057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3776472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6" name="Shape 42"/>
          <p:cNvSpPr/>
          <p:nvPr/>
        </p:nvSpPr>
        <p:spPr>
          <a:xfrm>
            <a:off x="3977640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7" name="Shape 43"/>
          <p:cNvSpPr/>
          <p:nvPr/>
        </p:nvSpPr>
        <p:spPr>
          <a:xfrm>
            <a:off x="4178808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8" name="Shape 44"/>
          <p:cNvSpPr/>
          <p:nvPr/>
        </p:nvSpPr>
        <p:spPr>
          <a:xfrm>
            <a:off x="4379976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9" name="Shape 45"/>
          <p:cNvSpPr/>
          <p:nvPr/>
        </p:nvSpPr>
        <p:spPr>
          <a:xfrm>
            <a:off x="4581144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50" name="Shape 46"/>
          <p:cNvSpPr/>
          <p:nvPr/>
        </p:nvSpPr>
        <p:spPr>
          <a:xfrm>
            <a:off x="5422392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1" name="Shape 47"/>
          <p:cNvSpPr/>
          <p:nvPr/>
        </p:nvSpPr>
        <p:spPr>
          <a:xfrm>
            <a:off x="5623560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2" name="Shape 48"/>
          <p:cNvSpPr/>
          <p:nvPr/>
        </p:nvSpPr>
        <p:spPr>
          <a:xfrm>
            <a:off x="5824728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3" name="Shape 49"/>
          <p:cNvSpPr/>
          <p:nvPr/>
        </p:nvSpPr>
        <p:spPr>
          <a:xfrm>
            <a:off x="6025896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4" name="Shape 50"/>
          <p:cNvSpPr/>
          <p:nvPr/>
        </p:nvSpPr>
        <p:spPr>
          <a:xfrm>
            <a:off x="6227064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55" name="Shape 51"/>
          <p:cNvSpPr/>
          <p:nvPr/>
        </p:nvSpPr>
        <p:spPr>
          <a:xfrm>
            <a:off x="7068312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6" name="Shape 52"/>
          <p:cNvSpPr/>
          <p:nvPr/>
        </p:nvSpPr>
        <p:spPr>
          <a:xfrm>
            <a:off x="7269480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7" name="Shape 53"/>
          <p:cNvSpPr/>
          <p:nvPr/>
        </p:nvSpPr>
        <p:spPr>
          <a:xfrm>
            <a:off x="7470648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8" name="Shape 54"/>
          <p:cNvSpPr/>
          <p:nvPr/>
        </p:nvSpPr>
        <p:spPr>
          <a:xfrm>
            <a:off x="7671816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59" name="Shape 55"/>
          <p:cNvSpPr/>
          <p:nvPr/>
        </p:nvSpPr>
        <p:spPr>
          <a:xfrm>
            <a:off x="7872984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60" name="Shape 56"/>
          <p:cNvSpPr/>
          <p:nvPr/>
        </p:nvSpPr>
        <p:spPr>
          <a:xfrm>
            <a:off x="8714232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1" name="Shape 57"/>
          <p:cNvSpPr/>
          <p:nvPr/>
        </p:nvSpPr>
        <p:spPr>
          <a:xfrm>
            <a:off x="8915400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2" name="Shape 58"/>
          <p:cNvSpPr/>
          <p:nvPr/>
        </p:nvSpPr>
        <p:spPr>
          <a:xfrm>
            <a:off x="9116568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3" name="Shape 59"/>
          <p:cNvSpPr/>
          <p:nvPr/>
        </p:nvSpPr>
        <p:spPr>
          <a:xfrm>
            <a:off x="9317736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64" name="Shape 60"/>
          <p:cNvSpPr/>
          <p:nvPr/>
        </p:nvSpPr>
        <p:spPr>
          <a:xfrm>
            <a:off x="9518904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65" name="Shape 61"/>
          <p:cNvSpPr/>
          <p:nvPr/>
        </p:nvSpPr>
        <p:spPr>
          <a:xfrm>
            <a:off x="10360152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6" name="Shape 62"/>
          <p:cNvSpPr/>
          <p:nvPr/>
        </p:nvSpPr>
        <p:spPr>
          <a:xfrm>
            <a:off x="10561320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7" name="Shape 63"/>
          <p:cNvSpPr/>
          <p:nvPr/>
        </p:nvSpPr>
        <p:spPr>
          <a:xfrm>
            <a:off x="10762488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8" name="Shape 64"/>
          <p:cNvSpPr/>
          <p:nvPr/>
        </p:nvSpPr>
        <p:spPr>
          <a:xfrm>
            <a:off x="10963656" y="33649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9" name="Shape 65"/>
          <p:cNvSpPr/>
          <p:nvPr/>
        </p:nvSpPr>
        <p:spPr>
          <a:xfrm>
            <a:off x="11164824" y="33649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70" name="Shape 66"/>
          <p:cNvSpPr/>
          <p:nvPr/>
        </p:nvSpPr>
        <p:spPr>
          <a:xfrm>
            <a:off x="548640" y="39319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04088" y="41239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72" name="Image 2" descr="/home/claude/nestle_ppt/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33672"/>
            <a:ext cx="237744" cy="237744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1261872" y="3931920"/>
            <a:ext cx="2057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3776472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5" name="Shape 70"/>
          <p:cNvSpPr/>
          <p:nvPr/>
        </p:nvSpPr>
        <p:spPr>
          <a:xfrm>
            <a:off x="3977640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6" name="Shape 71"/>
          <p:cNvSpPr/>
          <p:nvPr/>
        </p:nvSpPr>
        <p:spPr>
          <a:xfrm>
            <a:off x="4178808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7" name="Shape 72"/>
          <p:cNvSpPr/>
          <p:nvPr/>
        </p:nvSpPr>
        <p:spPr>
          <a:xfrm>
            <a:off x="4379976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78" name="Shape 73"/>
          <p:cNvSpPr/>
          <p:nvPr/>
        </p:nvSpPr>
        <p:spPr>
          <a:xfrm>
            <a:off x="4581144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79" name="Shape 74"/>
          <p:cNvSpPr/>
          <p:nvPr/>
        </p:nvSpPr>
        <p:spPr>
          <a:xfrm>
            <a:off x="5422392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0" name="Shape 75"/>
          <p:cNvSpPr/>
          <p:nvPr/>
        </p:nvSpPr>
        <p:spPr>
          <a:xfrm>
            <a:off x="5623560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1" name="Shape 76"/>
          <p:cNvSpPr/>
          <p:nvPr/>
        </p:nvSpPr>
        <p:spPr>
          <a:xfrm>
            <a:off x="5824728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2" name="Shape 77"/>
          <p:cNvSpPr/>
          <p:nvPr/>
        </p:nvSpPr>
        <p:spPr>
          <a:xfrm>
            <a:off x="6025896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3" name="Shape 78"/>
          <p:cNvSpPr/>
          <p:nvPr/>
        </p:nvSpPr>
        <p:spPr>
          <a:xfrm>
            <a:off x="6227064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84" name="Shape 79"/>
          <p:cNvSpPr/>
          <p:nvPr/>
        </p:nvSpPr>
        <p:spPr>
          <a:xfrm>
            <a:off x="7068312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5" name="Shape 80"/>
          <p:cNvSpPr/>
          <p:nvPr/>
        </p:nvSpPr>
        <p:spPr>
          <a:xfrm>
            <a:off x="7269480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6" name="Shape 81"/>
          <p:cNvSpPr/>
          <p:nvPr/>
        </p:nvSpPr>
        <p:spPr>
          <a:xfrm>
            <a:off x="7470648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87" name="Shape 82"/>
          <p:cNvSpPr/>
          <p:nvPr/>
        </p:nvSpPr>
        <p:spPr>
          <a:xfrm>
            <a:off x="7671816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88" name="Shape 83"/>
          <p:cNvSpPr/>
          <p:nvPr/>
        </p:nvSpPr>
        <p:spPr>
          <a:xfrm>
            <a:off x="7872984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89" name="Shape 84"/>
          <p:cNvSpPr/>
          <p:nvPr/>
        </p:nvSpPr>
        <p:spPr>
          <a:xfrm>
            <a:off x="8714232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0" name="Shape 85"/>
          <p:cNvSpPr/>
          <p:nvPr/>
        </p:nvSpPr>
        <p:spPr>
          <a:xfrm>
            <a:off x="8915400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1" name="Shape 86"/>
          <p:cNvSpPr/>
          <p:nvPr/>
        </p:nvSpPr>
        <p:spPr>
          <a:xfrm>
            <a:off x="9116568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2" name="Shape 87"/>
          <p:cNvSpPr/>
          <p:nvPr/>
        </p:nvSpPr>
        <p:spPr>
          <a:xfrm>
            <a:off x="9317736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3" name="Shape 88"/>
          <p:cNvSpPr/>
          <p:nvPr/>
        </p:nvSpPr>
        <p:spPr>
          <a:xfrm>
            <a:off x="9518904" y="42793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94" name="Shape 89"/>
          <p:cNvSpPr/>
          <p:nvPr/>
        </p:nvSpPr>
        <p:spPr>
          <a:xfrm>
            <a:off x="10360152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5" name="Shape 90"/>
          <p:cNvSpPr/>
          <p:nvPr/>
        </p:nvSpPr>
        <p:spPr>
          <a:xfrm>
            <a:off x="10561320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6" name="Shape 91"/>
          <p:cNvSpPr/>
          <p:nvPr/>
        </p:nvSpPr>
        <p:spPr>
          <a:xfrm>
            <a:off x="10762488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7" name="Shape 92"/>
          <p:cNvSpPr/>
          <p:nvPr/>
        </p:nvSpPr>
        <p:spPr>
          <a:xfrm>
            <a:off x="10963656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8" name="Shape 93"/>
          <p:cNvSpPr/>
          <p:nvPr/>
        </p:nvSpPr>
        <p:spPr>
          <a:xfrm>
            <a:off x="11164824" y="427939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9" name="Shape 94"/>
          <p:cNvSpPr/>
          <p:nvPr/>
        </p:nvSpPr>
        <p:spPr>
          <a:xfrm>
            <a:off x="548640" y="48463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0055A4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4088" y="5038344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01" name="Image 3" descr="/home/claude/nestle_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148072"/>
            <a:ext cx="237744" cy="237744"/>
          </a:xfrm>
          <a:prstGeom prst="rect">
            <a:avLst/>
          </a:prstGeom>
        </p:spPr>
      </p:pic>
      <p:sp>
        <p:nvSpPr>
          <p:cNvPr id="102" name="Text 96"/>
          <p:cNvSpPr/>
          <p:nvPr/>
        </p:nvSpPr>
        <p:spPr>
          <a:xfrm>
            <a:off x="1261872" y="4846320"/>
            <a:ext cx="2057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1200" dirty="0"/>
          </a:p>
        </p:txBody>
      </p:sp>
      <p:sp>
        <p:nvSpPr>
          <p:cNvPr id="103" name="Shape 97"/>
          <p:cNvSpPr/>
          <p:nvPr/>
        </p:nvSpPr>
        <p:spPr>
          <a:xfrm>
            <a:off x="3776472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4" name="Shape 98"/>
          <p:cNvSpPr/>
          <p:nvPr/>
        </p:nvSpPr>
        <p:spPr>
          <a:xfrm>
            <a:off x="3977640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5" name="Shape 99"/>
          <p:cNvSpPr/>
          <p:nvPr/>
        </p:nvSpPr>
        <p:spPr>
          <a:xfrm>
            <a:off x="4178808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6" name="Shape 100"/>
          <p:cNvSpPr/>
          <p:nvPr/>
        </p:nvSpPr>
        <p:spPr>
          <a:xfrm>
            <a:off x="4379976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7" name="Shape 101"/>
          <p:cNvSpPr/>
          <p:nvPr/>
        </p:nvSpPr>
        <p:spPr>
          <a:xfrm>
            <a:off x="4581144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8" name="Shape 102"/>
          <p:cNvSpPr/>
          <p:nvPr/>
        </p:nvSpPr>
        <p:spPr>
          <a:xfrm>
            <a:off x="5422392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9" name="Shape 103"/>
          <p:cNvSpPr/>
          <p:nvPr/>
        </p:nvSpPr>
        <p:spPr>
          <a:xfrm>
            <a:off x="5623560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0" name="Shape 104"/>
          <p:cNvSpPr/>
          <p:nvPr/>
        </p:nvSpPr>
        <p:spPr>
          <a:xfrm>
            <a:off x="5824728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1" name="Shape 105"/>
          <p:cNvSpPr/>
          <p:nvPr/>
        </p:nvSpPr>
        <p:spPr>
          <a:xfrm>
            <a:off x="6025896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2" name="Shape 106"/>
          <p:cNvSpPr/>
          <p:nvPr/>
        </p:nvSpPr>
        <p:spPr>
          <a:xfrm>
            <a:off x="6227064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3" name="Shape 107"/>
          <p:cNvSpPr/>
          <p:nvPr/>
        </p:nvSpPr>
        <p:spPr>
          <a:xfrm>
            <a:off x="7068312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4" name="Shape 108"/>
          <p:cNvSpPr/>
          <p:nvPr/>
        </p:nvSpPr>
        <p:spPr>
          <a:xfrm>
            <a:off x="7269480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5" name="Shape 109"/>
          <p:cNvSpPr/>
          <p:nvPr/>
        </p:nvSpPr>
        <p:spPr>
          <a:xfrm>
            <a:off x="7470648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6" name="Shape 110"/>
          <p:cNvSpPr/>
          <p:nvPr/>
        </p:nvSpPr>
        <p:spPr>
          <a:xfrm>
            <a:off x="7671816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7" name="Shape 111"/>
          <p:cNvSpPr/>
          <p:nvPr/>
        </p:nvSpPr>
        <p:spPr>
          <a:xfrm>
            <a:off x="7872984" y="5193792"/>
            <a:ext cx="146304" cy="146304"/>
          </a:xfrm>
          <a:prstGeom prst="ellipse">
            <a:avLst/>
          </a:prstGeom>
          <a:solidFill>
            <a:srgbClr val="D8E0EA"/>
          </a:solidFill>
          <a:ln/>
        </p:spPr>
      </p:sp>
      <p:sp>
        <p:nvSpPr>
          <p:cNvPr id="118" name="Shape 112"/>
          <p:cNvSpPr/>
          <p:nvPr/>
        </p:nvSpPr>
        <p:spPr>
          <a:xfrm>
            <a:off x="8714232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9" name="Shape 113"/>
          <p:cNvSpPr/>
          <p:nvPr/>
        </p:nvSpPr>
        <p:spPr>
          <a:xfrm>
            <a:off x="8915400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0" name="Shape 114"/>
          <p:cNvSpPr/>
          <p:nvPr/>
        </p:nvSpPr>
        <p:spPr>
          <a:xfrm>
            <a:off x="9116568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1" name="Shape 115"/>
          <p:cNvSpPr/>
          <p:nvPr/>
        </p:nvSpPr>
        <p:spPr>
          <a:xfrm>
            <a:off x="9317736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2" name="Shape 116"/>
          <p:cNvSpPr/>
          <p:nvPr/>
        </p:nvSpPr>
        <p:spPr>
          <a:xfrm>
            <a:off x="9518904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3" name="Shape 117"/>
          <p:cNvSpPr/>
          <p:nvPr/>
        </p:nvSpPr>
        <p:spPr>
          <a:xfrm>
            <a:off x="10360152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4" name="Shape 118"/>
          <p:cNvSpPr/>
          <p:nvPr/>
        </p:nvSpPr>
        <p:spPr>
          <a:xfrm>
            <a:off x="10561320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5" name="Shape 119"/>
          <p:cNvSpPr/>
          <p:nvPr/>
        </p:nvSpPr>
        <p:spPr>
          <a:xfrm>
            <a:off x="10762488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6" name="Shape 120"/>
          <p:cNvSpPr/>
          <p:nvPr/>
        </p:nvSpPr>
        <p:spPr>
          <a:xfrm>
            <a:off x="10963656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7" name="Shape 121"/>
          <p:cNvSpPr/>
          <p:nvPr/>
        </p:nvSpPr>
        <p:spPr>
          <a:xfrm>
            <a:off x="11164824" y="5193792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8" name="Text 1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129" name="Text 123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130" name="Text 124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Approach Was Selected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184708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5" name="Image 0" descr="/home/claude/nestle_ppt/icons/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3852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intelligent predictions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62432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1" descr="/home/claude/nestle_ppt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71576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60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 provides reliable solutions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8096" y="340156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2" descr="/home/claude/nestle_ppt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4930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37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provides future scalability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68096" y="417880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3" descr="/home/claude/nestle_ppt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7024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114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balances current performance and future innovation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778240" y="2194560"/>
            <a:ext cx="9144" cy="1600200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392426" y="3794760"/>
            <a:ext cx="1385814" cy="800100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778240" y="3794760"/>
            <a:ext cx="1385814" cy="800100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403336" y="1819656"/>
            <a:ext cx="749808" cy="74980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0" name="Image 4" descr="/home/claude/nestle_ppt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00253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01000" y="26334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7017522" y="4219956"/>
            <a:ext cx="749808" cy="74980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3" name="Image 5" descr="/home/claude/nestle_ppt/icons/co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402" y="4402836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15186" y="50337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9789150" y="4219956"/>
            <a:ext cx="749808" cy="74980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6" name="Image 6" descr="/home/claude/nestle_ppt/icons/atom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2030" y="4402836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386814" y="50337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8252460" y="3268980"/>
            <a:ext cx="1051560" cy="10515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9" name="Image 7" descr="/home/claude/nestle_ppt/icons/layers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8492" y="3525012"/>
            <a:ext cx="539496" cy="53949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138160" y="3776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2406F"/>
          </a:solidFill>
          <a:ln/>
        </p:spPr>
      </p:sp>
      <p:sp>
        <p:nvSpPr>
          <p:cNvPr id="5" name="Shape 3"/>
          <p:cNvSpPr/>
          <p:nvPr/>
        </p:nvSpPr>
        <p:spPr>
          <a:xfrm>
            <a:off x="1540764" y="1929384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nestle_ppt/icons/cog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Optimization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baseline solutions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2406F"/>
          </a:solidFill>
          <a:ln/>
        </p:spPr>
      </p:sp>
      <p:sp>
        <p:nvSpPr>
          <p:cNvPr id="10" name="Shape 7"/>
          <p:cNvSpPr/>
          <p:nvPr/>
        </p:nvSpPr>
        <p:spPr>
          <a:xfrm>
            <a:off x="4329684" y="1929384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1" name="Image 1" descr="/home/claude/nestle_ppt/icons/brai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2406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8604" y="1929384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6" name="Image 2" descr="/home/claude/nestle_ppt/icons/atom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075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Optimization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complex problems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2406F"/>
          </a:solidFill>
          <a:ln/>
        </p:spPr>
      </p:sp>
      <p:sp>
        <p:nvSpPr>
          <p:cNvPr id="20" name="Shape 15"/>
          <p:cNvSpPr/>
          <p:nvPr/>
        </p:nvSpPr>
        <p:spPr>
          <a:xfrm>
            <a:off x="9907524" y="1929384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1" name="Image 3" descr="/home/claude/nestle_ppt/icons/layer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075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Approach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5256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12406F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25196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1691640" y="4160520"/>
            <a:ext cx="9646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AI intelligence with optimization techniques creates a scalable foundation for next-generation supply chain decision systems.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Quantum + AI Optimization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342632" y="6519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1171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2026-08-07T05:13:32Z</dcterms:created>
  <dcterms:modified xsi:type="dcterms:W3CDTF">2026-08-07T05:13:32Z</dcterms:modified>
</cp:coreProperties>
</file>