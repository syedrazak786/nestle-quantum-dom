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image" Target="../media/image-5-1.png"/><Relationship Id="rId9" Type="http://schemas.openxmlformats.org/officeDocument/2006/relationships/image" Target="../media/image-5-9.png"/><Relationship Id="rId10" Type="http://schemas.openxmlformats.org/officeDocument/2006/relationships/image" Target="../media/image-5-9.png"/><Relationship Id="rId11" Type="http://schemas.openxmlformats.org/officeDocument/2006/relationships/image" Target="../media/image-5-9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image" Target="../media/image-7-3.png"/><Relationship Id="rId8" Type="http://schemas.openxmlformats.org/officeDocument/2006/relationships/image" Target="../media/image-7-3.png"/><Relationship Id="rId9" Type="http://schemas.openxmlformats.org/officeDocument/2006/relationships/image" Target="../media/image-7-3.png"/><Relationship Id="rId10" Type="http://schemas.openxmlformats.org/officeDocument/2006/relationships/image" Target="../media/image-7-3.png"/><Relationship Id="rId11" Type="http://schemas.openxmlformats.org/officeDocument/2006/relationships/image" Target="../media/image-7-3.png"/><Relationship Id="rId12" Type="http://schemas.openxmlformats.org/officeDocument/2006/relationships/image" Target="../media/image-7-3.png"/><Relationship Id="rId13" Type="http://schemas.openxmlformats.org/officeDocument/2006/relationships/image" Target="../media/image-7-3.png"/><Relationship Id="rId14" Type="http://schemas.openxmlformats.org/officeDocument/2006/relationships/image" Target="../media/image-7-3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Opportunities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Continued Development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pPr indent="0" marL="0">
              <a:buNone/>
            </a:pPr>
            <a:r>
              <a:rPr lang="en-US" sz="15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AI + Classical + Quantum Optimization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3154680"/>
            <a:ext cx="2743200" cy="0"/>
          </a:xfrm>
          <a:prstGeom prst="line">
            <a:avLst/>
          </a:prstGeom>
          <a:noFill/>
          <a:ln w="25400">
            <a:solidFill>
              <a:srgbClr val="005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947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23A5E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13916" y="3895344"/>
            <a:ext cx="566928" cy="566928"/>
          </a:xfrm>
          <a:prstGeom prst="ellipse">
            <a:avLst/>
          </a:prstGeom>
          <a:solidFill>
            <a:srgbClr val="2A5C8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home/claude/nestle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317" y="404274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507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52190" y="4293108"/>
            <a:ext cx="382219" cy="237744"/>
          </a:xfrm>
          <a:prstGeom prst="rightArrow">
            <a:avLst/>
          </a:prstGeom>
          <a:solidFill>
            <a:srgbClr val="B8862F"/>
          </a:solidFill>
          <a:ln/>
        </p:spPr>
      </p:sp>
      <p:sp>
        <p:nvSpPr>
          <p:cNvPr id="11" name="Shape 8"/>
          <p:cNvSpPr/>
          <p:nvPr/>
        </p:nvSpPr>
        <p:spPr>
          <a:xfrm>
            <a:off x="3794760" y="37947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64A78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05756" y="3895344"/>
            <a:ext cx="566928" cy="566928"/>
          </a:xfrm>
          <a:prstGeom prst="ellipse">
            <a:avLst/>
          </a:prstGeom>
          <a:solidFill>
            <a:srgbClr val="2A5C8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1" descr="/home/claude/nestle_deck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157" y="4042745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4507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644030" y="4293108"/>
            <a:ext cx="382219" cy="237744"/>
          </a:xfrm>
          <a:prstGeom prst="rightArrow">
            <a:avLst/>
          </a:prstGeom>
          <a:solidFill>
            <a:srgbClr val="B8862F"/>
          </a:solidFill>
          <a:ln/>
        </p:spPr>
      </p:sp>
      <p:sp>
        <p:nvSpPr>
          <p:cNvPr id="16" name="Shape 12"/>
          <p:cNvSpPr/>
          <p:nvPr/>
        </p:nvSpPr>
        <p:spPr>
          <a:xfrm>
            <a:off x="7086600" y="37947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0055A4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97596" y="3895344"/>
            <a:ext cx="566928" cy="566928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8" name="Image 2" descr="/home/claude/nestle_deck/icons/quant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997" y="4042745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4507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Quantum-Ready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Sirama Avinash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MATURITY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32520" y="502920"/>
            <a:ext cx="2953512" cy="384048"/>
          </a:xfrm>
          <a:prstGeom prst="roundRect">
            <a:avLst>
              <a:gd name="adj" fmla="val 50000"/>
            </a:avLst>
          </a:prstGeom>
          <a:solidFill>
            <a:srgbClr val="B8862F"/>
          </a:solidFill>
          <a:ln/>
        </p:spPr>
      </p:sp>
      <p:sp>
        <p:nvSpPr>
          <p:cNvPr id="5" name="Text 3"/>
          <p:cNvSpPr/>
          <p:nvPr/>
        </p:nvSpPr>
        <p:spPr>
          <a:xfrm>
            <a:off x="8732520" y="50292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DEMONSTRATION PLATFORM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15184" cy="470916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2615184" cy="566928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481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7512" y="1673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536192" y="2130552"/>
            <a:ext cx="548640" cy="54864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1" name="Image 0" descr="/home/claude/nestle_deck/icons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" y="2273198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78892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loading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Cleaning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engineering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Master dataset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3282696" y="1417320"/>
            <a:ext cx="2615184" cy="470916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82696" y="1417320"/>
            <a:ext cx="2615184" cy="566928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3447288" y="1481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47288" y="1673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Intelligence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315968" y="2130552"/>
            <a:ext cx="548640" cy="54864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8" name="Image 1" descr="/home/claude/nestle_deck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14" y="2273198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65576" y="278892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training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Demand prediction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Uncertainty estimation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Inventory prediction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recommendations</a:t>
            </a:r>
            <a:endParaRPr lang="en-US" sz="1130" dirty="0"/>
          </a:p>
        </p:txBody>
      </p:sp>
      <p:sp>
        <p:nvSpPr>
          <p:cNvPr id="20" name="Shape 16"/>
          <p:cNvSpPr/>
          <p:nvPr/>
        </p:nvSpPr>
        <p:spPr>
          <a:xfrm>
            <a:off x="6062472" y="1417320"/>
            <a:ext cx="2615184" cy="470916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62472" y="1417320"/>
            <a:ext cx="2615184" cy="566928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2" name="Text 18"/>
          <p:cNvSpPr/>
          <p:nvPr/>
        </p:nvSpPr>
        <p:spPr>
          <a:xfrm>
            <a:off x="6227064" y="1481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03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227064" y="1673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7095744" y="2130552"/>
            <a:ext cx="548640" cy="54864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5" name="Image 2" descr="/home/claude/nestle_deck/icons/optim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0" y="2273198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45352" y="278892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Classical optimization framework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QUBO formulation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Quantum experimentation</a:t>
            </a:r>
            <a:endParaRPr lang="en-US" sz="1130" dirty="0"/>
          </a:p>
        </p:txBody>
      </p:sp>
      <p:sp>
        <p:nvSpPr>
          <p:cNvPr id="27" name="Shape 22"/>
          <p:cNvSpPr/>
          <p:nvPr/>
        </p:nvSpPr>
        <p:spPr>
          <a:xfrm>
            <a:off x="8842248" y="1417320"/>
            <a:ext cx="2615184" cy="470916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842248" y="1417320"/>
            <a:ext cx="2615184" cy="566928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9" name="Text 24"/>
          <p:cNvSpPr/>
          <p:nvPr/>
        </p:nvSpPr>
        <p:spPr>
          <a:xfrm>
            <a:off x="9006840" y="1481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04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9006840" y="1673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Application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9875520" y="2130552"/>
            <a:ext cx="548640" cy="54864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32" name="Image 3" descr="/home/claude/nestle_deck/icons/enterpri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166" y="2273198"/>
            <a:ext cx="263347" cy="26334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25128" y="278892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Evaluation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strategy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Downloads</a:t>
            </a:r>
            <a:endParaRPr lang="en-US" sz="113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Standalone application</a:t>
            </a:r>
            <a:endParaRPr lang="en-US" sz="1130" dirty="0"/>
          </a:p>
        </p:txBody>
      </p:sp>
      <p:sp>
        <p:nvSpPr>
          <p:cNvPr id="34" name="Text 28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01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1 — Data Availability and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6126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may not represent future demand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can affect model quality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may change over time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 may not be represented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 is not yet guaranteed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requires continuous monitoring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343400" cy="960120"/>
          </a:xfrm>
          <a:prstGeom prst="roundRect">
            <a:avLst>
              <a:gd name="adj" fmla="val 9524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76388" y="1645920"/>
            <a:ext cx="502920" cy="50292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/home/claude/nestle_deck/icons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7147" y="17766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0" y="14173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404604" y="2414016"/>
            <a:ext cx="256032" cy="292608"/>
          </a:xfrm>
          <a:prstGeom prst="downArrow">
            <a:avLst/>
          </a:prstGeom>
          <a:solidFill>
            <a:srgbClr val="0055A4"/>
          </a:solidFill>
          <a:ln/>
        </p:spPr>
      </p:sp>
      <p:sp>
        <p:nvSpPr>
          <p:cNvPr id="10" name="Shape 7"/>
          <p:cNvSpPr/>
          <p:nvPr/>
        </p:nvSpPr>
        <p:spPr>
          <a:xfrm>
            <a:off x="7360920" y="2743200"/>
            <a:ext cx="4343400" cy="960120"/>
          </a:xfrm>
          <a:prstGeom prst="roundRect">
            <a:avLst>
              <a:gd name="adj" fmla="val 9524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76388" y="2971800"/>
            <a:ext cx="502920" cy="50292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/home/claude/nestle_deck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147" y="31025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21040" y="27432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9404604" y="3739896"/>
            <a:ext cx="256032" cy="292608"/>
          </a:xfrm>
          <a:prstGeom prst="downArrow">
            <a:avLst/>
          </a:prstGeom>
          <a:solidFill>
            <a:srgbClr val="0055A4"/>
          </a:solidFill>
          <a:ln/>
        </p:spPr>
      </p:sp>
      <p:sp>
        <p:nvSpPr>
          <p:cNvPr id="15" name="Shape 11"/>
          <p:cNvSpPr/>
          <p:nvPr/>
        </p:nvSpPr>
        <p:spPr>
          <a:xfrm>
            <a:off x="7360920" y="4069080"/>
            <a:ext cx="4343400" cy="960120"/>
          </a:xfrm>
          <a:prstGeom prst="roundRect">
            <a:avLst>
              <a:gd name="adj" fmla="val 9524"/>
            </a:avLst>
          </a:prstGeom>
          <a:solidFill>
            <a:srgbClr val="FBF1DE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76388" y="4297680"/>
            <a:ext cx="502920" cy="50292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7" name="Image 2" descr="/home/claude/nestle_deck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147" y="44284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0690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Data Drift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02920" y="516636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4370" y="5406390"/>
            <a:ext cx="480060" cy="48006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1" name="Image 3" descr="/home/claude/nestle_dec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6" y="5531206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3030" y="5257800"/>
            <a:ext cx="9589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continuous data-quality monitoring and automated data pipelines.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02 · ARTIFICIAL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2 — AI Generalization and Explainability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depends on training data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 does not guarantee production performance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can change unexpectedly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predictions require monitoring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estimation requires further calibration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should be improved for planner adoption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956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5212080"/>
            <a:ext cx="2907792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5285049"/>
            <a:ext cx="238110" cy="2381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home/claude/nestle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557" y="5346958"/>
            <a:ext cx="114293" cy="114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486" y="5212080"/>
            <a:ext cx="2340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38728" y="5212080"/>
            <a:ext cx="2907792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5285049"/>
            <a:ext cx="238110" cy="2381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/home/claude/nestle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65" y="5346958"/>
            <a:ext cx="114293" cy="114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6294" y="5212080"/>
            <a:ext cx="2340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5678424"/>
            <a:ext cx="2907792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" y="5751393"/>
            <a:ext cx="238110" cy="2381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6" name="Image 2" descr="/home/claude/nestle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7" y="5813302"/>
            <a:ext cx="114293" cy="114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486" y="5678424"/>
            <a:ext cx="2340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538728" y="5678424"/>
            <a:ext cx="2907792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48456" y="5751393"/>
            <a:ext cx="238110" cy="2381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0" name="Image 3" descr="/home/claude/nestle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365" y="5813302"/>
            <a:ext cx="114293" cy="114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96294" y="5678424"/>
            <a:ext cx="2340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" y="6144768"/>
            <a:ext cx="2907792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12648" y="6217737"/>
            <a:ext cx="238110" cy="2381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4" name="Image 4" descr="/home/claude/nestle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57" y="6279646"/>
            <a:ext cx="114293" cy="114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486" y="6144768"/>
            <a:ext cx="2340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Champion/challenger models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3538728" y="6144768"/>
            <a:ext cx="2907792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648456" y="6217737"/>
            <a:ext cx="238110" cy="2381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8" name="Image 5" descr="/home/claude/nestle_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365" y="6279646"/>
            <a:ext cx="114293" cy="1142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96294" y="6144768"/>
            <a:ext cx="2340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7178040" y="15087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TEST-SET RESULTS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7178040" y="1828800"/>
            <a:ext cx="1426464" cy="1234440"/>
          </a:xfrm>
          <a:prstGeom prst="roundRect">
            <a:avLst>
              <a:gd name="adj" fmla="val 7407"/>
            </a:avLst>
          </a:prstGeom>
          <a:solidFill>
            <a:srgbClr val="0B2A4A"/>
          </a:solidFill>
          <a:ln/>
        </p:spPr>
      </p:sp>
      <p:sp>
        <p:nvSpPr>
          <p:cNvPr id="32" name="Text 24"/>
          <p:cNvSpPr/>
          <p:nvPr/>
        </p:nvSpPr>
        <p:spPr>
          <a:xfrm>
            <a:off x="7178040" y="1947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0.000310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7178040" y="2606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8705088" y="1828800"/>
            <a:ext cx="1426464" cy="1234440"/>
          </a:xfrm>
          <a:prstGeom prst="roundRect">
            <a:avLst>
              <a:gd name="adj" fmla="val 7407"/>
            </a:avLst>
          </a:prstGeom>
          <a:solidFill>
            <a:srgbClr val="0B2A4A"/>
          </a:solidFill>
          <a:ln/>
        </p:spPr>
      </p:sp>
      <p:sp>
        <p:nvSpPr>
          <p:cNvPr id="35" name="Text 27"/>
          <p:cNvSpPr/>
          <p:nvPr/>
        </p:nvSpPr>
        <p:spPr>
          <a:xfrm>
            <a:off x="8705088" y="1947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0.005716</a:t>
            </a:r>
            <a:endParaRPr lang="en-US" sz="1700" dirty="0"/>
          </a:p>
        </p:txBody>
      </p:sp>
      <p:sp>
        <p:nvSpPr>
          <p:cNvPr id="36" name="Text 28"/>
          <p:cNvSpPr/>
          <p:nvPr/>
        </p:nvSpPr>
        <p:spPr>
          <a:xfrm>
            <a:off x="8705088" y="2606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10232136" y="1828800"/>
            <a:ext cx="1426464" cy="1234440"/>
          </a:xfrm>
          <a:prstGeom prst="roundRect">
            <a:avLst>
              <a:gd name="adj" fmla="val 7407"/>
            </a:avLst>
          </a:prstGeom>
          <a:solidFill>
            <a:srgbClr val="0B2A4A"/>
          </a:solidFill>
          <a:ln/>
        </p:spPr>
      </p:sp>
      <p:sp>
        <p:nvSpPr>
          <p:cNvPr id="38" name="Text 30"/>
          <p:cNvSpPr/>
          <p:nvPr/>
        </p:nvSpPr>
        <p:spPr>
          <a:xfrm>
            <a:off x="10232136" y="1947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0.967557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10232136" y="2606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7178040" y="3246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representative of production accuracy. Requires further validation under live operating conditions.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7178040" y="4160520"/>
            <a:ext cx="4480560" cy="1691640"/>
          </a:xfrm>
          <a:prstGeom prst="roundRect">
            <a:avLst>
              <a:gd name="adj" fmla="val 4865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166610" y="4583430"/>
            <a:ext cx="845820" cy="84582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43" name="Image 6" descr="/home/claude/nestle_deck/icons/fl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523" y="4803343"/>
            <a:ext cx="405994" cy="40599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241030" y="4251960"/>
            <a:ext cx="314325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METRIC SCOPE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 reflect the project evaluation environment only, not live production performance.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03 ·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3 — Optimization Complexity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distributed order management includes many interacting constraints: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01753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/home/claude/nestle_deck/icons/optim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193" y="2100077"/>
            <a:ext cx="152390" cy="152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9856" y="192024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30168" y="192024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39896" y="201753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1" name="Image 1" descr="/home/claude/nestle_deck/icons/optim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441" y="2100077"/>
            <a:ext cx="152390" cy="152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7104" y="192024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cost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256032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" y="265761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2" descr="/home/claude/nestle_deck/icons/optim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93" y="2740157"/>
            <a:ext cx="152390" cy="152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9856" y="256032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Distribution-center capacity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630168" y="256032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39896" y="265761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9" name="Image 3" descr="/home/claude/nestle_deck/icons/optimiz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441" y="2740157"/>
            <a:ext cx="152390" cy="152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67104" y="256032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2920" y="320040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" y="329769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3" name="Image 4" descr="/home/claude/nestle_deck/icons/optimiz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193" y="3380237"/>
            <a:ext cx="152390" cy="15239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39856" y="320040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capacity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630168" y="320040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739896" y="329769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7" name="Image 5" descr="/home/claude/nestle_deck/icons/optimiz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441" y="3380237"/>
            <a:ext cx="152390" cy="15239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67104" y="320040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deadlines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02920" y="384048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12648" y="393777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31" name="Image 6" descr="/home/claude/nestle_deck/icons/optimiz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93" y="4020317"/>
            <a:ext cx="152390" cy="15239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39856" y="384048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value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3630168" y="3840480"/>
            <a:ext cx="2999232" cy="512064"/>
          </a:xfrm>
          <a:prstGeom prst="roundRect">
            <a:avLst>
              <a:gd name="adj" fmla="val 125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3739896" y="3937772"/>
            <a:ext cx="317480" cy="31748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35" name="Image 7" descr="/home/claude/nestle_deck/icons/optimiz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2441" y="4020317"/>
            <a:ext cx="152390" cy="15239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167104" y="3840480"/>
            <a:ext cx="2352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Unmet-demand penalties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7360920" y="160020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7680960" y="1828800"/>
            <a:ext cx="457200" cy="4572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39" name="Image 8" descr="/home/claude/nestle_deck/icons/tre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9832" y="194767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27532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complexity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9413748" y="2542032"/>
            <a:ext cx="237744" cy="256032"/>
          </a:xfrm>
          <a:prstGeom prst="downArrow">
            <a:avLst/>
          </a:prstGeom>
          <a:solidFill>
            <a:srgbClr val="0055A4"/>
          </a:solidFill>
          <a:ln/>
        </p:spPr>
      </p:sp>
      <p:sp>
        <p:nvSpPr>
          <p:cNvPr id="42" name="Shape 31"/>
          <p:cNvSpPr/>
          <p:nvPr/>
        </p:nvSpPr>
        <p:spPr>
          <a:xfrm>
            <a:off x="7360920" y="2825496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7680960" y="3054096"/>
            <a:ext cx="457200" cy="4572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44" name="Image 9" descr="/home/claude/nestle_deck/icons/tren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9832" y="3172968"/>
            <a:ext cx="219456" cy="219456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275320" y="28254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optimization space</a:t>
            </a:r>
            <a:endParaRPr lang="en-US" sz="1350" dirty="0"/>
          </a:p>
        </p:txBody>
      </p:sp>
      <p:sp>
        <p:nvSpPr>
          <p:cNvPr id="46" name="Shape 34"/>
          <p:cNvSpPr/>
          <p:nvPr/>
        </p:nvSpPr>
        <p:spPr>
          <a:xfrm>
            <a:off x="9413748" y="3767328"/>
            <a:ext cx="237744" cy="256032"/>
          </a:xfrm>
          <a:prstGeom prst="downArrow">
            <a:avLst/>
          </a:prstGeom>
          <a:solidFill>
            <a:srgbClr val="0055A4"/>
          </a:solidFill>
          <a:ln/>
        </p:spPr>
      </p:sp>
      <p:sp>
        <p:nvSpPr>
          <p:cNvPr id="47" name="Shape 35"/>
          <p:cNvSpPr/>
          <p:nvPr/>
        </p:nvSpPr>
        <p:spPr>
          <a:xfrm>
            <a:off x="7360920" y="4050792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FBF1DE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7680960" y="4279392"/>
            <a:ext cx="457200" cy="45720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49" name="Image 10" descr="/home/claude/nestle_deck/icons/tren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9832" y="4398264"/>
            <a:ext cx="219456" cy="219456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8275320" y="40507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computational requirements</a:t>
            </a:r>
            <a:endParaRPr lang="en-US" sz="1350" dirty="0"/>
          </a:p>
        </p:txBody>
      </p:sp>
      <p:sp>
        <p:nvSpPr>
          <p:cNvPr id="51" name="Shape 38"/>
          <p:cNvSpPr/>
          <p:nvPr/>
        </p:nvSpPr>
        <p:spPr>
          <a:xfrm>
            <a:off x="502920" y="516636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674370" y="5406390"/>
            <a:ext cx="480060" cy="48006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53" name="Image 11" descr="/home/claude/nestle_deck/icons/targ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186" y="5531206"/>
            <a:ext cx="230429" cy="230429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1383030" y="5257800"/>
            <a:ext cx="9589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scalable optimization models and automated scenario testing.</a:t>
            </a:r>
            <a:endParaRPr lang="en-US" sz="1050" dirty="0"/>
          </a:p>
        </p:txBody>
      </p:sp>
      <p:sp>
        <p:nvSpPr>
          <p:cNvPr id="55" name="Text 41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6" name="Text 42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04 · QUANTUM COMPUTING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4 — Quantum Technology Maturity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9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quantum hardware is still developing</a:t>
            </a:r>
            <a:endParaRPr lang="en-US" sz="1350" dirty="0"/>
          </a:p>
          <a:p>
            <a:pPr marL="177800" indent="-177800">
              <a:spcAft>
                <a:spcPts val="19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 affect results</a:t>
            </a:r>
            <a:endParaRPr lang="en-US" sz="1350" dirty="0"/>
          </a:p>
          <a:p>
            <a:pPr marL="177800" indent="-177800">
              <a:spcAft>
                <a:spcPts val="19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formulation can become large</a:t>
            </a:r>
            <a:endParaRPr lang="en-US" sz="1350" dirty="0"/>
          </a:p>
          <a:p>
            <a:pPr marL="177800" indent="-177800">
              <a:spcAft>
                <a:spcPts val="19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depth can be constrained</a:t>
            </a:r>
            <a:endParaRPr lang="en-US" sz="1350" dirty="0"/>
          </a:p>
          <a:p>
            <a:pPr marL="177800" indent="-177800">
              <a:spcAft>
                <a:spcPts val="19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simulation does not equal real QPU performance</a:t>
            </a:r>
            <a:endParaRPr lang="en-US" sz="1350" dirty="0"/>
          </a:p>
          <a:p>
            <a:pPr marL="177800" indent="-177800">
              <a:spcAft>
                <a:spcPts val="19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 must be demonstrated experimentally</a:t>
            </a:r>
            <a:endParaRPr lang="en-US" sz="1350" dirty="0"/>
          </a:p>
          <a:p>
            <a:pPr marL="177800" indent="-177800">
              <a:spcAft>
                <a:spcPts val="1900"/>
              </a:spcAft>
              <a:buSzPct val="100000"/>
              <a:buChar char="•"/>
            </a:pPr>
            <a:r>
              <a:rPr lang="en-US" sz="13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access and runtime can be limiting factors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8660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AS AN EVOLVING TECHNOLOGY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86600" y="1965960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38644" y="2340864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home/claude/nestle_deck/icons/optim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310" y="2502530"/>
            <a:ext cx="298460" cy="298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39912" y="2916936"/>
            <a:ext cx="201168" cy="201168"/>
          </a:xfrm>
          <a:prstGeom prst="rightArrow">
            <a:avLst/>
          </a:prstGeom>
          <a:solidFill>
            <a:srgbClr val="B8862F"/>
          </a:solidFill>
          <a:ln/>
        </p:spPr>
      </p:sp>
      <p:sp>
        <p:nvSpPr>
          <p:cNvPr id="11" name="Shape 8"/>
          <p:cNvSpPr/>
          <p:nvPr/>
        </p:nvSpPr>
        <p:spPr>
          <a:xfrm>
            <a:off x="8668512" y="1965960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20556" y="2340864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1" descr="/home/claude/nestle_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222" y="2502530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68512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021824" y="2916936"/>
            <a:ext cx="201168" cy="201168"/>
          </a:xfrm>
          <a:prstGeom prst="rightArrow">
            <a:avLst/>
          </a:prstGeom>
          <a:solidFill>
            <a:srgbClr val="B8862F"/>
          </a:solidFill>
          <a:ln/>
        </p:spPr>
      </p:sp>
      <p:sp>
        <p:nvSpPr>
          <p:cNvPr id="16" name="Shape 12"/>
          <p:cNvSpPr/>
          <p:nvPr/>
        </p:nvSpPr>
        <p:spPr>
          <a:xfrm>
            <a:off x="10250424" y="1965960"/>
            <a:ext cx="1325880" cy="2103120"/>
          </a:xfrm>
          <a:prstGeom prst="roundRect">
            <a:avLst>
              <a:gd name="adj" fmla="val 6897"/>
            </a:avLst>
          </a:prstGeom>
          <a:solidFill>
            <a:srgbClr val="0B2A4A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602468" y="2340864"/>
            <a:ext cx="621792" cy="621792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8" name="Image 2" descr="/home/claude/nestle_deck/icons/quant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134" y="250253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50424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02920" y="5074920"/>
            <a:ext cx="10744200" cy="1234440"/>
          </a:xfrm>
          <a:prstGeom prst="roundRect">
            <a:avLst>
              <a:gd name="adj" fmla="val 6667"/>
            </a:avLst>
          </a:prstGeom>
          <a:solidFill>
            <a:srgbClr val="FBF1DE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5790" y="5383530"/>
            <a:ext cx="617220" cy="61722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2" name="Image 3" descr="/home/claude/nestle_deck/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" y="5544007"/>
            <a:ext cx="296266" cy="2962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51610" y="5166360"/>
            <a:ext cx="95211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STATEMENT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was explored as a future capability; quantum advantage should not be assumed without benchmark evidence.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05 · ENTERPRISE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5 — Productionization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32204"/>
            <a:ext cx="438912" cy="43891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/home/claude/nestle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501" y="1746321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1732788"/>
            <a:ext cx="640080" cy="237744"/>
          </a:xfrm>
          <a:prstGeom prst="rightArrow">
            <a:avLst/>
          </a:prstGeom>
          <a:solidFill>
            <a:srgbClr val="B8862F"/>
          </a:solidFill>
          <a:ln/>
        </p:spPr>
      </p:sp>
      <p:sp>
        <p:nvSpPr>
          <p:cNvPr id="9" name="Shape 6"/>
          <p:cNvSpPr/>
          <p:nvPr/>
        </p:nvSpPr>
        <p:spPr>
          <a:xfrm>
            <a:off x="4251960" y="1463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0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424" y="1632204"/>
            <a:ext cx="438912" cy="438912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1" name="Image 1" descr="/home/claude/nestle_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541" y="1746321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1463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2606040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" y="2701595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2" descr="/home/claude/nestle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19" y="2782666"/>
            <a:ext cx="149669" cy="1496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4186" y="2606040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133088" y="2606040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242816" y="2701595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9" name="Image 3" descr="/home/claude/nestle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887" y="2782666"/>
            <a:ext cx="149669" cy="14966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64354" y="2606040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763256" y="2606040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872984" y="2701595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3" name="Image 4" descr="/home/claude/nestle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055" y="2782666"/>
            <a:ext cx="149669" cy="14966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94522" y="2606040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02920" y="3227832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2648" y="3323387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7" name="Image 5" descr="/home/claude/nestle_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719" y="3404458"/>
            <a:ext cx="149669" cy="14966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34186" y="3227832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4133088" y="3227832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242816" y="3323387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31" name="Image 6" descr="/home/claude/nestle_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3887" y="3404458"/>
            <a:ext cx="149669" cy="14966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664354" y="3227832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7763256" y="3227832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7872984" y="3323387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35" name="Image 7" descr="/home/claude/nestle_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4055" y="3404458"/>
            <a:ext cx="149669" cy="149669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294522" y="3227832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502920" y="3849624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12648" y="3945179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39" name="Image 8" descr="/home/claude/nestle_deck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719" y="4026250"/>
            <a:ext cx="149669" cy="149669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034186" y="3849624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4133088" y="3849624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4242816" y="3945179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43" name="Image 9" descr="/home/claude/nestle_deck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3887" y="4026250"/>
            <a:ext cx="149669" cy="149669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664354" y="3849624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45" name="Shape 33"/>
          <p:cNvSpPr/>
          <p:nvPr/>
        </p:nvSpPr>
        <p:spPr>
          <a:xfrm>
            <a:off x="7763256" y="3849624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7872984" y="3945179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47" name="Image 10" descr="/home/claude/nestle_deck/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4055" y="4026250"/>
            <a:ext cx="149669" cy="149669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8294522" y="3849624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150" dirty="0"/>
          </a:p>
        </p:txBody>
      </p:sp>
      <p:sp>
        <p:nvSpPr>
          <p:cNvPr id="49" name="Shape 36"/>
          <p:cNvSpPr/>
          <p:nvPr/>
        </p:nvSpPr>
        <p:spPr>
          <a:xfrm>
            <a:off x="502920" y="4471416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612648" y="4566971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51" name="Image 11" descr="/home/claude/nestle_deck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719" y="4648042"/>
            <a:ext cx="149669" cy="149669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1034186" y="4471416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150" dirty="0"/>
          </a:p>
        </p:txBody>
      </p:sp>
      <p:sp>
        <p:nvSpPr>
          <p:cNvPr id="53" name="Shape 39"/>
          <p:cNvSpPr/>
          <p:nvPr/>
        </p:nvSpPr>
        <p:spPr>
          <a:xfrm>
            <a:off x="4133088" y="4471416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4242816" y="4566971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55" name="Image 12" descr="/home/claude/nestle_deck/icons/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23887" y="4648042"/>
            <a:ext cx="149669" cy="149669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4664354" y="4471416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57" name="Shape 42"/>
          <p:cNvSpPr/>
          <p:nvPr/>
        </p:nvSpPr>
        <p:spPr>
          <a:xfrm>
            <a:off x="7763256" y="4471416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7872984" y="4566971"/>
            <a:ext cx="311810" cy="31181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59" name="Image 13" descr="/home/claude/nestle_deck/icons/che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54055" y="4648042"/>
            <a:ext cx="149669" cy="149669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8294522" y="4471416"/>
            <a:ext cx="2888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150" dirty="0"/>
          </a:p>
        </p:txBody>
      </p:sp>
      <p:sp>
        <p:nvSpPr>
          <p:cNvPr id="61" name="Shape 45"/>
          <p:cNvSpPr/>
          <p:nvPr/>
        </p:nvSpPr>
        <p:spPr>
          <a:xfrm>
            <a:off x="502920" y="5623560"/>
            <a:ext cx="10744200" cy="640080"/>
          </a:xfrm>
          <a:prstGeom prst="roundRect">
            <a:avLst>
              <a:gd name="adj" fmla="val 1285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754380" y="5783580"/>
            <a:ext cx="320040" cy="32004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63" name="Image 14" descr="/home/claude/nestle_deck/icons/targe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590" y="5866790"/>
            <a:ext cx="153619" cy="153619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303020" y="5715000"/>
            <a:ext cx="966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production-grade MLOps and application infrastructure.</a:t>
            </a:r>
            <a:endParaRPr lang="en-US" sz="1050" dirty="0"/>
          </a:p>
        </p:txBody>
      </p:sp>
      <p:sp>
        <p:nvSpPr>
          <p:cNvPr id="65" name="Text 48"/>
          <p:cNvSpPr/>
          <p:nvPr/>
        </p:nvSpPr>
        <p:spPr>
          <a:xfrm>
            <a:off x="1371600" y="5687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66" name="Text 49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7" name="Text 50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CONTINUED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Enterprise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15184" cy="461772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1746504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/home/claude/nestle_deck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282" y="190817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688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536192" y="2880360"/>
            <a:ext cx="548640" cy="0"/>
          </a:xfrm>
          <a:prstGeom prst="line">
            <a:avLst/>
          </a:prstGeom>
          <a:noFill/>
          <a:ln w="19050">
            <a:solidFill>
              <a:srgbClr val="B886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081528"/>
            <a:ext cx="22494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forecasting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Explainable AI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 learning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uncertainty estimation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3282696" y="1508760"/>
            <a:ext cx="2615184" cy="461772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9392" y="1746504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/home/claude/nestle_deck/icons/optim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58" y="190817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82696" y="24688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4315968" y="2880360"/>
            <a:ext cx="548640" cy="0"/>
          </a:xfrm>
          <a:prstGeom prst="line">
            <a:avLst/>
          </a:prstGeom>
          <a:noFill/>
          <a:ln w="19050">
            <a:solidFill>
              <a:srgbClr val="B8862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65576" y="3081528"/>
            <a:ext cx="22494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More constraints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Multi-objective optimization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Scenario planning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optimization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6062472" y="1508760"/>
            <a:ext cx="2615184" cy="461772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9168" y="1746504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8" name="Image 2" descr="/home/claude/nestle_deck/icons/quant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834" y="190817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62472" y="24688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7095744" y="2880360"/>
            <a:ext cx="548640" cy="0"/>
          </a:xfrm>
          <a:prstGeom prst="line">
            <a:avLst/>
          </a:prstGeom>
          <a:noFill/>
          <a:ln w="19050">
            <a:solidFill>
              <a:srgbClr val="B8862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45352" y="3081528"/>
            <a:ext cx="22494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Larger QUBOs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QAOA experiments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Hybrid quantum-classical solvers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QPU benchmarking</a:t>
            </a:r>
            <a:endParaRPr lang="en-US" sz="1130" dirty="0"/>
          </a:p>
        </p:txBody>
      </p:sp>
      <p:sp>
        <p:nvSpPr>
          <p:cNvPr id="22" name="Shape 17"/>
          <p:cNvSpPr/>
          <p:nvPr/>
        </p:nvSpPr>
        <p:spPr>
          <a:xfrm>
            <a:off x="8842248" y="1508760"/>
            <a:ext cx="2615184" cy="4617720"/>
          </a:xfrm>
          <a:prstGeom prst="roundRect">
            <a:avLst>
              <a:gd name="adj" fmla="val 3497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38944" y="1746504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4" name="Image 3" descr="/home/claude/nestle_deck/icons/enterpri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610" y="1908170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42248" y="24688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9875520" y="2880360"/>
            <a:ext cx="548640" cy="0"/>
          </a:xfrm>
          <a:prstGeom prst="line">
            <a:avLst/>
          </a:prstGeom>
          <a:noFill/>
          <a:ln w="19050">
            <a:solidFill>
              <a:srgbClr val="B8862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025128" y="3081528"/>
            <a:ext cx="22494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deployment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APIs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MLOps</a:t>
            </a:r>
            <a:endParaRPr lang="en-US" sz="113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3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ERP/WMS integration</a:t>
            </a:r>
            <a:endParaRPr lang="en-US" sz="1130" dirty="0"/>
          </a:p>
        </p:txBody>
      </p:sp>
      <p:sp>
        <p:nvSpPr>
          <p:cNvPr id="28" name="Text 22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DEVELOPMENT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Three-Phase Development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10128" cy="4709160"/>
          </a:xfrm>
          <a:prstGeom prst="roundRect">
            <a:avLst>
              <a:gd name="adj" fmla="val 3315"/>
            </a:avLst>
          </a:prstGeom>
          <a:solidFill>
            <a:srgbClr val="EAF1F8"/>
          </a:solidFill>
          <a:ln w="12700">
            <a:solidFill>
              <a:srgbClr val="D3D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55A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58668" y="1650492"/>
            <a:ext cx="502920" cy="50292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home/claude/nestle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9427" y="1781251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2860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the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Platform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28072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quality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monitoring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Classical optimization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refinement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16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Testing automation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3870655" y="3735324"/>
            <a:ext cx="268834" cy="256032"/>
          </a:xfrm>
          <a:prstGeom prst="rightArrow">
            <a:avLst/>
          </a:prstGeom>
          <a:solidFill>
            <a:srgbClr val="B8862F"/>
          </a:solidFill>
          <a:ln/>
        </p:spPr>
      </p:sp>
      <p:sp>
        <p:nvSpPr>
          <p:cNvPr id="12" name="Shape 9"/>
          <p:cNvSpPr/>
          <p:nvPr/>
        </p:nvSpPr>
        <p:spPr>
          <a:xfrm>
            <a:off x="4197096" y="1508760"/>
            <a:ext cx="3310128" cy="4709160"/>
          </a:xfrm>
          <a:prstGeom prst="roundRect">
            <a:avLst>
              <a:gd name="adj" fmla="val 3315"/>
            </a:avLst>
          </a:prstGeom>
          <a:solidFill>
            <a:srgbClr val="164A78"/>
          </a:solidFill>
          <a:ln/>
        </p:spPr>
      </p:sp>
      <p:sp>
        <p:nvSpPr>
          <p:cNvPr id="13" name="Shape 10"/>
          <p:cNvSpPr/>
          <p:nvPr/>
        </p:nvSpPr>
        <p:spPr>
          <a:xfrm>
            <a:off x="4425696" y="17373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B8862F"/>
          </a:solidFill>
          <a:ln/>
        </p:spPr>
      </p:sp>
      <p:sp>
        <p:nvSpPr>
          <p:cNvPr id="14" name="Text 11"/>
          <p:cNvSpPr/>
          <p:nvPr/>
        </p:nvSpPr>
        <p:spPr>
          <a:xfrm>
            <a:off x="4425696" y="1737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52844" y="1650492"/>
            <a:ext cx="502920" cy="50292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16" name="Image 1" descr="/home/claude/nestle_deck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603" y="1781251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25696" y="22860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Scale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4471416" y="3108960"/>
            <a:ext cx="28072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data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ERP/WMS integration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optimization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Scenario simulation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deployment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MLOps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7564831" y="3735324"/>
            <a:ext cx="268834" cy="256032"/>
          </a:xfrm>
          <a:prstGeom prst="rightArrow">
            <a:avLst/>
          </a:prstGeom>
          <a:solidFill>
            <a:srgbClr val="B8862F"/>
          </a:solidFill>
          <a:ln/>
        </p:spPr>
      </p:sp>
      <p:sp>
        <p:nvSpPr>
          <p:cNvPr id="20" name="Shape 16"/>
          <p:cNvSpPr/>
          <p:nvPr/>
        </p:nvSpPr>
        <p:spPr>
          <a:xfrm>
            <a:off x="7891272" y="1508760"/>
            <a:ext cx="3310128" cy="4709160"/>
          </a:xfrm>
          <a:prstGeom prst="roundRect">
            <a:avLst>
              <a:gd name="adj" fmla="val 3315"/>
            </a:avLst>
          </a:prstGeom>
          <a:solidFill>
            <a:srgbClr val="0B2A4A"/>
          </a:solidFill>
          <a:ln/>
        </p:spPr>
      </p:sp>
      <p:sp>
        <p:nvSpPr>
          <p:cNvPr id="21" name="Shape 17"/>
          <p:cNvSpPr/>
          <p:nvPr/>
        </p:nvSpPr>
        <p:spPr>
          <a:xfrm>
            <a:off x="8119872" y="17373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B8862F"/>
          </a:solidFill>
          <a:ln/>
        </p:spPr>
      </p:sp>
      <p:sp>
        <p:nvSpPr>
          <p:cNvPr id="22" name="Text 18"/>
          <p:cNvSpPr/>
          <p:nvPr/>
        </p:nvSpPr>
        <p:spPr>
          <a:xfrm>
            <a:off x="8119872" y="1737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10447020" y="1650492"/>
            <a:ext cx="502920" cy="502920"/>
          </a:xfrm>
          <a:prstGeom prst="ellipse">
            <a:avLst/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pic>
        <p:nvPicPr>
          <p:cNvPr id="24" name="Image 2" descr="/home/claude/nestle_deck/icons/quant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779" y="1781251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119872" y="22860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Quantum-Ready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165592" y="3108960"/>
            <a:ext cx="28072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Larger QUBO problems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Hybrid quantum-classical workflows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QAOA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QPU experiments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Quantum benchmark studies</a:t>
            </a:r>
            <a:endParaRPr lang="en-US" sz="118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Quantum advantage assessment</a:t>
            </a:r>
            <a:endParaRPr lang="en-US" sz="1180" dirty="0"/>
          </a:p>
        </p:txBody>
      </p:sp>
      <p:sp>
        <p:nvSpPr>
          <p:cNvPr id="27" name="Text 22"/>
          <p:cNvSpPr/>
          <p:nvPr/>
        </p:nvSpPr>
        <p:spPr>
          <a:xfrm>
            <a:off x="1136873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Define the Next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713232"/>
          </a:xfrm>
          <a:prstGeom prst="roundRect">
            <a:avLst>
              <a:gd name="adj" fmla="val 11538"/>
            </a:avLst>
          </a:prstGeom>
          <a:solidFill>
            <a:srgbClr val="123A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Classical + Quantum Prototype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93892" y="2203704"/>
            <a:ext cx="201168" cy="164592"/>
          </a:xfrm>
          <a:prstGeom prst="downArrow">
            <a:avLst/>
          </a:prstGeom>
          <a:solidFill>
            <a:srgbClr val="B8862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350008"/>
            <a:ext cx="11183112" cy="713232"/>
          </a:xfrm>
          <a:prstGeom prst="roundRect">
            <a:avLst>
              <a:gd name="adj" fmla="val 11538"/>
            </a:avLst>
          </a:prstGeom>
          <a:solidFill>
            <a:srgbClr val="123A5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500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2350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AI Generalization · Optimization Scale · Quantum Hardware · Enterprise Deployment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93892" y="3044952"/>
            <a:ext cx="201168" cy="164592"/>
          </a:xfrm>
          <a:prstGeom prst="downArrow">
            <a:avLst/>
          </a:prstGeom>
          <a:solidFill>
            <a:srgbClr val="B8862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191256"/>
            <a:ext cx="11183112" cy="713232"/>
          </a:xfrm>
          <a:prstGeom prst="roundRect">
            <a:avLst>
              <a:gd name="adj" fmla="val 11538"/>
            </a:avLst>
          </a:prstGeom>
          <a:solidFill>
            <a:srgbClr val="12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912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3191256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AI · Scalable Optimization · Real-Time Integration · Hybrid Quantum Computing · Enterprise Production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93892" y="3886200"/>
            <a:ext cx="201168" cy="164592"/>
          </a:xfrm>
          <a:prstGeom prst="downArrow">
            <a:avLst/>
          </a:prstGeom>
          <a:solidFill>
            <a:srgbClr val="B8862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032504"/>
            <a:ext cx="11183112" cy="713232"/>
          </a:xfrm>
          <a:prstGeom prst="roundRect">
            <a:avLst>
              <a:gd name="adj" fmla="val 11538"/>
            </a:avLst>
          </a:prstGeom>
          <a:solidFill>
            <a:srgbClr val="B8862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3250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4032504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Quantum-Ready Supply Chain Decision Platform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49103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project establishes a strong foundation for intelligent order fulfillment while identifying clear opportunities to improve scalability, production readiness, AI robustness, and quantum optimization capability."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today’s business needs. Prepare for tomorrow’s quantum opportunity.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WISER Global Quantum + AI Program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Sirama Avinash</dc:creator>
  <cp:lastModifiedBy>Sirama Avinash</cp:lastModifiedBy>
  <cp:revision>1</cp:revision>
  <dcterms:created xsi:type="dcterms:W3CDTF">2026-08-07T06:27:46Z</dcterms:created>
  <dcterms:modified xsi:type="dcterms:W3CDTF">2026-08-07T06:27:46Z</dcterms:modified>
</cp:coreProperties>
</file>