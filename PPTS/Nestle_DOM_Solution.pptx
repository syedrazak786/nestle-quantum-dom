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2.png"/><Relationship Id="rId9" Type="http://schemas.openxmlformats.org/officeDocument/2006/relationships/image" Target="../media/image-5-3.png"/><Relationship Id="rId10" Type="http://schemas.openxmlformats.org/officeDocument/2006/relationships/image" Target="../media/image-5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ln w="15875">
            <a:solidFill>
              <a:srgbClr val="134C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1371600"/>
            <a:ext cx="4663440" cy="4663440"/>
          </a:xfrm>
          <a:prstGeom prst="ellipse">
            <a:avLst/>
          </a:prstGeom>
          <a:ln w="15875">
            <a:solidFill>
              <a:srgbClr val="134C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-640080"/>
            <a:ext cx="3200400" cy="3200400"/>
          </a:xfrm>
          <a:prstGeom prst="ellipse">
            <a:avLst/>
          </a:prstGeom>
          <a:ln w="15875">
            <a:solidFill>
              <a:srgbClr val="1D5D9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2103120" y="4663440"/>
            <a:ext cx="4754880" cy="4754880"/>
          </a:xfrm>
          <a:prstGeom prst="ellipse">
            <a:avLst/>
          </a:prstGeom>
          <a:ln w="15875">
            <a:solidFill>
              <a:srgbClr val="134C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5394960"/>
            <a:ext cx="3291840" cy="3291840"/>
          </a:xfrm>
          <a:prstGeom prst="ellipse">
            <a:avLst/>
          </a:prstGeom>
          <a:ln w="15875">
            <a:solidFill>
              <a:srgbClr val="1D5D9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548640"/>
            <a:ext cx="164592" cy="164592"/>
          </a:xfrm>
          <a:prstGeom prst="ellipse">
            <a:avLst/>
          </a:prstGeom>
          <a:solidFill>
            <a:srgbClr val="4DA3E0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BB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 ·  WISER GLOBAL QUANTUM + AI PROGRAM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561320" y="457200"/>
            <a:ext cx="566928" cy="566928"/>
          </a:xfrm>
          <a:prstGeom prst="ellipse">
            <a:avLst/>
          </a:prstGeom>
          <a:solidFill>
            <a:srgbClr val="0A4E85"/>
          </a:solidFill>
          <a:ln/>
        </p:spPr>
      </p:sp>
      <p:pic>
        <p:nvPicPr>
          <p:cNvPr id="10" name="Image 0" descr="/home/claude/nestle_ppt2/icons/ato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855" y="533735"/>
            <a:ext cx="413857" cy="41385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1874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D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 ·  PART 2 OF 6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" y="219456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Proposed Solution</a:t>
            </a:r>
            <a:endParaRPr lang="en-US" sz="4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Approach</a:t>
            </a:r>
            <a:endParaRPr lang="en-US" sz="4400" dirty="0"/>
          </a:p>
        </p:txBody>
      </p:sp>
      <p:sp>
        <p:nvSpPr>
          <p:cNvPr id="13" name="Shape 10"/>
          <p:cNvSpPr/>
          <p:nvPr/>
        </p:nvSpPr>
        <p:spPr>
          <a:xfrm>
            <a:off x="658368" y="3913632"/>
            <a:ext cx="1005840" cy="0"/>
          </a:xfrm>
          <a:prstGeom prst="line">
            <a:avLst/>
          </a:prstGeom>
          <a:noFill/>
          <a:ln w="38100">
            <a:solidFill>
              <a:srgbClr val="4DA3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4096512"/>
            <a:ext cx="8686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
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+ AI Optimization Platform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58368" y="5532120"/>
            <a:ext cx="4160520" cy="896112"/>
          </a:xfrm>
          <a:prstGeom prst="roundRect">
            <a:avLst>
              <a:gd name="adj" fmla="val 8163"/>
            </a:avLst>
          </a:prstGeom>
          <a:solidFill>
            <a:srgbClr val="06427A"/>
          </a:solidFill>
          <a:ln w="9525">
            <a:solidFill>
              <a:srgbClr val="0F589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6112" y="565099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4D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96112" y="58704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Sirama Avinash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076895" y="6473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1414455" y="6473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4747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 ·  DOM  ·  QUANTUM + AI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AI, Optimization &amp; Quantum Platform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11247120" cy="914400"/>
          </a:xfrm>
          <a:prstGeom prst="roundRect">
            <a:avLst>
              <a:gd name="adj" fmla="val 7000"/>
            </a:avLst>
          </a:prstGeom>
          <a:solidFill>
            <a:srgbClr val="EE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737360"/>
            <a:ext cx="502920" cy="502920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8" name="Image 0" descr="/home/claude/nestle_ppt2/icons/cub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694" y="1805254"/>
            <a:ext cx="367132" cy="3671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627632"/>
            <a:ext cx="10104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44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propose an intelligent Distributed Order Management platform that combines Artificial Intelligence, Classical Optimization and Quantum Computing to optimize customer order fulfillment across Nestlé's global network.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697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OBJECTIVES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063240"/>
            <a:ext cx="2121408" cy="2606040"/>
          </a:xfrm>
          <a:prstGeom prst="roundRect">
            <a:avLst>
              <a:gd name="adj" fmla="val 3448"/>
            </a:avLst>
          </a:prstGeom>
          <a:solidFill>
            <a:srgbClr val="FBFCFE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07008" y="3337560"/>
            <a:ext cx="621792" cy="621792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13" name="Image 1" descr="/home/claude/nestle_ppt2/icons/boxesStacke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950" y="3421502"/>
            <a:ext cx="453908" cy="4539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5216" y="4206240"/>
            <a:ext cx="18653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Inventory Utilization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2724912" y="3063240"/>
            <a:ext cx="2121408" cy="2606040"/>
          </a:xfrm>
          <a:prstGeom prst="roundRect">
            <a:avLst>
              <a:gd name="adj" fmla="val 3448"/>
            </a:avLst>
          </a:prstGeom>
          <a:solidFill>
            <a:srgbClr val="FBFCFE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74720" y="3337560"/>
            <a:ext cx="621792" cy="621792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17" name="Image 2" descr="/home/claude/nestle_ppt2/icons/doll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8662" y="3421502"/>
            <a:ext cx="453908" cy="4539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852928" y="4206240"/>
            <a:ext cx="18653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Logistics Cost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992624" y="3063240"/>
            <a:ext cx="2121408" cy="2606040"/>
          </a:xfrm>
          <a:prstGeom prst="roundRect">
            <a:avLst>
              <a:gd name="adj" fmla="val 3448"/>
            </a:avLst>
          </a:prstGeom>
          <a:solidFill>
            <a:srgbClr val="FBFCFE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742432" y="3337560"/>
            <a:ext cx="621792" cy="621792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21" name="Image 3" descr="/home/claude/nestle_ppt2/icons/truckFas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6374" y="3421502"/>
            <a:ext cx="453908" cy="4539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20640" y="4206240"/>
            <a:ext cx="18653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Delivery Performance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7260336" y="3063240"/>
            <a:ext cx="2121408" cy="2606040"/>
          </a:xfrm>
          <a:prstGeom prst="roundRect">
            <a:avLst>
              <a:gd name="adj" fmla="val 3448"/>
            </a:avLst>
          </a:prstGeom>
          <a:solidFill>
            <a:srgbClr val="FBFCFE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010144" y="3337560"/>
            <a:ext cx="621792" cy="621792"/>
          </a:xfrm>
          <a:prstGeom prst="ellipse">
            <a:avLst/>
          </a:prstGeom>
          <a:solidFill>
            <a:srgbClr val="00335C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25" name="Image 4" descr="/home/claude/nestle_ppt2/icons/lightbulb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4086" y="3421502"/>
            <a:ext cx="453908" cy="4539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88352" y="4206240"/>
            <a:ext cx="18653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Planners with AI Recommendations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9528048" y="3063240"/>
            <a:ext cx="2121408" cy="2606040"/>
          </a:xfrm>
          <a:prstGeom prst="roundRect">
            <a:avLst>
              <a:gd name="adj" fmla="val 3448"/>
            </a:avLst>
          </a:prstGeom>
          <a:solidFill>
            <a:srgbClr val="FBFCFE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10277856" y="3337560"/>
            <a:ext cx="621792" cy="621792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29" name="Image 5" descr="/home/claude/nestle_ppt2/icons/rocke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1798" y="3421502"/>
            <a:ext cx="453908" cy="45390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656064" y="4206240"/>
            <a:ext cx="18653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Future-Ready Optimization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800" dirty="0"/>
          </a:p>
        </p:txBody>
      </p:sp>
      <p:sp>
        <p:nvSpPr>
          <p:cNvPr id="32" name="Text 24"/>
          <p:cNvSpPr/>
          <p:nvPr/>
        </p:nvSpPr>
        <p:spPr>
          <a:xfrm>
            <a:off x="8076895" y="6473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endParaRPr lang="en-US" sz="800" dirty="0"/>
          </a:p>
        </p:txBody>
      </p:sp>
      <p:sp>
        <p:nvSpPr>
          <p:cNvPr id="33" name="Text 25"/>
          <p:cNvSpPr/>
          <p:nvPr/>
        </p:nvSpPr>
        <p:spPr>
          <a:xfrm>
            <a:off x="11414455" y="6473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4747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 ·  DOM  ·  QUANTUM + AI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Solution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97864" cy="4160520"/>
          </a:xfrm>
          <a:prstGeom prst="roundRect">
            <a:avLst>
              <a:gd name="adj" fmla="val 6107"/>
            </a:avLst>
          </a:prstGeom>
          <a:solidFill>
            <a:srgbClr val="0055A4"/>
          </a:solidFill>
          <a:ln/>
          <a:effectLst>
            <a:outerShdw sx="100000" sy="100000" kx="0" ky="0" algn="bl" rotWithShape="0" blurRad="63500" dist="25400" dir="5400000">
              <a:srgbClr val="1A2B3C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0956" y="2020824"/>
            <a:ext cx="530352" cy="530352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/home/claude/nestle_ppt2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1214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12064" y="2697480"/>
            <a:ext cx="1088136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Business Data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30352" y="56144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664208" y="3863340"/>
            <a:ext cx="82296" cy="0"/>
          </a:xfrm>
          <a:prstGeom prst="line">
            <a:avLst/>
          </a:prstGeom>
          <a:noFill/>
          <a:ln w="25400">
            <a:solidFill>
              <a:srgbClr val="4DA3E0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1755648" y="1783080"/>
            <a:ext cx="1197864" cy="4160520"/>
          </a:xfrm>
          <a:prstGeom prst="roundRect">
            <a:avLst>
              <a:gd name="adj" fmla="val 6107"/>
            </a:avLst>
          </a:prstGeom>
          <a:solidFill>
            <a:srgbClr val="4DA3E0"/>
          </a:solidFill>
          <a:ln/>
          <a:effectLst>
            <a:outerShdw sx="100000" sy="100000" kx="0" ky="0" algn="bl" rotWithShape="0" blurRad="63500" dist="25400" dir="5400000">
              <a:srgbClr val="1A2B3C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089404" y="2020824"/>
            <a:ext cx="530352" cy="530352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1" descr="/home/claude/nestle_ppt2/icons/serv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988" y="212140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810512" y="2697480"/>
            <a:ext cx="1088136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828800" y="56144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2962656" y="3863340"/>
            <a:ext cx="82296" cy="0"/>
          </a:xfrm>
          <a:prstGeom prst="line">
            <a:avLst/>
          </a:prstGeom>
          <a:noFill/>
          <a:ln w="25400">
            <a:solidFill>
              <a:srgbClr val="4DA3E0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3054096" y="1783080"/>
            <a:ext cx="1197864" cy="4160520"/>
          </a:xfrm>
          <a:prstGeom prst="roundRect">
            <a:avLst>
              <a:gd name="adj" fmla="val 6107"/>
            </a:avLst>
          </a:prstGeom>
          <a:solidFill>
            <a:srgbClr val="0055A4"/>
          </a:solidFill>
          <a:ln/>
          <a:effectLst>
            <a:outerShdw sx="100000" sy="100000" kx="0" ky="0" algn="bl" rotWithShape="0" blurRad="63500" dist="25400" dir="5400000">
              <a:srgbClr val="1A2B3C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387852" y="2020824"/>
            <a:ext cx="530352" cy="530352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2" descr="/home/claude/nestle_ppt2/icons/robo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8436" y="212140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108960" y="2697480"/>
            <a:ext cx="1088136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3127248" y="56144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261104" y="3863340"/>
            <a:ext cx="82296" cy="0"/>
          </a:xfrm>
          <a:prstGeom prst="line">
            <a:avLst/>
          </a:prstGeom>
          <a:noFill/>
          <a:ln w="25400">
            <a:solidFill>
              <a:srgbClr val="4DA3E0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4352544" y="1783080"/>
            <a:ext cx="1197864" cy="4160520"/>
          </a:xfrm>
          <a:prstGeom prst="roundRect">
            <a:avLst>
              <a:gd name="adj" fmla="val 6107"/>
            </a:avLst>
          </a:prstGeom>
          <a:solidFill>
            <a:srgbClr val="4DA3E0"/>
          </a:solidFill>
          <a:ln/>
          <a:effectLst>
            <a:outerShdw sx="100000" sy="100000" kx="0" ky="0" algn="bl" rotWithShape="0" blurRad="63500" dist="25400" dir="5400000">
              <a:srgbClr val="1A2B3C">
                <a:alpha val="1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686300" y="2020824"/>
            <a:ext cx="530352" cy="530352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3" descr="/home/claude/nestle_ppt2/icons/boxesStacke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884" y="2121408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407408" y="2697480"/>
            <a:ext cx="1088136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Prediction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425696" y="56144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5559552" y="3863340"/>
            <a:ext cx="82296" cy="0"/>
          </a:xfrm>
          <a:prstGeom prst="line">
            <a:avLst/>
          </a:prstGeom>
          <a:noFill/>
          <a:ln w="25400">
            <a:solidFill>
              <a:srgbClr val="4DA3E0"/>
            </a:solidFill>
            <a:prstDash val="solid"/>
            <a:tailEnd type="triangle"/>
          </a:ln>
        </p:spPr>
      </p:sp>
      <p:sp>
        <p:nvSpPr>
          <p:cNvPr id="30" name="Shape 24"/>
          <p:cNvSpPr/>
          <p:nvPr/>
        </p:nvSpPr>
        <p:spPr>
          <a:xfrm>
            <a:off x="5650992" y="1783080"/>
            <a:ext cx="1197864" cy="4160520"/>
          </a:xfrm>
          <a:prstGeom prst="roundRect">
            <a:avLst>
              <a:gd name="adj" fmla="val 6107"/>
            </a:avLst>
          </a:prstGeom>
          <a:solidFill>
            <a:srgbClr val="0055A4"/>
          </a:solidFill>
          <a:ln/>
          <a:effectLst>
            <a:outerShdw sx="100000" sy="100000" kx="0" ky="0" algn="bl" rotWithShape="0" blurRad="63500" dist="25400" dir="5400000">
              <a:srgbClr val="1A2B3C">
                <a:alpha val="1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5984748" y="2020824"/>
            <a:ext cx="530352" cy="530352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2" name="Image 4" descr="/home/claude/nestle_ppt2/icons/cube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5332" y="2121408"/>
            <a:ext cx="329184" cy="32918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705856" y="2697480"/>
            <a:ext cx="1088136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Optimization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5724144" y="56144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6858000" y="3863340"/>
            <a:ext cx="82296" cy="0"/>
          </a:xfrm>
          <a:prstGeom prst="line">
            <a:avLst/>
          </a:prstGeom>
          <a:noFill/>
          <a:ln w="25400">
            <a:solidFill>
              <a:srgbClr val="4DA3E0"/>
            </a:solidFill>
            <a:prstDash val="solid"/>
            <a:tailEnd type="triangle"/>
          </a:ln>
        </p:spPr>
      </p:sp>
      <p:sp>
        <p:nvSpPr>
          <p:cNvPr id="36" name="Shape 29"/>
          <p:cNvSpPr/>
          <p:nvPr/>
        </p:nvSpPr>
        <p:spPr>
          <a:xfrm>
            <a:off x="6949440" y="1783080"/>
            <a:ext cx="1197864" cy="4160520"/>
          </a:xfrm>
          <a:prstGeom prst="roundRect">
            <a:avLst>
              <a:gd name="adj" fmla="val 6107"/>
            </a:avLst>
          </a:prstGeom>
          <a:solidFill>
            <a:srgbClr val="00335C"/>
          </a:solidFill>
          <a:ln/>
          <a:effectLst>
            <a:outerShdw sx="100000" sy="100000" kx="0" ky="0" algn="bl" rotWithShape="0" blurRad="63500" dist="25400" dir="5400000">
              <a:srgbClr val="1A2B3C">
                <a:alpha val="1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7283196" y="2020824"/>
            <a:ext cx="530352" cy="530352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8" name="Image 5" descr="/home/claude/nestle_ppt2/icons/atom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3780" y="2121408"/>
            <a:ext cx="329184" cy="32918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004304" y="2697480"/>
            <a:ext cx="1088136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Optimization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7022592" y="56144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8156448" y="3863340"/>
            <a:ext cx="82296" cy="0"/>
          </a:xfrm>
          <a:prstGeom prst="line">
            <a:avLst/>
          </a:prstGeom>
          <a:noFill/>
          <a:ln w="25400">
            <a:solidFill>
              <a:srgbClr val="4DA3E0"/>
            </a:solidFill>
            <a:prstDash val="solid"/>
            <a:tailEnd type="triangle"/>
          </a:ln>
        </p:spPr>
      </p:sp>
      <p:sp>
        <p:nvSpPr>
          <p:cNvPr id="42" name="Shape 34"/>
          <p:cNvSpPr/>
          <p:nvPr/>
        </p:nvSpPr>
        <p:spPr>
          <a:xfrm>
            <a:off x="8247888" y="1783080"/>
            <a:ext cx="1197864" cy="4160520"/>
          </a:xfrm>
          <a:prstGeom prst="roundRect">
            <a:avLst>
              <a:gd name="adj" fmla="val 6107"/>
            </a:avLst>
          </a:prstGeom>
          <a:solidFill>
            <a:srgbClr val="0055A4"/>
          </a:solidFill>
          <a:ln/>
          <a:effectLst>
            <a:outerShdw sx="100000" sy="100000" kx="0" ky="0" algn="bl" rotWithShape="0" blurRad="63500" dist="25400" dir="5400000">
              <a:srgbClr val="1A2B3C">
                <a:alpha val="15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8581644" y="2020824"/>
            <a:ext cx="530352" cy="530352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4" name="Image 6" descr="/home/claude/nestle_ppt2/icons/chartSimpl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2228" y="2121408"/>
            <a:ext cx="329184" cy="329184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8302752" y="2697480"/>
            <a:ext cx="1088136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Dashboard</a:t>
            </a:r>
            <a:endParaRPr lang="en-US" sz="1000" dirty="0"/>
          </a:p>
        </p:txBody>
      </p:sp>
      <p:sp>
        <p:nvSpPr>
          <p:cNvPr id="46" name="Text 37"/>
          <p:cNvSpPr/>
          <p:nvPr/>
        </p:nvSpPr>
        <p:spPr>
          <a:xfrm>
            <a:off x="8321040" y="56144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7" name="Shape 38"/>
          <p:cNvSpPr/>
          <p:nvPr/>
        </p:nvSpPr>
        <p:spPr>
          <a:xfrm>
            <a:off x="9454896" y="3863340"/>
            <a:ext cx="82296" cy="0"/>
          </a:xfrm>
          <a:prstGeom prst="line">
            <a:avLst/>
          </a:prstGeom>
          <a:noFill/>
          <a:ln w="25400">
            <a:solidFill>
              <a:srgbClr val="4DA3E0"/>
            </a:solidFill>
            <a:prstDash val="solid"/>
            <a:tailEnd type="triangle"/>
          </a:ln>
        </p:spPr>
      </p:sp>
      <p:sp>
        <p:nvSpPr>
          <p:cNvPr id="48" name="Shape 39"/>
          <p:cNvSpPr/>
          <p:nvPr/>
        </p:nvSpPr>
        <p:spPr>
          <a:xfrm>
            <a:off x="9546336" y="1783080"/>
            <a:ext cx="1197864" cy="4160520"/>
          </a:xfrm>
          <a:prstGeom prst="roundRect">
            <a:avLst>
              <a:gd name="adj" fmla="val 6107"/>
            </a:avLst>
          </a:prstGeom>
          <a:solidFill>
            <a:srgbClr val="4DA3E0"/>
          </a:solidFill>
          <a:ln/>
          <a:effectLst>
            <a:outerShdw sx="100000" sy="100000" kx="0" ky="0" algn="bl" rotWithShape="0" blurRad="63500" dist="25400" dir="5400000">
              <a:srgbClr val="1A2B3C">
                <a:alpha val="15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9880092" y="2020824"/>
            <a:ext cx="530352" cy="530352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0" name="Image 7" descr="/home/claude/nestle_ppt2/icons/briefcase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80676" y="2121408"/>
            <a:ext cx="329184" cy="329184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9601200" y="2697480"/>
            <a:ext cx="1088136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Strategy</a:t>
            </a:r>
            <a:endParaRPr lang="en-US" sz="1000" dirty="0"/>
          </a:p>
        </p:txBody>
      </p:sp>
      <p:sp>
        <p:nvSpPr>
          <p:cNvPr id="52" name="Text 42"/>
          <p:cNvSpPr/>
          <p:nvPr/>
        </p:nvSpPr>
        <p:spPr>
          <a:xfrm>
            <a:off x="9619488" y="56144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3" name="Shape 43"/>
          <p:cNvSpPr/>
          <p:nvPr/>
        </p:nvSpPr>
        <p:spPr>
          <a:xfrm>
            <a:off x="10753344" y="3863340"/>
            <a:ext cx="82296" cy="0"/>
          </a:xfrm>
          <a:prstGeom prst="line">
            <a:avLst/>
          </a:prstGeom>
          <a:noFill/>
          <a:ln w="25400">
            <a:solidFill>
              <a:srgbClr val="4DA3E0"/>
            </a:solidFill>
            <a:prstDash val="solid"/>
            <a:tailEnd type="triangle"/>
          </a:ln>
        </p:spPr>
      </p:sp>
      <p:sp>
        <p:nvSpPr>
          <p:cNvPr id="54" name="Shape 44"/>
          <p:cNvSpPr/>
          <p:nvPr/>
        </p:nvSpPr>
        <p:spPr>
          <a:xfrm>
            <a:off x="10844784" y="1783080"/>
            <a:ext cx="1197864" cy="4160520"/>
          </a:xfrm>
          <a:prstGeom prst="roundRect">
            <a:avLst>
              <a:gd name="adj" fmla="val 6107"/>
            </a:avLst>
          </a:prstGeom>
          <a:solidFill>
            <a:srgbClr val="0055A4"/>
          </a:solidFill>
          <a:ln/>
          <a:effectLst>
            <a:outerShdw sx="100000" sy="100000" kx="0" ky="0" algn="bl" rotWithShape="0" blurRad="63500" dist="25400" dir="5400000">
              <a:srgbClr val="1A2B3C">
                <a:alpha val="15000"/>
              </a:srgbClr>
            </a:outerShdw>
          </a:effectLst>
        </p:spPr>
      </p:sp>
      <p:sp>
        <p:nvSpPr>
          <p:cNvPr id="55" name="Shape 45"/>
          <p:cNvSpPr/>
          <p:nvPr/>
        </p:nvSpPr>
        <p:spPr>
          <a:xfrm>
            <a:off x="11178540" y="2020824"/>
            <a:ext cx="530352" cy="530352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6" name="Image 8" descr="/home/claude/nestle_ppt2/icons/circleCheck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79124" y="2121408"/>
            <a:ext cx="329184" cy="329184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10899648" y="2697480"/>
            <a:ext cx="1088136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000" dirty="0"/>
          </a:p>
        </p:txBody>
      </p:sp>
      <p:sp>
        <p:nvSpPr>
          <p:cNvPr id="58" name="Text 47"/>
          <p:cNvSpPr/>
          <p:nvPr/>
        </p:nvSpPr>
        <p:spPr>
          <a:xfrm>
            <a:off x="10917936" y="56144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9" name="Shape 48"/>
          <p:cNvSpPr/>
          <p:nvPr/>
        </p:nvSpPr>
        <p:spPr>
          <a:xfrm>
            <a:off x="457200" y="6080760"/>
            <a:ext cx="11247120" cy="457200"/>
          </a:xfrm>
          <a:prstGeom prst="roundRect">
            <a:avLst>
              <a:gd name="adj" fmla="val 12000"/>
            </a:avLst>
          </a:prstGeom>
          <a:solidFill>
            <a:srgbClr val="EEF4FA"/>
          </a:solidFill>
          <a:ln/>
        </p:spPr>
      </p:sp>
      <p:sp>
        <p:nvSpPr>
          <p:cNvPr id="60" name="Text 49"/>
          <p:cNvSpPr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pipeline — from raw enterprise data to boardroom-ready decisions</a:t>
            </a:r>
            <a:endParaRPr lang="en-US" sz="1100" dirty="0"/>
          </a:p>
        </p:txBody>
      </p:sp>
      <p:sp>
        <p:nvSpPr>
          <p:cNvPr id="61" name="Text 5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800" dirty="0"/>
          </a:p>
        </p:txBody>
      </p:sp>
      <p:sp>
        <p:nvSpPr>
          <p:cNvPr id="62" name="Text 51"/>
          <p:cNvSpPr/>
          <p:nvPr/>
        </p:nvSpPr>
        <p:spPr>
          <a:xfrm>
            <a:off x="8076895" y="6473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endParaRPr lang="en-US" sz="800" dirty="0"/>
          </a:p>
        </p:txBody>
      </p:sp>
      <p:sp>
        <p:nvSpPr>
          <p:cNvPr id="63" name="Text 52"/>
          <p:cNvSpPr/>
          <p:nvPr/>
        </p:nvSpPr>
        <p:spPr>
          <a:xfrm>
            <a:off x="11414455" y="6473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4747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 ·  DOM  ·  QUANTUM + AI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LAYER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Pipeline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611880" cy="1938528"/>
          </a:xfrm>
          <a:prstGeom prst="roundRect">
            <a:avLst>
              <a:gd name="adj" fmla="val 3774"/>
            </a:avLst>
          </a:prstGeom>
          <a:solidFill>
            <a:srgbClr val="FBFCFE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911096"/>
            <a:ext cx="402336" cy="402336"/>
          </a:xfrm>
          <a:prstGeom prst="ellipse">
            <a:avLst/>
          </a:prstGeom>
          <a:solidFill>
            <a:srgbClr val="00335C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9110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82696" y="1892808"/>
            <a:ext cx="548640" cy="548640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10" name="Image 0" descr="/home/claude/nestle_ppt2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6762" y="1966874"/>
            <a:ext cx="400507" cy="40050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6656" y="2587752"/>
            <a:ext cx="3172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76656" y="2935224"/>
            <a:ext cx="3172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Ingesting orders, inventory &amp; logistics data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087368" y="2660904"/>
            <a:ext cx="146304" cy="0"/>
          </a:xfrm>
          <a:prstGeom prst="line">
            <a:avLst/>
          </a:prstGeom>
          <a:noFill/>
          <a:ln w="25400">
            <a:solidFill>
              <a:srgbClr val="4DA3E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251960" y="1691640"/>
            <a:ext cx="3611880" cy="1938528"/>
          </a:xfrm>
          <a:prstGeom prst="roundRect">
            <a:avLst>
              <a:gd name="adj" fmla="val 3774"/>
            </a:avLst>
          </a:prstGeom>
          <a:solidFill>
            <a:srgbClr val="FBFCFE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71416" y="1911096"/>
            <a:ext cx="402336" cy="402336"/>
          </a:xfrm>
          <a:prstGeom prst="ellipse">
            <a:avLst/>
          </a:prstGeom>
          <a:solidFill>
            <a:srgbClr val="00335C"/>
          </a:solidFill>
          <a:ln/>
        </p:spPr>
      </p:sp>
      <p:sp>
        <p:nvSpPr>
          <p:cNvPr id="16" name="Text 13"/>
          <p:cNvSpPr/>
          <p:nvPr/>
        </p:nvSpPr>
        <p:spPr>
          <a:xfrm>
            <a:off x="4471416" y="19110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077456" y="1892808"/>
            <a:ext cx="548640" cy="548640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18" name="Image 1" descr="/home/claude/nestle_ppt2/icons/broom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522" y="1966874"/>
            <a:ext cx="400507" cy="40050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471416" y="2587752"/>
            <a:ext cx="3172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4471416" y="2935224"/>
            <a:ext cx="3172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noise, duplicates and errors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7882128" y="2660904"/>
            <a:ext cx="146304" cy="0"/>
          </a:xfrm>
          <a:prstGeom prst="line">
            <a:avLst/>
          </a:prstGeom>
          <a:noFill/>
          <a:ln w="25400">
            <a:solidFill>
              <a:srgbClr val="4DA3E0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8046720" y="1691640"/>
            <a:ext cx="3611880" cy="1938528"/>
          </a:xfrm>
          <a:prstGeom prst="roundRect">
            <a:avLst>
              <a:gd name="adj" fmla="val 3774"/>
            </a:avLst>
          </a:prstGeom>
          <a:solidFill>
            <a:srgbClr val="FBFCFE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266176" y="1911096"/>
            <a:ext cx="402336" cy="402336"/>
          </a:xfrm>
          <a:prstGeom prst="ellipse">
            <a:avLst/>
          </a:prstGeom>
          <a:solidFill>
            <a:srgbClr val="00335C"/>
          </a:solidFill>
          <a:ln/>
        </p:spPr>
      </p:sp>
      <p:sp>
        <p:nvSpPr>
          <p:cNvPr id="24" name="Text 20"/>
          <p:cNvSpPr/>
          <p:nvPr/>
        </p:nvSpPr>
        <p:spPr>
          <a:xfrm>
            <a:off x="8266176" y="19110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10872216" y="1892808"/>
            <a:ext cx="548640" cy="548640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26" name="Image 2" descr="/home/claude/nestle_ppt2/icons/filt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6282" y="1966874"/>
            <a:ext cx="400507" cy="400507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266176" y="2587752"/>
            <a:ext cx="3172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Treatment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8266176" y="2935224"/>
            <a:ext cx="3172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Imputing gaps to preserve data integrity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457200" y="3849624"/>
            <a:ext cx="3611880" cy="1938528"/>
          </a:xfrm>
          <a:prstGeom prst="roundRect">
            <a:avLst>
              <a:gd name="adj" fmla="val 3774"/>
            </a:avLst>
          </a:prstGeom>
          <a:solidFill>
            <a:srgbClr val="FBFCFE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76656" y="4069080"/>
            <a:ext cx="402336" cy="402336"/>
          </a:xfrm>
          <a:prstGeom prst="ellipse">
            <a:avLst/>
          </a:prstGeom>
          <a:solidFill>
            <a:srgbClr val="00335C"/>
          </a:solidFill>
          <a:ln/>
        </p:spPr>
      </p:sp>
      <p:sp>
        <p:nvSpPr>
          <p:cNvPr id="31" name="Text 26"/>
          <p:cNvSpPr/>
          <p:nvPr/>
        </p:nvSpPr>
        <p:spPr>
          <a:xfrm>
            <a:off x="676656" y="4069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3282696" y="4050792"/>
            <a:ext cx="548640" cy="548640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33" name="Image 3" descr="/home/claude/nestle_ppt2/icons/slid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6762" y="4124858"/>
            <a:ext cx="400507" cy="400507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76656" y="4745736"/>
            <a:ext cx="3172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35" name="Text 29"/>
          <p:cNvSpPr/>
          <p:nvPr/>
        </p:nvSpPr>
        <p:spPr>
          <a:xfrm>
            <a:off x="676656" y="5093208"/>
            <a:ext cx="3172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Deriving predictive business signals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4087368" y="4818888"/>
            <a:ext cx="146304" cy="0"/>
          </a:xfrm>
          <a:prstGeom prst="line">
            <a:avLst/>
          </a:prstGeom>
          <a:noFill/>
          <a:ln w="25400">
            <a:solidFill>
              <a:srgbClr val="4DA3E0"/>
            </a:solidFill>
            <a:prstDash val="solid"/>
            <a:tailEnd type="triangle"/>
          </a:ln>
        </p:spPr>
      </p:sp>
      <p:sp>
        <p:nvSpPr>
          <p:cNvPr id="37" name="Shape 31"/>
          <p:cNvSpPr/>
          <p:nvPr/>
        </p:nvSpPr>
        <p:spPr>
          <a:xfrm>
            <a:off x="4251960" y="3849624"/>
            <a:ext cx="3611880" cy="1938528"/>
          </a:xfrm>
          <a:prstGeom prst="roundRect">
            <a:avLst>
              <a:gd name="adj" fmla="val 3774"/>
            </a:avLst>
          </a:prstGeom>
          <a:solidFill>
            <a:srgbClr val="FBFCFE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4471416" y="4069080"/>
            <a:ext cx="402336" cy="402336"/>
          </a:xfrm>
          <a:prstGeom prst="ellipse">
            <a:avLst/>
          </a:prstGeom>
          <a:solidFill>
            <a:srgbClr val="00335C"/>
          </a:solidFill>
          <a:ln/>
        </p:spPr>
      </p:sp>
      <p:sp>
        <p:nvSpPr>
          <p:cNvPr id="39" name="Text 33"/>
          <p:cNvSpPr/>
          <p:nvPr/>
        </p:nvSpPr>
        <p:spPr>
          <a:xfrm>
            <a:off x="4471416" y="4069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Shape 34"/>
          <p:cNvSpPr/>
          <p:nvPr/>
        </p:nvSpPr>
        <p:spPr>
          <a:xfrm>
            <a:off x="7077456" y="4050792"/>
            <a:ext cx="548640" cy="548640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41" name="Image 4" descr="/home/claude/nestle_ppt2/icons/sca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1522" y="4124858"/>
            <a:ext cx="400507" cy="400507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4471416" y="4745736"/>
            <a:ext cx="3172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350" dirty="0"/>
          </a:p>
        </p:txBody>
      </p:sp>
      <p:sp>
        <p:nvSpPr>
          <p:cNvPr id="43" name="Text 36"/>
          <p:cNvSpPr/>
          <p:nvPr/>
        </p:nvSpPr>
        <p:spPr>
          <a:xfrm>
            <a:off x="4471416" y="5093208"/>
            <a:ext cx="3172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Normalizing inputs for model readiness</a:t>
            </a:r>
            <a:endParaRPr 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7882128" y="4818888"/>
            <a:ext cx="146304" cy="0"/>
          </a:xfrm>
          <a:prstGeom prst="line">
            <a:avLst/>
          </a:prstGeom>
          <a:noFill/>
          <a:ln w="25400">
            <a:solidFill>
              <a:srgbClr val="4DA3E0"/>
            </a:solidFill>
            <a:prstDash val="solid"/>
            <a:tailEnd type="triangle"/>
          </a:ln>
        </p:spPr>
      </p:sp>
      <p:sp>
        <p:nvSpPr>
          <p:cNvPr id="45" name="Shape 38"/>
          <p:cNvSpPr/>
          <p:nvPr/>
        </p:nvSpPr>
        <p:spPr>
          <a:xfrm>
            <a:off x="8046720" y="3849624"/>
            <a:ext cx="3611880" cy="1938528"/>
          </a:xfrm>
          <a:prstGeom prst="roundRect">
            <a:avLst>
              <a:gd name="adj" fmla="val 3774"/>
            </a:avLst>
          </a:prstGeom>
          <a:solidFill>
            <a:srgbClr val="FBFCFE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8266176" y="4069080"/>
            <a:ext cx="402336" cy="402336"/>
          </a:xfrm>
          <a:prstGeom prst="ellipse">
            <a:avLst/>
          </a:prstGeom>
          <a:solidFill>
            <a:srgbClr val="00335C"/>
          </a:solidFill>
          <a:ln/>
        </p:spPr>
      </p:sp>
      <p:sp>
        <p:nvSpPr>
          <p:cNvPr id="47" name="Text 40"/>
          <p:cNvSpPr/>
          <p:nvPr/>
        </p:nvSpPr>
        <p:spPr>
          <a:xfrm>
            <a:off x="8266176" y="4069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10872216" y="4050792"/>
            <a:ext cx="548640" cy="548640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49" name="Image 5" descr="/home/claude/nestle_ppt2/icons/serve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6282" y="4124858"/>
            <a:ext cx="400507" cy="400507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8266176" y="4745736"/>
            <a:ext cx="3172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Dataset Creation</a:t>
            </a:r>
            <a:endParaRPr lang="en-US" sz="1350" dirty="0"/>
          </a:p>
        </p:txBody>
      </p:sp>
      <p:sp>
        <p:nvSpPr>
          <p:cNvPr id="51" name="Text 43"/>
          <p:cNvSpPr/>
          <p:nvPr/>
        </p:nvSpPr>
        <p:spPr>
          <a:xfrm>
            <a:off x="8266176" y="5093208"/>
            <a:ext cx="3172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dataset powering AI &amp; optimization</a:t>
            </a:r>
            <a:endParaRPr lang="en-US" sz="1050" dirty="0"/>
          </a:p>
        </p:txBody>
      </p:sp>
      <p:sp>
        <p:nvSpPr>
          <p:cNvPr id="52" name="Text 4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800" dirty="0"/>
          </a:p>
        </p:txBody>
      </p:sp>
      <p:sp>
        <p:nvSpPr>
          <p:cNvPr id="53" name="Text 45"/>
          <p:cNvSpPr/>
          <p:nvPr/>
        </p:nvSpPr>
        <p:spPr>
          <a:xfrm>
            <a:off x="8076895" y="6473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endParaRPr lang="en-US" sz="800" dirty="0"/>
          </a:p>
        </p:txBody>
      </p:sp>
      <p:sp>
        <p:nvSpPr>
          <p:cNvPr id="54" name="Text 46"/>
          <p:cNvSpPr/>
          <p:nvPr/>
        </p:nvSpPr>
        <p:spPr>
          <a:xfrm>
            <a:off x="11414455" y="6473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4747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 ·  DOM  ·  QUANTUM + AI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Solution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548640" cy="548640"/>
          </a:xfrm>
          <a:prstGeom prst="ellipse">
            <a:avLst/>
          </a:prstGeom>
          <a:solidFill>
            <a:srgbClr val="00335C"/>
          </a:solidFill>
          <a:ln/>
        </p:spPr>
      </p:sp>
      <p:pic>
        <p:nvPicPr>
          <p:cNvPr id="7" name="Image 0" descr="/home/claude/nestle_ppt2/icons/tre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266" y="1701698"/>
            <a:ext cx="400507" cy="40050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609344"/>
            <a:ext cx="4498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70432" y="1901952"/>
            <a:ext cx="4498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 for robust predictions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2523744"/>
            <a:ext cx="548640" cy="548640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11" name="Image 1" descr="/home/claude/nestle_ppt2/icons/chartLi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" y="2597810"/>
            <a:ext cx="400507" cy="40050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70432" y="2505456"/>
            <a:ext cx="4498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70432" y="2798064"/>
            <a:ext cx="4498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order volume by region &amp; SKU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3419856"/>
            <a:ext cx="548640" cy="548640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15" name="Image 2" descr="/home/claude/nestle_ppt2/icons/boxesStacke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6" y="3493922"/>
            <a:ext cx="400507" cy="40050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70432" y="3401568"/>
            <a:ext cx="4498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Prediction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170432" y="3694176"/>
            <a:ext cx="4498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Anticipates stock needs across nodes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57200" y="4315968"/>
            <a:ext cx="548640" cy="548640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19" name="Image 3" descr="/home/claude/nestle_ppt2/icons/gaug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266" y="4390034"/>
            <a:ext cx="400507" cy="40050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70432" y="4297680"/>
            <a:ext cx="4498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Estimation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170432" y="4590288"/>
            <a:ext cx="4498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Quantifies certainty behind each forecast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57200" y="5212080"/>
            <a:ext cx="548640" cy="548640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23" name="Image 4" descr="/home/claude/nestle_ppt2/icons/lightbulb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" y="5286146"/>
            <a:ext cx="400507" cy="40050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70432" y="5193792"/>
            <a:ext cx="4498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1170432" y="5486400"/>
            <a:ext cx="4498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predictions into planner actions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6446520" y="1554480"/>
            <a:ext cx="5257800" cy="4617720"/>
          </a:xfrm>
          <a:prstGeom prst="roundRect">
            <a:avLst>
              <a:gd name="adj" fmla="val 1782"/>
            </a:avLst>
          </a:prstGeom>
          <a:solidFill>
            <a:srgbClr val="EEF4FA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720840" y="170078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3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720840" y="2148840"/>
            <a:ext cx="457200" cy="457200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29" name="Image 5" descr="/home/claude/nestle_ppt2/icons/clockRotat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2562" y="2210562"/>
            <a:ext cx="333756" cy="333756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7379208" y="2121408"/>
            <a:ext cx="4050792" cy="512064"/>
          </a:xfrm>
          <a:prstGeom prst="roundRect">
            <a:avLst>
              <a:gd name="adj" fmla="val 10714"/>
            </a:avLst>
          </a:prstGeom>
          <a:solidFill>
            <a:srgbClr val="EEF4FA"/>
          </a:solidFill>
          <a:ln/>
        </p:spPr>
      </p:sp>
      <p:sp>
        <p:nvSpPr>
          <p:cNvPr id="31" name="Text 23"/>
          <p:cNvSpPr/>
          <p:nvPr/>
        </p:nvSpPr>
        <p:spPr>
          <a:xfrm>
            <a:off x="7562088" y="2121408"/>
            <a:ext cx="3703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6949440" y="2606040"/>
            <a:ext cx="0" cy="365760"/>
          </a:xfrm>
          <a:prstGeom prst="line">
            <a:avLst/>
          </a:prstGeom>
          <a:noFill/>
          <a:ln w="25400">
            <a:solidFill>
              <a:srgbClr val="4DA3E0"/>
            </a:solidFill>
            <a:prstDash val="solid"/>
            <a:tailEnd type="triangle"/>
          </a:ln>
        </p:spPr>
      </p:sp>
      <p:sp>
        <p:nvSpPr>
          <p:cNvPr id="33" name="Shape 25"/>
          <p:cNvSpPr/>
          <p:nvPr/>
        </p:nvSpPr>
        <p:spPr>
          <a:xfrm>
            <a:off x="6720840" y="2971800"/>
            <a:ext cx="457200" cy="457200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34" name="Image 6" descr="/home/claude/nestle_ppt2/icons/brain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2562" y="3033522"/>
            <a:ext cx="333756" cy="333756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7379208" y="2944368"/>
            <a:ext cx="4050792" cy="512064"/>
          </a:xfrm>
          <a:prstGeom prst="roundRect">
            <a:avLst>
              <a:gd name="adj" fmla="val 10714"/>
            </a:avLst>
          </a:prstGeom>
          <a:solidFill>
            <a:srgbClr val="EEF4FA"/>
          </a:solidFill>
          <a:ln/>
        </p:spPr>
      </p:sp>
      <p:sp>
        <p:nvSpPr>
          <p:cNvPr id="36" name="Text 27"/>
          <p:cNvSpPr/>
          <p:nvPr/>
        </p:nvSpPr>
        <p:spPr>
          <a:xfrm>
            <a:off x="7562088" y="2944368"/>
            <a:ext cx="3703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50" dirty="0"/>
          </a:p>
        </p:txBody>
      </p:sp>
      <p:sp>
        <p:nvSpPr>
          <p:cNvPr id="37" name="Shape 28"/>
          <p:cNvSpPr/>
          <p:nvPr/>
        </p:nvSpPr>
        <p:spPr>
          <a:xfrm>
            <a:off x="6949440" y="3429000"/>
            <a:ext cx="0" cy="365760"/>
          </a:xfrm>
          <a:prstGeom prst="line">
            <a:avLst/>
          </a:prstGeom>
          <a:noFill/>
          <a:ln w="25400">
            <a:solidFill>
              <a:srgbClr val="4DA3E0"/>
            </a:solidFill>
            <a:prstDash val="solid"/>
            <a:tailEnd type="triangle"/>
          </a:ln>
        </p:spPr>
      </p:sp>
      <p:sp>
        <p:nvSpPr>
          <p:cNvPr id="38" name="Shape 29"/>
          <p:cNvSpPr/>
          <p:nvPr/>
        </p:nvSpPr>
        <p:spPr>
          <a:xfrm>
            <a:off x="6720840" y="3794760"/>
            <a:ext cx="457200" cy="457200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39" name="Image 7" descr="/home/claude/nestle_ppt2/icons/chartLine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2562" y="3856482"/>
            <a:ext cx="333756" cy="333756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7379208" y="3767328"/>
            <a:ext cx="4050792" cy="512064"/>
          </a:xfrm>
          <a:prstGeom prst="roundRect">
            <a:avLst>
              <a:gd name="adj" fmla="val 10714"/>
            </a:avLst>
          </a:prstGeom>
          <a:solidFill>
            <a:srgbClr val="EEF4FA"/>
          </a:solidFill>
          <a:ln/>
        </p:spPr>
      </p:sp>
      <p:sp>
        <p:nvSpPr>
          <p:cNvPr id="41" name="Text 31"/>
          <p:cNvSpPr/>
          <p:nvPr/>
        </p:nvSpPr>
        <p:spPr>
          <a:xfrm>
            <a:off x="7562088" y="3767328"/>
            <a:ext cx="3703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</a:t>
            </a:r>
            <a:endParaRPr lang="en-US" sz="1250" dirty="0"/>
          </a:p>
        </p:txBody>
      </p:sp>
      <p:sp>
        <p:nvSpPr>
          <p:cNvPr id="42" name="Shape 32"/>
          <p:cNvSpPr/>
          <p:nvPr/>
        </p:nvSpPr>
        <p:spPr>
          <a:xfrm>
            <a:off x="6949440" y="4251960"/>
            <a:ext cx="0" cy="365760"/>
          </a:xfrm>
          <a:prstGeom prst="line">
            <a:avLst/>
          </a:prstGeom>
          <a:noFill/>
          <a:ln w="25400">
            <a:solidFill>
              <a:srgbClr val="4DA3E0"/>
            </a:solidFill>
            <a:prstDash val="solid"/>
            <a:tailEnd type="triangle"/>
          </a:ln>
        </p:spPr>
      </p:sp>
      <p:sp>
        <p:nvSpPr>
          <p:cNvPr id="43" name="Shape 33"/>
          <p:cNvSpPr/>
          <p:nvPr/>
        </p:nvSpPr>
        <p:spPr>
          <a:xfrm>
            <a:off x="6720840" y="4617720"/>
            <a:ext cx="457200" cy="457200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44" name="Image 8" descr="/home/claude/nestle_ppt2/icons/boxesStacked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2562" y="4679442"/>
            <a:ext cx="333756" cy="333756"/>
          </a:xfrm>
          <a:prstGeom prst="rect">
            <a:avLst/>
          </a:prstGeom>
        </p:spPr>
      </p:pic>
      <p:sp>
        <p:nvSpPr>
          <p:cNvPr id="45" name="Shape 34"/>
          <p:cNvSpPr/>
          <p:nvPr/>
        </p:nvSpPr>
        <p:spPr>
          <a:xfrm>
            <a:off x="7379208" y="4590288"/>
            <a:ext cx="4050792" cy="512064"/>
          </a:xfrm>
          <a:prstGeom prst="roundRect">
            <a:avLst>
              <a:gd name="adj" fmla="val 10714"/>
            </a:avLst>
          </a:prstGeom>
          <a:solidFill>
            <a:srgbClr val="EEF4FA"/>
          </a:solidFill>
          <a:ln/>
        </p:spPr>
      </p:sp>
      <p:sp>
        <p:nvSpPr>
          <p:cNvPr id="46" name="Text 35"/>
          <p:cNvSpPr/>
          <p:nvPr/>
        </p:nvSpPr>
        <p:spPr>
          <a:xfrm>
            <a:off x="7562088" y="4590288"/>
            <a:ext cx="3703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Forecast</a:t>
            </a:r>
            <a:endParaRPr lang="en-US" sz="1250" dirty="0"/>
          </a:p>
        </p:txBody>
      </p:sp>
      <p:sp>
        <p:nvSpPr>
          <p:cNvPr id="47" name="Shape 36"/>
          <p:cNvSpPr/>
          <p:nvPr/>
        </p:nvSpPr>
        <p:spPr>
          <a:xfrm>
            <a:off x="6949440" y="5074920"/>
            <a:ext cx="0" cy="365760"/>
          </a:xfrm>
          <a:prstGeom prst="line">
            <a:avLst/>
          </a:prstGeom>
          <a:noFill/>
          <a:ln w="25400">
            <a:solidFill>
              <a:srgbClr val="4DA3E0"/>
            </a:solidFill>
            <a:prstDash val="solid"/>
            <a:tailEnd type="triangle"/>
          </a:ln>
        </p:spPr>
      </p:sp>
      <p:sp>
        <p:nvSpPr>
          <p:cNvPr id="48" name="Shape 37"/>
          <p:cNvSpPr/>
          <p:nvPr/>
        </p:nvSpPr>
        <p:spPr>
          <a:xfrm>
            <a:off x="6720840" y="5440680"/>
            <a:ext cx="457200" cy="457200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49" name="Image 9" descr="/home/claude/nestle_ppt2/icons/lightbulb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2562" y="5502402"/>
            <a:ext cx="333756" cy="333756"/>
          </a:xfrm>
          <a:prstGeom prst="rect">
            <a:avLst/>
          </a:prstGeom>
        </p:spPr>
      </p:pic>
      <p:sp>
        <p:nvSpPr>
          <p:cNvPr id="50" name="Shape 38"/>
          <p:cNvSpPr/>
          <p:nvPr/>
        </p:nvSpPr>
        <p:spPr>
          <a:xfrm>
            <a:off x="7379208" y="5413248"/>
            <a:ext cx="4050792" cy="512064"/>
          </a:xfrm>
          <a:prstGeom prst="roundRect">
            <a:avLst>
              <a:gd name="adj" fmla="val 10714"/>
            </a:avLst>
          </a:prstGeom>
          <a:solidFill>
            <a:srgbClr val="EEF4FA"/>
          </a:solidFill>
          <a:ln/>
        </p:spPr>
      </p:sp>
      <p:sp>
        <p:nvSpPr>
          <p:cNvPr id="51" name="Text 39"/>
          <p:cNvSpPr/>
          <p:nvPr/>
        </p:nvSpPr>
        <p:spPr>
          <a:xfrm>
            <a:off x="7562088" y="5413248"/>
            <a:ext cx="3703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</a:t>
            </a:r>
            <a:endParaRPr lang="en-US" sz="1250" dirty="0"/>
          </a:p>
        </p:txBody>
      </p:sp>
      <p:sp>
        <p:nvSpPr>
          <p:cNvPr id="52" name="Text 4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800" dirty="0"/>
          </a:p>
        </p:txBody>
      </p:sp>
      <p:sp>
        <p:nvSpPr>
          <p:cNvPr id="53" name="Text 41"/>
          <p:cNvSpPr/>
          <p:nvPr/>
        </p:nvSpPr>
        <p:spPr>
          <a:xfrm>
            <a:off x="8076895" y="6473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endParaRPr lang="en-US" sz="800" dirty="0"/>
          </a:p>
        </p:txBody>
      </p:sp>
      <p:sp>
        <p:nvSpPr>
          <p:cNvPr id="54" name="Text 42"/>
          <p:cNvSpPr/>
          <p:nvPr/>
        </p:nvSpPr>
        <p:spPr>
          <a:xfrm>
            <a:off x="11414455" y="6473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4747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 ·  DOM  ·  QUANTUM + AI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FRAMEWORK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and Quantum Optimization, Working Together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BFCFE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0055A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148840"/>
            <a:ext cx="5440680" cy="320040"/>
          </a:xfrm>
          <a:prstGeom prst="rect">
            <a:avLst/>
          </a:prstGeom>
          <a:solidFill>
            <a:srgbClr val="0055A4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819656"/>
            <a:ext cx="512064" cy="512064"/>
          </a:xfrm>
          <a:prstGeom prst="ellipse">
            <a:avLst/>
          </a:prstGeom>
          <a:solidFill>
            <a:srgbClr val="00335C"/>
          </a:solidFill>
          <a:ln/>
        </p:spPr>
      </p:sp>
      <p:pic>
        <p:nvPicPr>
          <p:cNvPr id="10" name="Image 0" descr="/home/claude/nestle_ppt2/icons/calculato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497" y="1888785"/>
            <a:ext cx="373807" cy="37380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187452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Optimization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85800" y="2651760"/>
            <a:ext cx="512064" cy="512064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13" name="Image 1" descr="/home/claude/nestle_ppt2/icons/list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9" y="2720889"/>
            <a:ext cx="373807" cy="37380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53312" y="2633472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Assignment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353312" y="291693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rule-based fulfillment logic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85800" y="3675888"/>
            <a:ext cx="512064" cy="512064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17" name="Image 2" descr="/home/claude/nestle_ppt2/icons/bo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29" y="3745017"/>
            <a:ext cx="373807" cy="37380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53312" y="3657600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Assignment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353312" y="394106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local best-choice heuristics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85800" y="4700016"/>
            <a:ext cx="512064" cy="512064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21" name="Image 3" descr="/home/claude/nestle_ppt2/icons/chartSimp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929" y="4769145"/>
            <a:ext cx="373807" cy="37380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53312" y="4681728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Programming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353312" y="4965192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solutions for structured problems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263640" y="169164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BFCFE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263640" y="169164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00335C"/>
          </a:solidFill>
          <a:ln/>
        </p:spPr>
      </p:sp>
      <p:sp>
        <p:nvSpPr>
          <p:cNvPr id="26" name="Shape 20"/>
          <p:cNvSpPr/>
          <p:nvPr/>
        </p:nvSpPr>
        <p:spPr>
          <a:xfrm>
            <a:off x="6263640" y="2148840"/>
            <a:ext cx="5440680" cy="320040"/>
          </a:xfrm>
          <a:prstGeom prst="rect">
            <a:avLst/>
          </a:prstGeom>
          <a:solidFill>
            <a:srgbClr val="00335C"/>
          </a:solidFill>
          <a:ln/>
        </p:spPr>
      </p:sp>
      <p:sp>
        <p:nvSpPr>
          <p:cNvPr id="27" name="Shape 21"/>
          <p:cNvSpPr/>
          <p:nvPr/>
        </p:nvSpPr>
        <p:spPr>
          <a:xfrm>
            <a:off x="6464808" y="1819656"/>
            <a:ext cx="512064" cy="512064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28" name="Image 4" descr="/home/claude/nestle_ppt2/icons/atom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3937" y="1888785"/>
            <a:ext cx="373807" cy="37380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086600" y="187452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Optimization</a:t>
            </a:r>
            <a:endParaRPr lang="en-US" sz="1550" dirty="0"/>
          </a:p>
        </p:txBody>
      </p:sp>
      <p:sp>
        <p:nvSpPr>
          <p:cNvPr id="30" name="Shape 23"/>
          <p:cNvSpPr/>
          <p:nvPr/>
        </p:nvSpPr>
        <p:spPr>
          <a:xfrm>
            <a:off x="6492240" y="2651760"/>
            <a:ext cx="512064" cy="512064"/>
          </a:xfrm>
          <a:prstGeom prst="ellipse">
            <a:avLst/>
          </a:prstGeom>
          <a:solidFill>
            <a:srgbClr val="00335C"/>
          </a:solidFill>
          <a:ln/>
        </p:spPr>
      </p:sp>
      <p:pic>
        <p:nvPicPr>
          <p:cNvPr id="31" name="Image 5" descr="/home/claude/nestle_ppt2/icons/cube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1369" y="2720889"/>
            <a:ext cx="373807" cy="37380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59752" y="2633472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Formulation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7159752" y="291693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Reframes assignment as a quantum-solvable model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492240" y="3675888"/>
            <a:ext cx="512064" cy="512064"/>
          </a:xfrm>
          <a:prstGeom prst="ellipse">
            <a:avLst/>
          </a:prstGeom>
          <a:solidFill>
            <a:srgbClr val="00335C"/>
          </a:solidFill>
          <a:ln/>
        </p:spPr>
      </p:sp>
      <p:pic>
        <p:nvPicPr>
          <p:cNvPr id="35" name="Image 6" descr="/home/claude/nestle_ppt2/icons/chip2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1369" y="3745017"/>
            <a:ext cx="373807" cy="373807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159752" y="3657600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&amp; PennyLane</a:t>
            </a:r>
            <a:endParaRPr lang="en-US" sz="1250" dirty="0"/>
          </a:p>
        </p:txBody>
      </p:sp>
      <p:sp>
        <p:nvSpPr>
          <p:cNvPr id="37" name="Text 28"/>
          <p:cNvSpPr/>
          <p:nvPr/>
        </p:nvSpPr>
        <p:spPr>
          <a:xfrm>
            <a:off x="7159752" y="394106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quantum computing frameworks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6492240" y="4700016"/>
            <a:ext cx="512064" cy="512064"/>
          </a:xfrm>
          <a:prstGeom prst="ellipse">
            <a:avLst/>
          </a:prstGeom>
          <a:solidFill>
            <a:srgbClr val="00335C"/>
          </a:solidFill>
          <a:ln/>
        </p:spPr>
      </p:sp>
      <p:pic>
        <p:nvPicPr>
          <p:cNvPr id="39" name="Image 7" descr="/home/claude/nestle_ppt2/icons/merge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1369" y="4769145"/>
            <a:ext cx="373807" cy="373807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159752" y="4681728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Solver</a:t>
            </a:r>
            <a:endParaRPr lang="en-US" sz="1250" dirty="0"/>
          </a:p>
        </p:txBody>
      </p:sp>
      <p:sp>
        <p:nvSpPr>
          <p:cNvPr id="41" name="Text 31"/>
          <p:cNvSpPr/>
          <p:nvPr/>
        </p:nvSpPr>
        <p:spPr>
          <a:xfrm>
            <a:off x="7159752" y="4965192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classical and quantum strengths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5806440" y="3497580"/>
            <a:ext cx="548640" cy="548640"/>
          </a:xfrm>
          <a:prstGeom prst="ellipse">
            <a:avLst/>
          </a:prstGeom>
          <a:solidFill>
            <a:srgbClr val="4DA3E0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43" name="Image 8" descr="/home/claude/nestle_ppt2/icons/link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0506" y="3571646"/>
            <a:ext cx="400507" cy="400507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800" dirty="0"/>
          </a:p>
        </p:txBody>
      </p:sp>
      <p:sp>
        <p:nvSpPr>
          <p:cNvPr id="45" name="Text 34"/>
          <p:cNvSpPr/>
          <p:nvPr/>
        </p:nvSpPr>
        <p:spPr>
          <a:xfrm>
            <a:off x="8076895" y="6473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endParaRPr lang="en-US" sz="800" dirty="0"/>
          </a:p>
        </p:txBody>
      </p:sp>
      <p:sp>
        <p:nvSpPr>
          <p:cNvPr id="46" name="Text 35"/>
          <p:cNvSpPr/>
          <p:nvPr/>
        </p:nvSpPr>
        <p:spPr>
          <a:xfrm>
            <a:off x="11414455" y="6473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4747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 ·  DOM  ·  QUANTUM + AI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INTERFACE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Dashboard — Proposed Modules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7004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88900" dist="25400" dir="5400000">
              <a:srgbClr val="1A2B3C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3504" y="1837944"/>
            <a:ext cx="2377440" cy="128016"/>
          </a:xfrm>
          <a:prstGeom prst="roundRect">
            <a:avLst>
              <a:gd name="adj" fmla="val 21429"/>
            </a:avLst>
          </a:prstGeom>
          <a:solidFill>
            <a:srgbClr val="EEF4FA"/>
          </a:solidFill>
          <a:ln/>
        </p:spPr>
      </p:sp>
      <p:sp>
        <p:nvSpPr>
          <p:cNvPr id="8" name="Shape 6"/>
          <p:cNvSpPr/>
          <p:nvPr/>
        </p:nvSpPr>
        <p:spPr>
          <a:xfrm>
            <a:off x="1481328" y="2075688"/>
            <a:ext cx="621792" cy="621792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9" name="Image 0" descr="/home/claude/nestle_ppt2/icons/chartSimp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5270" y="2159630"/>
            <a:ext cx="453908" cy="4539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5216" y="2862072"/>
            <a:ext cx="24140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00984" y="1691640"/>
            <a:ext cx="267004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88900" dist="25400" dir="5400000">
              <a:srgbClr val="1A2B3C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47288" y="1837944"/>
            <a:ext cx="2377440" cy="128016"/>
          </a:xfrm>
          <a:prstGeom prst="roundRect">
            <a:avLst>
              <a:gd name="adj" fmla="val 21429"/>
            </a:avLst>
          </a:prstGeom>
          <a:solidFill>
            <a:srgbClr val="EEF4FA"/>
          </a:solidFill>
          <a:ln/>
        </p:spPr>
      </p:sp>
      <p:sp>
        <p:nvSpPr>
          <p:cNvPr id="13" name="Shape 10"/>
          <p:cNvSpPr/>
          <p:nvPr/>
        </p:nvSpPr>
        <p:spPr>
          <a:xfrm>
            <a:off x="4325112" y="2075688"/>
            <a:ext cx="621792" cy="621792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14" name="Image 1" descr="/home/claude/nestle_ppt2/icons/serv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9054" y="2159630"/>
            <a:ext cx="453908" cy="4539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29000" y="2862072"/>
            <a:ext cx="24140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44768" y="1691640"/>
            <a:ext cx="267004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88900" dist="25400" dir="5400000">
              <a:srgbClr val="1A2B3C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91072" y="1837944"/>
            <a:ext cx="2377440" cy="128016"/>
          </a:xfrm>
          <a:prstGeom prst="roundRect">
            <a:avLst>
              <a:gd name="adj" fmla="val 21429"/>
            </a:avLst>
          </a:prstGeom>
          <a:solidFill>
            <a:srgbClr val="EEF4FA"/>
          </a:solidFill>
          <a:ln/>
        </p:spPr>
      </p:sp>
      <p:sp>
        <p:nvSpPr>
          <p:cNvPr id="18" name="Shape 14"/>
          <p:cNvSpPr/>
          <p:nvPr/>
        </p:nvSpPr>
        <p:spPr>
          <a:xfrm>
            <a:off x="7168896" y="2075688"/>
            <a:ext cx="621792" cy="621792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19" name="Image 2" descr="/home/claude/nestle_ppt2/icons/robo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838" y="2159630"/>
            <a:ext cx="453908" cy="4539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72784" y="2862072"/>
            <a:ext cx="24140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Prediction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988552" y="1691640"/>
            <a:ext cx="267004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88900" dist="25400" dir="5400000">
              <a:srgbClr val="1A2B3C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134856" y="1837944"/>
            <a:ext cx="2377440" cy="128016"/>
          </a:xfrm>
          <a:prstGeom prst="roundRect">
            <a:avLst>
              <a:gd name="adj" fmla="val 21429"/>
            </a:avLst>
          </a:prstGeom>
          <a:solidFill>
            <a:srgbClr val="EEF4FA"/>
          </a:solidFill>
          <a:ln/>
        </p:spPr>
      </p:sp>
      <p:sp>
        <p:nvSpPr>
          <p:cNvPr id="23" name="Shape 18"/>
          <p:cNvSpPr/>
          <p:nvPr/>
        </p:nvSpPr>
        <p:spPr>
          <a:xfrm>
            <a:off x="10012680" y="2075688"/>
            <a:ext cx="621792" cy="621792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24" name="Image 3" descr="/home/claude/nestle_ppt2/icons/calculato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622" y="2159630"/>
            <a:ext cx="453908" cy="4539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16568" y="2862072"/>
            <a:ext cx="24140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Optimization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57200" y="3767328"/>
            <a:ext cx="267004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88900" dist="25400" dir="5400000">
              <a:srgbClr val="1A2B3C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03504" y="3913632"/>
            <a:ext cx="2377440" cy="128016"/>
          </a:xfrm>
          <a:prstGeom prst="roundRect">
            <a:avLst>
              <a:gd name="adj" fmla="val 21429"/>
            </a:avLst>
          </a:prstGeom>
          <a:solidFill>
            <a:srgbClr val="EEF4FA"/>
          </a:solidFill>
          <a:ln/>
        </p:spPr>
      </p:sp>
      <p:sp>
        <p:nvSpPr>
          <p:cNvPr id="28" name="Shape 22"/>
          <p:cNvSpPr/>
          <p:nvPr/>
        </p:nvSpPr>
        <p:spPr>
          <a:xfrm>
            <a:off x="1481328" y="4151376"/>
            <a:ext cx="621792" cy="621792"/>
          </a:xfrm>
          <a:prstGeom prst="ellipse">
            <a:avLst/>
          </a:prstGeom>
          <a:solidFill>
            <a:srgbClr val="00335C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29" name="Image 4" descr="/home/claude/nestle_ppt2/icons/atom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5270" y="4235318"/>
            <a:ext cx="453908" cy="4539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85216" y="4937760"/>
            <a:ext cx="24140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Optimization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3300984" y="3767328"/>
            <a:ext cx="267004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88900" dist="25400" dir="5400000">
              <a:srgbClr val="1A2B3C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447288" y="3913632"/>
            <a:ext cx="2377440" cy="128016"/>
          </a:xfrm>
          <a:prstGeom prst="roundRect">
            <a:avLst>
              <a:gd name="adj" fmla="val 21429"/>
            </a:avLst>
          </a:prstGeom>
          <a:solidFill>
            <a:srgbClr val="EEF4FA"/>
          </a:solidFill>
          <a:ln/>
        </p:spPr>
      </p:sp>
      <p:sp>
        <p:nvSpPr>
          <p:cNvPr id="33" name="Shape 26"/>
          <p:cNvSpPr/>
          <p:nvPr/>
        </p:nvSpPr>
        <p:spPr>
          <a:xfrm>
            <a:off x="4325112" y="4151376"/>
            <a:ext cx="621792" cy="621792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34" name="Image 5" descr="/home/claude/nestle_ppt2/icons/gaug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9054" y="4235318"/>
            <a:ext cx="453908" cy="45390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429000" y="4937760"/>
            <a:ext cx="24140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6144768" y="3767328"/>
            <a:ext cx="267004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88900" dist="25400" dir="5400000">
              <a:srgbClr val="1A2B3C">
                <a:alpha val="1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291072" y="3913632"/>
            <a:ext cx="2377440" cy="128016"/>
          </a:xfrm>
          <a:prstGeom prst="roundRect">
            <a:avLst>
              <a:gd name="adj" fmla="val 21429"/>
            </a:avLst>
          </a:prstGeom>
          <a:solidFill>
            <a:srgbClr val="EEF4FA"/>
          </a:solidFill>
          <a:ln/>
        </p:spPr>
      </p:sp>
      <p:sp>
        <p:nvSpPr>
          <p:cNvPr id="38" name="Shape 30"/>
          <p:cNvSpPr/>
          <p:nvPr/>
        </p:nvSpPr>
        <p:spPr>
          <a:xfrm>
            <a:off x="7168896" y="4151376"/>
            <a:ext cx="621792" cy="621792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39" name="Image 6" descr="/home/claude/nestle_ppt2/icons/briefcas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2838" y="4235318"/>
            <a:ext cx="453908" cy="45390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272784" y="4937760"/>
            <a:ext cx="24140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Strategy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8988552" y="3767328"/>
            <a:ext cx="267004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  <a:effectLst>
            <a:outerShdw sx="100000" sy="100000" kx="0" ky="0" algn="bl" rotWithShape="0" blurRad="88900" dist="25400" dir="5400000">
              <a:srgbClr val="1A2B3C">
                <a:alpha val="10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9134856" y="3913632"/>
            <a:ext cx="2377440" cy="128016"/>
          </a:xfrm>
          <a:prstGeom prst="roundRect">
            <a:avLst>
              <a:gd name="adj" fmla="val 21429"/>
            </a:avLst>
          </a:prstGeom>
          <a:solidFill>
            <a:srgbClr val="EEF4FA"/>
          </a:solidFill>
          <a:ln/>
        </p:spPr>
      </p:sp>
      <p:sp>
        <p:nvSpPr>
          <p:cNvPr id="43" name="Shape 34"/>
          <p:cNvSpPr/>
          <p:nvPr/>
        </p:nvSpPr>
        <p:spPr>
          <a:xfrm>
            <a:off x="10012680" y="4151376"/>
            <a:ext cx="621792" cy="621792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44" name="Image 7" descr="/home/claude/nestle_ppt2/icons/download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6622" y="4235318"/>
            <a:ext cx="453908" cy="453908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9116568" y="4937760"/>
            <a:ext cx="24140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</a:t>
            </a:r>
            <a:endParaRPr lang="en-US" sz="1200" dirty="0"/>
          </a:p>
        </p:txBody>
      </p:sp>
      <p:sp>
        <p:nvSpPr>
          <p:cNvPr id="46" name="Text 3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800" dirty="0"/>
          </a:p>
        </p:txBody>
      </p:sp>
      <p:sp>
        <p:nvSpPr>
          <p:cNvPr id="47" name="Text 37"/>
          <p:cNvSpPr/>
          <p:nvPr/>
        </p:nvSpPr>
        <p:spPr>
          <a:xfrm>
            <a:off x="8076895" y="6473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endParaRPr lang="en-US" sz="800" dirty="0"/>
          </a:p>
        </p:txBody>
      </p:sp>
      <p:sp>
        <p:nvSpPr>
          <p:cNvPr id="48" name="Text 38"/>
          <p:cNvSpPr/>
          <p:nvPr/>
        </p:nvSpPr>
        <p:spPr>
          <a:xfrm>
            <a:off x="11414455" y="6473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4747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 ·  DOM  ·  QUANTUM + AI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JOURNEY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Decision Flow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9224" y="2331720"/>
            <a:ext cx="914400" cy="91440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7" name="Image 0" descr="/home/claude/nestle_ppt2/icons/c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" y="2455164"/>
            <a:ext cx="667512" cy="6675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4048" y="3374136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9224" y="2276856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755648" y="2788920"/>
            <a:ext cx="82296" cy="0"/>
          </a:xfrm>
          <a:prstGeom prst="line">
            <a:avLst/>
          </a:prstGeom>
          <a:noFill/>
          <a:ln w="31750">
            <a:solidFill>
              <a:srgbClr val="4DA3E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029968" y="2331720"/>
            <a:ext cx="914400" cy="91440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12" name="Image 1" descr="/home/claude/nestle_ppt2/icons/chartLi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412" y="2455164"/>
            <a:ext cx="667512" cy="6675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64792" y="3374136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029968" y="2276856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136392" y="2788920"/>
            <a:ext cx="82296" cy="0"/>
          </a:xfrm>
          <a:prstGeom prst="line">
            <a:avLst/>
          </a:prstGeom>
          <a:noFill/>
          <a:ln w="31750">
            <a:solidFill>
              <a:srgbClr val="4DA3E0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3410712" y="2331720"/>
            <a:ext cx="914400" cy="91440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17" name="Image 2" descr="/home/claude/nestle_ppt2/icons/boxesStacke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4156" y="2455164"/>
            <a:ext cx="667512" cy="6675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145536" y="3374136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Availability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410712" y="2276856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17136" y="2788920"/>
            <a:ext cx="82296" cy="0"/>
          </a:xfrm>
          <a:prstGeom prst="line">
            <a:avLst/>
          </a:prstGeom>
          <a:noFill/>
          <a:ln w="31750">
            <a:solidFill>
              <a:srgbClr val="4DA3E0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4791456" y="2331720"/>
            <a:ext cx="914400" cy="91440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22" name="Image 3" descr="/home/claude/nestle_ppt2/icons/cube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2455164"/>
            <a:ext cx="667512" cy="6675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526280" y="3374136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Engine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791456" y="2276856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897880" y="2788920"/>
            <a:ext cx="82296" cy="0"/>
          </a:xfrm>
          <a:prstGeom prst="line">
            <a:avLst/>
          </a:prstGeom>
          <a:noFill/>
          <a:ln w="31750">
            <a:solidFill>
              <a:srgbClr val="4DA3E0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6172200" y="2331720"/>
            <a:ext cx="914400" cy="91440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27" name="Image 4" descr="/home/claude/nestle_ppt2/icons/warehous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5644" y="2455164"/>
            <a:ext cx="667512" cy="6675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907024" y="3374136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Assignment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6172200" y="2276856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278624" y="2788920"/>
            <a:ext cx="82296" cy="0"/>
          </a:xfrm>
          <a:prstGeom prst="line">
            <a:avLst/>
          </a:prstGeom>
          <a:noFill/>
          <a:ln w="31750">
            <a:solidFill>
              <a:srgbClr val="4DA3E0"/>
            </a:solidFill>
            <a:prstDash val="solid"/>
            <a:tailEnd type="triangle"/>
          </a:ln>
        </p:spPr>
      </p:sp>
      <p:sp>
        <p:nvSpPr>
          <p:cNvPr id="31" name="Shape 24"/>
          <p:cNvSpPr/>
          <p:nvPr/>
        </p:nvSpPr>
        <p:spPr>
          <a:xfrm>
            <a:off x="7552944" y="2331720"/>
            <a:ext cx="914400" cy="91440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32" name="Image 5" descr="/home/claude/nestle_ppt2/icons/lightbulb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6388" y="2455164"/>
            <a:ext cx="667512" cy="66751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287768" y="3374136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7552944" y="2276856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8659368" y="2788920"/>
            <a:ext cx="82296" cy="0"/>
          </a:xfrm>
          <a:prstGeom prst="line">
            <a:avLst/>
          </a:prstGeom>
          <a:noFill/>
          <a:ln w="31750">
            <a:solidFill>
              <a:srgbClr val="4DA3E0"/>
            </a:solidFill>
            <a:prstDash val="solid"/>
            <a:tailEnd type="triangle"/>
          </a:ln>
        </p:spPr>
      </p:sp>
      <p:sp>
        <p:nvSpPr>
          <p:cNvPr id="36" name="Shape 28"/>
          <p:cNvSpPr/>
          <p:nvPr/>
        </p:nvSpPr>
        <p:spPr>
          <a:xfrm>
            <a:off x="8933688" y="2331720"/>
            <a:ext cx="914400" cy="91440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37" name="Image 6" descr="/home/claude/nestle_ppt2/icons/clipboardChec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7132" y="2455164"/>
            <a:ext cx="667512" cy="66751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668512" y="3374136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Approval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8933688" y="2276856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10040112" y="2788920"/>
            <a:ext cx="82296" cy="0"/>
          </a:xfrm>
          <a:prstGeom prst="line">
            <a:avLst/>
          </a:prstGeom>
          <a:noFill/>
          <a:ln w="31750">
            <a:solidFill>
              <a:srgbClr val="4DA3E0"/>
            </a:solidFill>
            <a:prstDash val="solid"/>
            <a:tailEnd type="triangle"/>
          </a:ln>
        </p:spPr>
      </p:sp>
      <p:sp>
        <p:nvSpPr>
          <p:cNvPr id="41" name="Shape 32"/>
          <p:cNvSpPr/>
          <p:nvPr/>
        </p:nvSpPr>
        <p:spPr>
          <a:xfrm>
            <a:off x="10314432" y="2331720"/>
            <a:ext cx="914400" cy="914400"/>
          </a:xfrm>
          <a:prstGeom prst="ellipse">
            <a:avLst/>
          </a:prstGeom>
          <a:solidFill>
            <a:srgbClr val="00335C"/>
          </a:solidFill>
          <a:ln/>
          <a:effectLst>
            <a:outerShdw sx="100000" sy="100000" kx="0" ky="0" algn="bl" rotWithShape="0" blurRad="76200" dist="25400" dir="5400000">
              <a:srgbClr val="1A2B3C">
                <a:alpha val="18000"/>
              </a:srgbClr>
            </a:outerShdw>
          </a:effectLst>
        </p:spPr>
      </p:sp>
      <p:pic>
        <p:nvPicPr>
          <p:cNvPr id="42" name="Image 7" descr="/home/claude/nestle_ppt2/icons/truck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7876" y="2455164"/>
            <a:ext cx="667512" cy="66751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10049256" y="3374136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Delivery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10314432" y="2276856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457200" y="4617720"/>
            <a:ext cx="11247120" cy="685800"/>
          </a:xfrm>
          <a:prstGeom prst="roundRect">
            <a:avLst>
              <a:gd name="adj" fmla="val 9333"/>
            </a:avLst>
          </a:prstGeom>
          <a:solidFill>
            <a:srgbClr val="EEF4FA"/>
          </a:solidFill>
          <a:ln/>
        </p:spPr>
      </p:sp>
      <p:sp>
        <p:nvSpPr>
          <p:cNvPr id="46" name="Text 36"/>
          <p:cNvSpPr/>
          <p:nvPr/>
        </p:nvSpPr>
        <p:spPr>
          <a:xfrm>
            <a:off x="685800" y="461772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closed-loop process — every order flows through prediction, optimization and human oversight before fulfillment.</a:t>
            </a:r>
            <a:endParaRPr lang="en-US" sz="1200" dirty="0"/>
          </a:p>
        </p:txBody>
      </p:sp>
      <p:sp>
        <p:nvSpPr>
          <p:cNvPr id="47" name="Text 3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800" dirty="0"/>
          </a:p>
        </p:txBody>
      </p:sp>
      <p:sp>
        <p:nvSpPr>
          <p:cNvPr id="48" name="Text 38"/>
          <p:cNvSpPr/>
          <p:nvPr/>
        </p:nvSpPr>
        <p:spPr>
          <a:xfrm>
            <a:off x="8076895" y="6473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endParaRPr lang="en-US" sz="800" dirty="0"/>
          </a:p>
        </p:txBody>
      </p:sp>
      <p:sp>
        <p:nvSpPr>
          <p:cNvPr id="49" name="Text 39"/>
          <p:cNvSpPr/>
          <p:nvPr/>
        </p:nvSpPr>
        <p:spPr>
          <a:xfrm>
            <a:off x="11414455" y="6473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4747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 ·  DOM  ·  QUANTUM + AI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CREATION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Business Value — Before vs. After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09360" y="15361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0" y="15361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1247120" cy="512064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883664"/>
            <a:ext cx="384048" cy="384048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11" name="Image 0" descr="/home/claude/nestle_ppt2/icons/truckFas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774" y="1935510"/>
            <a:ext cx="280355" cy="28035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7280" y="1828800"/>
            <a:ext cx="5029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Cost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309360" y="1901952"/>
            <a:ext cx="2194560" cy="365760"/>
          </a:xfrm>
          <a:prstGeom prst="roundRect">
            <a:avLst>
              <a:gd name="adj" fmla="val 75000"/>
            </a:avLst>
          </a:prstGeom>
          <a:solidFill>
            <a:srgbClr val="F6E9E9"/>
          </a:solidFill>
          <a:ln/>
        </p:spPr>
      </p:sp>
      <p:sp>
        <p:nvSpPr>
          <p:cNvPr id="14" name="Text 11"/>
          <p:cNvSpPr/>
          <p:nvPr/>
        </p:nvSpPr>
        <p:spPr>
          <a:xfrm>
            <a:off x="6309360" y="190195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144000" y="1901952"/>
            <a:ext cx="2194560" cy="365760"/>
          </a:xfrm>
          <a:prstGeom prst="roundRect">
            <a:avLst>
              <a:gd name="adj" fmla="val 75000"/>
            </a:avLst>
          </a:prstGeom>
          <a:solidFill>
            <a:srgbClr val="E4F0E8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0" y="190195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6928" y="2395728"/>
            <a:ext cx="384048" cy="384048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18" name="Image 1" descr="/home/claude/nestle_ppt2/icons/boxesStacked2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74" y="2447574"/>
            <a:ext cx="280355" cy="28035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97280" y="2340864"/>
            <a:ext cx="5029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Utilization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309360" y="2414016"/>
            <a:ext cx="2194560" cy="365760"/>
          </a:xfrm>
          <a:prstGeom prst="roundRect">
            <a:avLst>
              <a:gd name="adj" fmla="val 75000"/>
            </a:avLst>
          </a:prstGeom>
          <a:solidFill>
            <a:srgbClr val="F6E9E9"/>
          </a:solidFill>
          <a:ln/>
        </p:spPr>
      </p:sp>
      <p:sp>
        <p:nvSpPr>
          <p:cNvPr id="21" name="Text 17"/>
          <p:cNvSpPr/>
          <p:nvPr/>
        </p:nvSpPr>
        <p:spPr>
          <a:xfrm>
            <a:off x="6309360" y="241401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9144000" y="2414016"/>
            <a:ext cx="2194560" cy="365760"/>
          </a:xfrm>
          <a:prstGeom prst="roundRect">
            <a:avLst>
              <a:gd name="adj" fmla="val 75000"/>
            </a:avLst>
          </a:prstGeom>
          <a:solidFill>
            <a:srgbClr val="E4F0E8"/>
          </a:solidFill>
          <a:ln/>
        </p:spPr>
      </p:sp>
      <p:sp>
        <p:nvSpPr>
          <p:cNvPr id="23" name="Text 19"/>
          <p:cNvSpPr/>
          <p:nvPr/>
        </p:nvSpPr>
        <p:spPr>
          <a:xfrm>
            <a:off x="9144000" y="241401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57200" y="2852928"/>
            <a:ext cx="11247120" cy="512064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25" name="Shape 21"/>
          <p:cNvSpPr/>
          <p:nvPr/>
        </p:nvSpPr>
        <p:spPr>
          <a:xfrm>
            <a:off x="566928" y="2907792"/>
            <a:ext cx="384048" cy="384048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26" name="Image 2" descr="/home/claude/nestle_ppt2/icons/boxOpe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74" y="2959638"/>
            <a:ext cx="280355" cy="28035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097280" y="2852928"/>
            <a:ext cx="5029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Stockouts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309360" y="2926080"/>
            <a:ext cx="2194560" cy="365760"/>
          </a:xfrm>
          <a:prstGeom prst="roundRect">
            <a:avLst>
              <a:gd name="adj" fmla="val 75000"/>
            </a:avLst>
          </a:prstGeom>
          <a:solidFill>
            <a:srgbClr val="F6E9E9"/>
          </a:solidFill>
          <a:ln/>
        </p:spPr>
      </p:sp>
      <p:sp>
        <p:nvSpPr>
          <p:cNvPr id="29" name="Text 24"/>
          <p:cNvSpPr/>
          <p:nvPr/>
        </p:nvSpPr>
        <p:spPr>
          <a:xfrm>
            <a:off x="630936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9144000" y="2926080"/>
            <a:ext cx="2194560" cy="365760"/>
          </a:xfrm>
          <a:prstGeom prst="roundRect">
            <a:avLst>
              <a:gd name="adj" fmla="val 75000"/>
            </a:avLst>
          </a:prstGeom>
          <a:solidFill>
            <a:srgbClr val="E4F0E8"/>
          </a:solidFill>
          <a:ln/>
        </p:spPr>
      </p:sp>
      <p:sp>
        <p:nvSpPr>
          <p:cNvPr id="31" name="Text 26"/>
          <p:cNvSpPr/>
          <p:nvPr/>
        </p:nvSpPr>
        <p:spPr>
          <a:xfrm>
            <a:off x="914400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566928" y="3419856"/>
            <a:ext cx="384048" cy="384048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33" name="Image 3" descr="/home/claude/nestle_ppt2/icons/stopwatc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774" y="3471702"/>
            <a:ext cx="280355" cy="280355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097280" y="3364992"/>
            <a:ext cx="5029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Speed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6309360" y="3438144"/>
            <a:ext cx="2194560" cy="365760"/>
          </a:xfrm>
          <a:prstGeom prst="roundRect">
            <a:avLst>
              <a:gd name="adj" fmla="val 75000"/>
            </a:avLst>
          </a:prstGeom>
          <a:solidFill>
            <a:srgbClr val="F6E9E9"/>
          </a:solidFill>
          <a:ln/>
        </p:spPr>
      </p:sp>
      <p:sp>
        <p:nvSpPr>
          <p:cNvPr id="36" name="Text 30"/>
          <p:cNvSpPr/>
          <p:nvPr/>
        </p:nvSpPr>
        <p:spPr>
          <a:xfrm>
            <a:off x="6309360" y="343814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Slow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9144000" y="3438144"/>
            <a:ext cx="2194560" cy="365760"/>
          </a:xfrm>
          <a:prstGeom prst="roundRect">
            <a:avLst>
              <a:gd name="adj" fmla="val 75000"/>
            </a:avLst>
          </a:prstGeom>
          <a:solidFill>
            <a:srgbClr val="E4F0E8"/>
          </a:solidFill>
          <a:ln/>
        </p:spPr>
      </p:sp>
      <p:sp>
        <p:nvSpPr>
          <p:cNvPr id="38" name="Text 32"/>
          <p:cNvSpPr/>
          <p:nvPr/>
        </p:nvSpPr>
        <p:spPr>
          <a:xfrm>
            <a:off x="9144000" y="343814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457200" y="3877056"/>
            <a:ext cx="11247120" cy="512064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40" name="Shape 34"/>
          <p:cNvSpPr/>
          <p:nvPr/>
        </p:nvSpPr>
        <p:spPr>
          <a:xfrm>
            <a:off x="566928" y="3931920"/>
            <a:ext cx="384048" cy="384048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41" name="Image 4" descr="/home/claude/nestle_ppt2/icons/warehouseFull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74" y="3983766"/>
            <a:ext cx="280355" cy="280355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1097280" y="3877056"/>
            <a:ext cx="5029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Utilization</a:t>
            </a:r>
            <a:endParaRPr lang="en-US" sz="1150" dirty="0"/>
          </a:p>
        </p:txBody>
      </p:sp>
      <p:sp>
        <p:nvSpPr>
          <p:cNvPr id="43" name="Shape 36"/>
          <p:cNvSpPr/>
          <p:nvPr/>
        </p:nvSpPr>
        <p:spPr>
          <a:xfrm>
            <a:off x="6309360" y="3950208"/>
            <a:ext cx="2194560" cy="365760"/>
          </a:xfrm>
          <a:prstGeom prst="roundRect">
            <a:avLst>
              <a:gd name="adj" fmla="val 75000"/>
            </a:avLst>
          </a:prstGeom>
          <a:solidFill>
            <a:srgbClr val="F6E9E9"/>
          </a:solidFill>
          <a:ln/>
        </p:spPr>
      </p:sp>
      <p:sp>
        <p:nvSpPr>
          <p:cNvPr id="44" name="Text 37"/>
          <p:cNvSpPr/>
          <p:nvPr/>
        </p:nvSpPr>
        <p:spPr>
          <a:xfrm>
            <a:off x="6309360" y="39502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Suboptimal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9144000" y="3950208"/>
            <a:ext cx="2194560" cy="365760"/>
          </a:xfrm>
          <a:prstGeom prst="roundRect">
            <a:avLst>
              <a:gd name="adj" fmla="val 75000"/>
            </a:avLst>
          </a:prstGeom>
          <a:solidFill>
            <a:srgbClr val="E4F0E8"/>
          </a:solidFill>
          <a:ln/>
        </p:spPr>
      </p:sp>
      <p:sp>
        <p:nvSpPr>
          <p:cNvPr id="46" name="Text 39"/>
          <p:cNvSpPr/>
          <p:nvPr/>
        </p:nvSpPr>
        <p:spPr>
          <a:xfrm>
            <a:off x="9144000" y="39502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566928" y="4443984"/>
            <a:ext cx="384048" cy="384048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48" name="Image 5" descr="/home/claude/nestle_ppt2/icons/faceSmil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774" y="4495830"/>
            <a:ext cx="280355" cy="280355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1097280" y="4389120"/>
            <a:ext cx="5029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</a:t>
            </a:r>
            <a:endParaRPr lang="en-US" sz="1150" dirty="0"/>
          </a:p>
        </p:txBody>
      </p:sp>
      <p:sp>
        <p:nvSpPr>
          <p:cNvPr id="50" name="Shape 42"/>
          <p:cNvSpPr/>
          <p:nvPr/>
        </p:nvSpPr>
        <p:spPr>
          <a:xfrm>
            <a:off x="6309360" y="4462272"/>
            <a:ext cx="2194560" cy="365760"/>
          </a:xfrm>
          <a:prstGeom prst="roundRect">
            <a:avLst>
              <a:gd name="adj" fmla="val 75000"/>
            </a:avLst>
          </a:prstGeom>
          <a:solidFill>
            <a:srgbClr val="F6E9E9"/>
          </a:solidFill>
          <a:ln/>
        </p:spPr>
      </p:sp>
      <p:sp>
        <p:nvSpPr>
          <p:cNvPr id="51" name="Text 43"/>
          <p:cNvSpPr/>
          <p:nvPr/>
        </p:nvSpPr>
        <p:spPr>
          <a:xfrm>
            <a:off x="6309360" y="44622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Pressure</a:t>
            </a:r>
            <a:endParaRPr lang="en-US" sz="1000" dirty="0"/>
          </a:p>
        </p:txBody>
      </p:sp>
      <p:sp>
        <p:nvSpPr>
          <p:cNvPr id="52" name="Shape 44"/>
          <p:cNvSpPr/>
          <p:nvPr/>
        </p:nvSpPr>
        <p:spPr>
          <a:xfrm>
            <a:off x="9144000" y="4462272"/>
            <a:ext cx="2194560" cy="365760"/>
          </a:xfrm>
          <a:prstGeom prst="roundRect">
            <a:avLst>
              <a:gd name="adj" fmla="val 75000"/>
            </a:avLst>
          </a:prstGeom>
          <a:solidFill>
            <a:srgbClr val="E4F0E8"/>
          </a:solidFill>
          <a:ln/>
        </p:spPr>
      </p:sp>
      <p:sp>
        <p:nvSpPr>
          <p:cNvPr id="53" name="Text 45"/>
          <p:cNvSpPr/>
          <p:nvPr/>
        </p:nvSpPr>
        <p:spPr>
          <a:xfrm>
            <a:off x="9144000" y="44622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1000" dirty="0"/>
          </a:p>
        </p:txBody>
      </p:sp>
      <p:sp>
        <p:nvSpPr>
          <p:cNvPr id="54" name="Shape 46"/>
          <p:cNvSpPr/>
          <p:nvPr/>
        </p:nvSpPr>
        <p:spPr>
          <a:xfrm>
            <a:off x="457200" y="4901184"/>
            <a:ext cx="11247120" cy="512064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55" name="Shape 47"/>
          <p:cNvSpPr/>
          <p:nvPr/>
        </p:nvSpPr>
        <p:spPr>
          <a:xfrm>
            <a:off x="566928" y="4956048"/>
            <a:ext cx="384048" cy="384048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56" name="Image 6" descr="/home/claude/nestle_ppt2/icons/brain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774" y="5007894"/>
            <a:ext cx="280355" cy="280355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1097280" y="4901184"/>
            <a:ext cx="5029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1150" dirty="0"/>
          </a:p>
        </p:txBody>
      </p:sp>
      <p:sp>
        <p:nvSpPr>
          <p:cNvPr id="58" name="Shape 49"/>
          <p:cNvSpPr/>
          <p:nvPr/>
        </p:nvSpPr>
        <p:spPr>
          <a:xfrm>
            <a:off x="6309360" y="4974336"/>
            <a:ext cx="2194560" cy="365760"/>
          </a:xfrm>
          <a:prstGeom prst="roundRect">
            <a:avLst>
              <a:gd name="adj" fmla="val 75000"/>
            </a:avLst>
          </a:prstGeom>
          <a:solidFill>
            <a:srgbClr val="F6E9E9"/>
          </a:solidFill>
          <a:ln/>
        </p:spPr>
      </p:sp>
      <p:sp>
        <p:nvSpPr>
          <p:cNvPr id="59" name="Text 50"/>
          <p:cNvSpPr/>
          <p:nvPr/>
        </p:nvSpPr>
        <p:spPr>
          <a:xfrm>
            <a:off x="6309360" y="497433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Experience-Based</a:t>
            </a:r>
            <a:endParaRPr lang="en-US" sz="1000" dirty="0"/>
          </a:p>
        </p:txBody>
      </p:sp>
      <p:sp>
        <p:nvSpPr>
          <p:cNvPr id="60" name="Shape 51"/>
          <p:cNvSpPr/>
          <p:nvPr/>
        </p:nvSpPr>
        <p:spPr>
          <a:xfrm>
            <a:off x="9144000" y="4974336"/>
            <a:ext cx="2194560" cy="365760"/>
          </a:xfrm>
          <a:prstGeom prst="roundRect">
            <a:avLst>
              <a:gd name="adj" fmla="val 75000"/>
            </a:avLst>
          </a:prstGeom>
          <a:solidFill>
            <a:srgbClr val="E4F0E8"/>
          </a:solidFill>
          <a:ln/>
        </p:spPr>
      </p:sp>
      <p:sp>
        <p:nvSpPr>
          <p:cNvPr id="61" name="Text 52"/>
          <p:cNvSpPr/>
          <p:nvPr/>
        </p:nvSpPr>
        <p:spPr>
          <a:xfrm>
            <a:off x="9144000" y="497433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</a:t>
            </a:r>
            <a:endParaRPr lang="en-US" sz="1000" dirty="0"/>
          </a:p>
        </p:txBody>
      </p:sp>
      <p:sp>
        <p:nvSpPr>
          <p:cNvPr id="62" name="Shape 53"/>
          <p:cNvSpPr/>
          <p:nvPr/>
        </p:nvSpPr>
        <p:spPr>
          <a:xfrm>
            <a:off x="566928" y="5468112"/>
            <a:ext cx="384048" cy="384048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63" name="Image 7" descr="/home/claude/nestle_ppt2/icons/atom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774" y="5519958"/>
            <a:ext cx="280355" cy="280355"/>
          </a:xfrm>
          <a:prstGeom prst="rect">
            <a:avLst/>
          </a:prstGeom>
        </p:spPr>
      </p:pic>
      <p:sp>
        <p:nvSpPr>
          <p:cNvPr id="64" name="Text 54"/>
          <p:cNvSpPr/>
          <p:nvPr/>
        </p:nvSpPr>
        <p:spPr>
          <a:xfrm>
            <a:off x="1097280" y="5413248"/>
            <a:ext cx="5029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Readiness</a:t>
            </a:r>
            <a:endParaRPr lang="en-US" sz="1150" dirty="0"/>
          </a:p>
        </p:txBody>
      </p:sp>
      <p:sp>
        <p:nvSpPr>
          <p:cNvPr id="65" name="Shape 55"/>
          <p:cNvSpPr/>
          <p:nvPr/>
        </p:nvSpPr>
        <p:spPr>
          <a:xfrm>
            <a:off x="6309360" y="5486400"/>
            <a:ext cx="2194560" cy="365760"/>
          </a:xfrm>
          <a:prstGeom prst="roundRect">
            <a:avLst>
              <a:gd name="adj" fmla="val 75000"/>
            </a:avLst>
          </a:prstGeom>
          <a:solidFill>
            <a:srgbClr val="F6E9E9"/>
          </a:solidFill>
          <a:ln/>
        </p:spPr>
      </p:sp>
      <p:sp>
        <p:nvSpPr>
          <p:cNvPr id="66" name="Text 56"/>
          <p:cNvSpPr/>
          <p:nvPr/>
        </p:nvSpPr>
        <p:spPr>
          <a:xfrm>
            <a:off x="6309360" y="5486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Only</a:t>
            </a:r>
            <a:endParaRPr lang="en-US" sz="1000" dirty="0"/>
          </a:p>
        </p:txBody>
      </p:sp>
      <p:sp>
        <p:nvSpPr>
          <p:cNvPr id="67" name="Shape 57"/>
          <p:cNvSpPr/>
          <p:nvPr/>
        </p:nvSpPr>
        <p:spPr>
          <a:xfrm>
            <a:off x="9144000" y="5486400"/>
            <a:ext cx="2194560" cy="365760"/>
          </a:xfrm>
          <a:prstGeom prst="roundRect">
            <a:avLst>
              <a:gd name="adj" fmla="val 75000"/>
            </a:avLst>
          </a:prstGeom>
          <a:solidFill>
            <a:srgbClr val="E4F0E8"/>
          </a:solidFill>
          <a:ln/>
        </p:spPr>
      </p:sp>
      <p:sp>
        <p:nvSpPr>
          <p:cNvPr id="68" name="Text 58"/>
          <p:cNvSpPr/>
          <p:nvPr/>
        </p:nvSpPr>
        <p:spPr>
          <a:xfrm>
            <a:off x="9144000" y="5486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Quantum-Ready</a:t>
            </a:r>
            <a:endParaRPr lang="en-US" sz="1000" dirty="0"/>
          </a:p>
        </p:txBody>
      </p:sp>
      <p:sp>
        <p:nvSpPr>
          <p:cNvPr id="69" name="Text 5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800" dirty="0"/>
          </a:p>
        </p:txBody>
      </p:sp>
      <p:sp>
        <p:nvSpPr>
          <p:cNvPr id="70" name="Text 60"/>
          <p:cNvSpPr/>
          <p:nvPr/>
        </p:nvSpPr>
        <p:spPr>
          <a:xfrm>
            <a:off x="8076895" y="6473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endParaRPr lang="en-US" sz="800" dirty="0"/>
          </a:p>
        </p:txBody>
      </p:sp>
      <p:sp>
        <p:nvSpPr>
          <p:cNvPr id="71" name="Text 61"/>
          <p:cNvSpPr/>
          <p:nvPr/>
        </p:nvSpPr>
        <p:spPr>
          <a:xfrm>
            <a:off x="11414455" y="6473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33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669280" cy="5669280"/>
          </a:xfrm>
          <a:prstGeom prst="ellipse">
            <a:avLst/>
          </a:prstGeom>
          <a:ln w="15875">
            <a:solidFill>
              <a:srgbClr val="134C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194560" y="4846320"/>
            <a:ext cx="4572000" cy="4572000"/>
          </a:xfrm>
          <a:prstGeom prst="ellipse">
            <a:avLst/>
          </a:prstGeom>
          <a:ln w="15875">
            <a:solidFill>
              <a:srgbClr val="134C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48640"/>
            <a:ext cx="164592" cy="164592"/>
          </a:xfrm>
          <a:prstGeom prst="ellipse">
            <a:avLst/>
          </a:prstGeom>
          <a:solidFill>
            <a:srgbClr val="4DA3E0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BB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 ·  WISER GLOBAL QUANTUM + AI PROGRAM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D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325880"/>
            <a:ext cx="10607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Business Problem to an</a:t>
            </a:r>
            <a:endParaRPr lang="en-US" sz="27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Intelligent, Quantum-Ready Platform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58368" y="2651760"/>
            <a:ext cx="384048" cy="384048"/>
          </a:xfrm>
          <a:prstGeom prst="ellipse">
            <a:avLst/>
          </a:prstGeom>
          <a:solidFill>
            <a:srgbClr val="0A4E85"/>
          </a:solidFill>
          <a:ln/>
        </p:spPr>
      </p:sp>
      <p:pic>
        <p:nvPicPr>
          <p:cNvPr id="9" name="Image 0" descr="/home/claude/nestle_ppt2/icons/puzz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214" y="2703606"/>
            <a:ext cx="280355" cy="28035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2633472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023360" y="2633472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distributed order fulfillment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58368" y="3163824"/>
            <a:ext cx="384048" cy="384048"/>
          </a:xfrm>
          <a:prstGeom prst="ellipse">
            <a:avLst/>
          </a:prstGeom>
          <a:solidFill>
            <a:srgbClr val="0A4E85"/>
          </a:solidFill>
          <a:ln/>
        </p:spPr>
      </p:sp>
      <p:pic>
        <p:nvPicPr>
          <p:cNvPr id="13" name="Image 1" descr="/home/claude/nestle_ppt2/icons/lightbulb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214" y="3215670"/>
            <a:ext cx="280355" cy="28035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88720" y="3145536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023360" y="3145536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AI, optimization and quantum platform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58368" y="3675888"/>
            <a:ext cx="384048" cy="384048"/>
          </a:xfrm>
          <a:prstGeom prst="ellipse">
            <a:avLst/>
          </a:prstGeom>
          <a:solidFill>
            <a:srgbClr val="0A4E85"/>
          </a:solidFill>
          <a:ln/>
        </p:spPr>
      </p:sp>
      <p:pic>
        <p:nvPicPr>
          <p:cNvPr id="17" name="Image 2" descr="/home/claude/nestle_ppt2/icons/cube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14" y="3727734"/>
            <a:ext cx="280355" cy="28035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3657600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023360" y="3657600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engineering, AI, classical and quantum layers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58368" y="4187952"/>
            <a:ext cx="384048" cy="384048"/>
          </a:xfrm>
          <a:prstGeom prst="ellipse">
            <a:avLst/>
          </a:prstGeom>
          <a:solidFill>
            <a:srgbClr val="0A4E85"/>
          </a:solidFill>
          <a:ln/>
        </p:spPr>
      </p:sp>
      <p:pic>
        <p:nvPicPr>
          <p:cNvPr id="21" name="Image 3" descr="/home/claude/nestle_ppt2/icons/atom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214" y="4239798"/>
            <a:ext cx="280355" cy="28035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4169664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Framework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023360" y="4169664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methods paired with quantum solvers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58368" y="4700016"/>
            <a:ext cx="384048" cy="384048"/>
          </a:xfrm>
          <a:prstGeom prst="ellipse">
            <a:avLst/>
          </a:prstGeom>
          <a:solidFill>
            <a:srgbClr val="0A4E85"/>
          </a:solidFill>
          <a:ln/>
        </p:spPr>
      </p:sp>
      <p:pic>
        <p:nvPicPr>
          <p:cNvPr id="25" name="Image 4" descr="/home/claude/nestle_ppt2/icons/chartSimp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214" y="4751862"/>
            <a:ext cx="280355" cy="28035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88720" y="4681728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Dashboard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023360" y="4681728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for planners and leaders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58368" y="5212080"/>
            <a:ext cx="384048" cy="384048"/>
          </a:xfrm>
          <a:prstGeom prst="ellipse">
            <a:avLst/>
          </a:prstGeom>
          <a:solidFill>
            <a:srgbClr val="0A4E85"/>
          </a:solidFill>
          <a:ln/>
        </p:spPr>
      </p:sp>
      <p:pic>
        <p:nvPicPr>
          <p:cNvPr id="29" name="Image 5" descr="/home/claude/nestle_ppt2/icons/rocke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214" y="5263926"/>
            <a:ext cx="280355" cy="28035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188720" y="5193792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Benefits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4023360" y="5193792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cost, higher service, future readiness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640080" y="5806440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06427A"/>
          </a:solidFill>
          <a:ln w="9525">
            <a:solidFill>
              <a:srgbClr val="0F5892"/>
            </a:solidFill>
            <a:prstDash val="solid"/>
          </a:ln>
        </p:spPr>
      </p:sp>
      <p:pic>
        <p:nvPicPr>
          <p:cNvPr id="33" name="Image 6" descr="/home/claude/nestle_ppt2/icons/arrowRigh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6920" y="5980176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96112" y="58064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Classical, AI, Quantum and Hybrid Methods Considered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800" dirty="0"/>
          </a:p>
        </p:txBody>
      </p:sp>
      <p:sp>
        <p:nvSpPr>
          <p:cNvPr id="36" name="Text 27"/>
          <p:cNvSpPr/>
          <p:nvPr/>
        </p:nvSpPr>
        <p:spPr>
          <a:xfrm>
            <a:off x="8076895" y="6473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endParaRPr lang="en-US" sz="800" dirty="0"/>
          </a:p>
        </p:txBody>
      </p:sp>
      <p:sp>
        <p:nvSpPr>
          <p:cNvPr id="37" name="Text 28"/>
          <p:cNvSpPr/>
          <p:nvPr/>
        </p:nvSpPr>
        <p:spPr>
          <a:xfrm>
            <a:off x="11414455" y="6473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2026-08-07T04:19:24Z</dcterms:created>
  <dcterms:modified xsi:type="dcterms:W3CDTF">2026-08-07T04:19:24Z</dcterms:modified>
</cp:coreProperties>
</file>