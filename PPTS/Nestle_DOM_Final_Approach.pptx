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2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1.png"/><Relationship Id="rId4" Type="http://schemas.openxmlformats.org/officeDocument/2006/relationships/image" Target="../media/image-5-1.png"/><Relationship Id="rId5" Type="http://schemas.openxmlformats.org/officeDocument/2006/relationships/image" Target="../media/image-5-1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1.png"/><Relationship Id="rId4" Type="http://schemas.openxmlformats.org/officeDocument/2006/relationships/image" Target="../media/image-6-4.png"/><Relationship Id="rId5" Type="http://schemas.openxmlformats.org/officeDocument/2006/relationships/image" Target="../media/image-6-4.png"/><Relationship Id="rId6" Type="http://schemas.openxmlformats.org/officeDocument/2006/relationships/image" Target="../media/image-6-4.png"/><Relationship Id="rId7" Type="http://schemas.openxmlformats.org/officeDocument/2006/relationships/image" Target="../media/image-6-4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1.png"/><Relationship Id="rId4" Type="http://schemas.openxmlformats.org/officeDocument/2006/relationships/image" Target="../media/image-7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1.png"/><Relationship Id="rId4" Type="http://schemas.openxmlformats.org/officeDocument/2006/relationships/image" Target="../media/image-8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4206240"/>
            <a:ext cx="4754880" cy="4754880"/>
          </a:xfrm>
          <a:prstGeom prst="ellipse">
            <a:avLst/>
          </a:prstGeom>
          <a:solidFill>
            <a:srgbClr val="24365C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-1280160"/>
            <a:ext cx="3657600" cy="3657600"/>
          </a:xfrm>
          <a:prstGeom prst="ellipse">
            <a:avLst/>
          </a:prstGeom>
          <a:solidFill>
            <a:srgbClr val="24365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640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WISER GLOBAL QUANTUM + AI PROGRAM 2026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96012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 Selected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Final Approach</a:t>
            </a:r>
            <a:endParaRPr lang="en-US" sz="4600" dirty="0"/>
          </a:p>
        </p:txBody>
      </p:sp>
      <p:sp>
        <p:nvSpPr>
          <p:cNvPr id="6" name="Shape 4"/>
          <p:cNvSpPr/>
          <p:nvPr/>
        </p:nvSpPr>
        <p:spPr>
          <a:xfrm>
            <a:off x="777240" y="3611880"/>
            <a:ext cx="2011680" cy="0"/>
          </a:xfrm>
          <a:prstGeom prst="line">
            <a:avLst/>
          </a:prstGeom>
          <a:noFill/>
          <a:ln w="38100">
            <a:solidFill>
              <a:srgbClr val="00A99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794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+ Classical + Quantum Hybrid Optimization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4251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Nestlé Distributed Order Management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77240" y="489204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0" descr="/home/claude/nestle_deck/icons/brain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941" y="4965741"/>
            <a:ext cx="419527" cy="419527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48640" y="550468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950" dirty="0"/>
          </a:p>
        </p:txBody>
      </p:sp>
      <p:pic>
        <p:nvPicPr>
          <p:cNvPr id="12" name="Image 1" descr="/home/claude/nestle_deck/icons/arrowRight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888" y="5074920"/>
            <a:ext cx="256032" cy="25603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1874520" y="489204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2" descr="/home/claude/nestle_deck/icons/cog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8221" y="4965741"/>
            <a:ext cx="419527" cy="41952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45920" y="550468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</a:t>
            </a:r>
            <a:endParaRPr lang="en-US" sz="950" dirty="0"/>
          </a:p>
        </p:txBody>
      </p:sp>
      <p:pic>
        <p:nvPicPr>
          <p:cNvPr id="16" name="Image 3" descr="/home/claude/nestle_deck/icons/arrowRight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7168" y="5074920"/>
            <a:ext cx="256032" cy="256032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2971800" y="489204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4" descr="/home/claude/nestle_deck/icons/atom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5501" y="4965741"/>
            <a:ext cx="419527" cy="419527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2743200" y="550468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</a:t>
            </a:r>
            <a:endParaRPr lang="en-US" sz="950" dirty="0"/>
          </a:p>
        </p:txBody>
      </p:sp>
      <p:sp>
        <p:nvSpPr>
          <p:cNvPr id="20" name="Text 13"/>
          <p:cNvSpPr/>
          <p:nvPr/>
        </p:nvSpPr>
        <p:spPr>
          <a:xfrm>
            <a:off x="8259775" y="53949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000" dirty="0"/>
          </a:p>
        </p:txBody>
      </p:sp>
      <p:sp>
        <p:nvSpPr>
          <p:cNvPr id="21" name="Text 14"/>
          <p:cNvSpPr/>
          <p:nvPr/>
        </p:nvSpPr>
        <p:spPr>
          <a:xfrm>
            <a:off x="8259775" y="56692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Sirama Avinash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5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 WE NEEDED TO MAKE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Selecting the Right Optimization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Nestlé Distributed Order Management  |  WISER Global Quantum + AI Program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Order Management requires both predictive intelligence and mathematical optimization working together — no single technology delivers both.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architectures were evaluated: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423160"/>
            <a:ext cx="2468880" cy="1417320"/>
          </a:xfrm>
          <a:prstGeom prst="roundRect">
            <a:avLst>
              <a:gd name="adj" fmla="val 5161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472184" y="2624328"/>
            <a:ext cx="621792" cy="621792"/>
          </a:xfrm>
          <a:prstGeom prst="ellipse">
            <a:avLst/>
          </a:prstGeom>
          <a:solidFill>
            <a:srgbClr val="0055A4"/>
          </a:solidFill>
          <a:ln/>
        </p:spPr>
      </p:sp>
      <p:pic>
        <p:nvPicPr>
          <p:cNvPr id="11" name="Image 0" descr="/home/claude/nestle_deck/icons/co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3017" y="2705161"/>
            <a:ext cx="460126" cy="46012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40080" y="33375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3337560" y="2423160"/>
            <a:ext cx="2468880" cy="1417320"/>
          </a:xfrm>
          <a:prstGeom prst="roundRect">
            <a:avLst>
              <a:gd name="adj" fmla="val 5161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261104" y="2624328"/>
            <a:ext cx="621792" cy="621792"/>
          </a:xfrm>
          <a:prstGeom prst="ellipse">
            <a:avLst/>
          </a:prstGeom>
          <a:solidFill>
            <a:srgbClr val="0055A4"/>
          </a:solidFill>
          <a:ln/>
        </p:spPr>
      </p:sp>
      <p:pic>
        <p:nvPicPr>
          <p:cNvPr id="15" name="Image 1" descr="/home/claude/nestle_deck/icons/brain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1937" y="2705161"/>
            <a:ext cx="460126" cy="46012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429000" y="33375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6126480" y="2423160"/>
            <a:ext cx="2468880" cy="1417320"/>
          </a:xfrm>
          <a:prstGeom prst="roundRect">
            <a:avLst>
              <a:gd name="adj" fmla="val 5161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050024" y="2624328"/>
            <a:ext cx="621792" cy="621792"/>
          </a:xfrm>
          <a:prstGeom prst="ellipse">
            <a:avLst/>
          </a:prstGeom>
          <a:solidFill>
            <a:srgbClr val="0055A4"/>
          </a:solidFill>
          <a:ln/>
        </p:spPr>
      </p:sp>
      <p:pic>
        <p:nvPicPr>
          <p:cNvPr id="19" name="Image 2" descr="/home/claude/nestle_deck/icons/atom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0857" y="2705161"/>
            <a:ext cx="460126" cy="46012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17920" y="33375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8915400" y="2423160"/>
            <a:ext cx="2468880" cy="1417320"/>
          </a:xfrm>
          <a:prstGeom prst="roundRect">
            <a:avLst>
              <a:gd name="adj" fmla="val 5161"/>
            </a:avLst>
          </a:prstGeom>
          <a:solidFill>
            <a:srgbClr val="0055A4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9838944" y="2624328"/>
            <a:ext cx="621792" cy="62179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Image 3" descr="/home/claude/nestle_deck/icons/layers_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9777" y="2705161"/>
            <a:ext cx="460126" cy="46012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006840" y="33375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+ Classical + Quantum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548640" y="420624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1B2A4A"/>
          </a:solidFill>
          <a:ln/>
        </p:spPr>
      </p:sp>
      <p:sp>
        <p:nvSpPr>
          <p:cNvPr id="26" name="Text 20"/>
          <p:cNvSpPr/>
          <p:nvPr/>
        </p:nvSpPr>
        <p:spPr>
          <a:xfrm>
            <a:off x="914400" y="440740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CENTRAL QUESTION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914400" y="4681728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“Which architecture provides the best balance of business value, accuracy, reliability, scalability and future readiness?”</a:t>
            </a:r>
            <a:endParaRPr lang="en-US" sz="1700" dirty="0"/>
          </a:p>
        </p:txBody>
      </p:sp>
      <p:sp>
        <p:nvSpPr>
          <p:cNvPr id="28" name="Text 22"/>
          <p:cNvSpPr/>
          <p:nvPr/>
        </p:nvSpPr>
        <p:spPr>
          <a:xfrm>
            <a:off x="548640" y="58064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deck walks through the evaluation, the evidence, and the final decision.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5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LANDSCAPE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Each Approach Provides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Nestlé Distributed Order Management  |  WISER Global Quantum + AI Program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2606040" cy="4480560"/>
          </a:xfrm>
          <a:prstGeom prst="roundRect">
            <a:avLst>
              <a:gd name="adj" fmla="val 3158"/>
            </a:avLst>
          </a:prstGeom>
          <a:solidFill>
            <a:srgbClr val="F4F6F9"/>
          </a:solidFill>
          <a:ln/>
          <a:effectLst>
            <a:outerShdw sx="100000" sy="100000" kx="0" ky="0" algn="bl" rotWithShape="0" blurRad="63500" dist="25400" dir="5400000">
              <a:srgbClr val="1B2A4A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522476" y="1783080"/>
            <a:ext cx="658368" cy="658368"/>
          </a:xfrm>
          <a:prstGeom prst="ellipse">
            <a:avLst/>
          </a:prstGeom>
          <a:solidFill>
            <a:srgbClr val="0055A4"/>
          </a:solidFill>
          <a:ln/>
        </p:spPr>
      </p:sp>
      <p:pic>
        <p:nvPicPr>
          <p:cNvPr id="9" name="Image 0" descr="/home/claude/nestle_deck/icons/co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8064" y="1868668"/>
            <a:ext cx="487192" cy="48719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25603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Classical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1531620" y="2944368"/>
            <a:ext cx="640080" cy="0"/>
          </a:xfrm>
          <a:prstGeom prst="line">
            <a:avLst/>
          </a:prstGeom>
          <a:noFill/>
          <a:ln w="25400">
            <a:solidFill>
              <a:srgbClr val="0055A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49808" y="3227832"/>
            <a:ext cx="73152" cy="73152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13" name="Text 10"/>
          <p:cNvSpPr/>
          <p:nvPr/>
        </p:nvSpPr>
        <p:spPr>
          <a:xfrm>
            <a:off x="914400" y="3127248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optimization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49808" y="3886200"/>
            <a:ext cx="73152" cy="73152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15" name="Text 12"/>
          <p:cNvSpPr/>
          <p:nvPr/>
        </p:nvSpPr>
        <p:spPr>
          <a:xfrm>
            <a:off x="914400" y="3785616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handling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49808" y="4544568"/>
            <a:ext cx="73152" cy="73152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17" name="Text 14"/>
          <p:cNvSpPr/>
          <p:nvPr/>
        </p:nvSpPr>
        <p:spPr>
          <a:xfrm>
            <a:off x="914400" y="4443984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decisions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749808" y="5202936"/>
            <a:ext cx="73152" cy="73152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19" name="Text 16"/>
          <p:cNvSpPr/>
          <p:nvPr/>
        </p:nvSpPr>
        <p:spPr>
          <a:xfrm>
            <a:off x="914400" y="5102352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 technology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3383280" y="1463040"/>
            <a:ext cx="2606040" cy="4480560"/>
          </a:xfrm>
          <a:prstGeom prst="roundRect">
            <a:avLst>
              <a:gd name="adj" fmla="val 3158"/>
            </a:avLst>
          </a:prstGeom>
          <a:solidFill>
            <a:srgbClr val="F4F6F9"/>
          </a:solidFill>
          <a:ln/>
          <a:effectLst>
            <a:outerShdw sx="100000" sy="100000" kx="0" ky="0" algn="bl" rotWithShape="0" blurRad="63500" dist="25400" dir="5400000">
              <a:srgbClr val="1B2A4A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357116" y="1783080"/>
            <a:ext cx="658368" cy="658368"/>
          </a:xfrm>
          <a:prstGeom prst="ellipse">
            <a:avLst/>
          </a:prstGeom>
          <a:solidFill>
            <a:srgbClr val="0055A4"/>
          </a:solidFill>
          <a:ln/>
        </p:spPr>
      </p:sp>
      <p:pic>
        <p:nvPicPr>
          <p:cNvPr id="22" name="Image 1" descr="/home/claude/nestle_deck/icons/brain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2704" y="1868668"/>
            <a:ext cx="487192" cy="487192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3383280" y="25603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</a:t>
            </a:r>
            <a:endParaRPr lang="en-US" sz="1700" dirty="0"/>
          </a:p>
        </p:txBody>
      </p:sp>
      <p:sp>
        <p:nvSpPr>
          <p:cNvPr id="24" name="Shape 20"/>
          <p:cNvSpPr/>
          <p:nvPr/>
        </p:nvSpPr>
        <p:spPr>
          <a:xfrm>
            <a:off x="4366260" y="2944368"/>
            <a:ext cx="640080" cy="0"/>
          </a:xfrm>
          <a:prstGeom prst="line">
            <a:avLst/>
          </a:prstGeom>
          <a:noFill/>
          <a:ln w="25400">
            <a:solidFill>
              <a:srgbClr val="0055A4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3584448" y="3227832"/>
            <a:ext cx="73152" cy="73152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26" name="Text 22"/>
          <p:cNvSpPr/>
          <p:nvPr/>
        </p:nvSpPr>
        <p:spPr>
          <a:xfrm>
            <a:off x="3749040" y="3127248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prediction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3584448" y="3886200"/>
            <a:ext cx="73152" cy="73152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28" name="Text 24"/>
          <p:cNvSpPr/>
          <p:nvPr/>
        </p:nvSpPr>
        <p:spPr>
          <a:xfrm>
            <a:off x="3749040" y="3785616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intelligence</a:t>
            </a:r>
            <a:endParaRPr lang="en-US" sz="1150" dirty="0"/>
          </a:p>
        </p:txBody>
      </p:sp>
      <p:sp>
        <p:nvSpPr>
          <p:cNvPr id="29" name="Shape 25"/>
          <p:cNvSpPr/>
          <p:nvPr/>
        </p:nvSpPr>
        <p:spPr>
          <a:xfrm>
            <a:off x="3584448" y="4544568"/>
            <a:ext cx="73152" cy="73152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30" name="Text 26"/>
          <p:cNvSpPr/>
          <p:nvPr/>
        </p:nvSpPr>
        <p:spPr>
          <a:xfrm>
            <a:off x="3749040" y="4443984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estimation</a:t>
            </a:r>
            <a:endParaRPr lang="en-US" sz="1150" dirty="0"/>
          </a:p>
        </p:txBody>
      </p:sp>
      <p:sp>
        <p:nvSpPr>
          <p:cNvPr id="31" name="Shape 27"/>
          <p:cNvSpPr/>
          <p:nvPr/>
        </p:nvSpPr>
        <p:spPr>
          <a:xfrm>
            <a:off x="3584448" y="5202936"/>
            <a:ext cx="73152" cy="73152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32" name="Text 28"/>
          <p:cNvSpPr/>
          <p:nvPr/>
        </p:nvSpPr>
        <p:spPr>
          <a:xfrm>
            <a:off x="3749040" y="5102352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1150" dirty="0"/>
          </a:p>
        </p:txBody>
      </p:sp>
      <p:sp>
        <p:nvSpPr>
          <p:cNvPr id="33" name="Shape 29"/>
          <p:cNvSpPr/>
          <p:nvPr/>
        </p:nvSpPr>
        <p:spPr>
          <a:xfrm>
            <a:off x="6217920" y="1463040"/>
            <a:ext cx="2606040" cy="4480560"/>
          </a:xfrm>
          <a:prstGeom prst="roundRect">
            <a:avLst>
              <a:gd name="adj" fmla="val 3158"/>
            </a:avLst>
          </a:prstGeom>
          <a:solidFill>
            <a:srgbClr val="F4F6F9"/>
          </a:solidFill>
          <a:ln/>
          <a:effectLst>
            <a:outerShdw sx="100000" sy="100000" kx="0" ky="0" algn="bl" rotWithShape="0" blurRad="63500" dist="25400" dir="5400000">
              <a:srgbClr val="1B2A4A">
                <a:alpha val="10000"/>
              </a:srgbClr>
            </a:outerShdw>
          </a:effectLst>
        </p:spPr>
      </p:sp>
      <p:sp>
        <p:nvSpPr>
          <p:cNvPr id="34" name="Shape 30"/>
          <p:cNvSpPr/>
          <p:nvPr/>
        </p:nvSpPr>
        <p:spPr>
          <a:xfrm>
            <a:off x="7191756" y="1783080"/>
            <a:ext cx="658368" cy="658368"/>
          </a:xfrm>
          <a:prstGeom prst="ellipse">
            <a:avLst/>
          </a:prstGeom>
          <a:solidFill>
            <a:srgbClr val="C89B3C"/>
          </a:solidFill>
          <a:ln/>
        </p:spPr>
      </p:sp>
      <p:pic>
        <p:nvPicPr>
          <p:cNvPr id="35" name="Image 2" descr="/home/claude/nestle_deck/icons/atom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7344" y="1868668"/>
            <a:ext cx="487192" cy="487192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6217920" y="25603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Quantum</a:t>
            </a:r>
            <a:endParaRPr lang="en-US" sz="1700" dirty="0"/>
          </a:p>
        </p:txBody>
      </p:sp>
      <p:sp>
        <p:nvSpPr>
          <p:cNvPr id="37" name="Shape 32"/>
          <p:cNvSpPr/>
          <p:nvPr/>
        </p:nvSpPr>
        <p:spPr>
          <a:xfrm>
            <a:off x="7200900" y="2944368"/>
            <a:ext cx="640080" cy="0"/>
          </a:xfrm>
          <a:prstGeom prst="line">
            <a:avLst/>
          </a:prstGeom>
          <a:noFill/>
          <a:ln w="25400">
            <a:solidFill>
              <a:srgbClr val="C89B3C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6419088" y="3227832"/>
            <a:ext cx="73152" cy="7315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39" name="Text 34"/>
          <p:cNvSpPr/>
          <p:nvPr/>
        </p:nvSpPr>
        <p:spPr>
          <a:xfrm>
            <a:off x="6583680" y="3127248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QUBO-based optimization</a:t>
            </a:r>
            <a:endParaRPr lang="en-US" sz="1150" dirty="0"/>
          </a:p>
        </p:txBody>
      </p:sp>
      <p:sp>
        <p:nvSpPr>
          <p:cNvPr id="40" name="Shape 35"/>
          <p:cNvSpPr/>
          <p:nvPr/>
        </p:nvSpPr>
        <p:spPr>
          <a:xfrm>
            <a:off x="6419088" y="3886200"/>
            <a:ext cx="73152" cy="7315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41" name="Text 36"/>
          <p:cNvSpPr/>
          <p:nvPr/>
        </p:nvSpPr>
        <p:spPr>
          <a:xfrm>
            <a:off x="6583680" y="3785616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scalability potential</a:t>
            </a:r>
            <a:endParaRPr lang="en-US" sz="1150" dirty="0"/>
          </a:p>
        </p:txBody>
      </p:sp>
      <p:sp>
        <p:nvSpPr>
          <p:cNvPr id="42" name="Shape 37"/>
          <p:cNvSpPr/>
          <p:nvPr/>
        </p:nvSpPr>
        <p:spPr>
          <a:xfrm>
            <a:off x="6419088" y="4544568"/>
            <a:ext cx="73152" cy="7315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43" name="Text 38"/>
          <p:cNvSpPr/>
          <p:nvPr/>
        </p:nvSpPr>
        <p:spPr>
          <a:xfrm>
            <a:off x="6583680" y="4443984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 of quantum algorithms</a:t>
            </a:r>
            <a:endParaRPr lang="en-US" sz="1150" dirty="0"/>
          </a:p>
        </p:txBody>
      </p:sp>
      <p:sp>
        <p:nvSpPr>
          <p:cNvPr id="44" name="Shape 39"/>
          <p:cNvSpPr/>
          <p:nvPr/>
        </p:nvSpPr>
        <p:spPr>
          <a:xfrm>
            <a:off x="6419088" y="5202936"/>
            <a:ext cx="73152" cy="7315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45" name="Text 40"/>
          <p:cNvSpPr/>
          <p:nvPr/>
        </p:nvSpPr>
        <p:spPr>
          <a:xfrm>
            <a:off x="6583680" y="5102352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technology</a:t>
            </a:r>
            <a:endParaRPr lang="en-US" sz="1150" dirty="0"/>
          </a:p>
        </p:txBody>
      </p:sp>
      <p:sp>
        <p:nvSpPr>
          <p:cNvPr id="46" name="Shape 41"/>
          <p:cNvSpPr/>
          <p:nvPr/>
        </p:nvSpPr>
        <p:spPr>
          <a:xfrm>
            <a:off x="9052560" y="1463040"/>
            <a:ext cx="2606040" cy="4480560"/>
          </a:xfrm>
          <a:prstGeom prst="roundRect">
            <a:avLst>
              <a:gd name="adj" fmla="val 3158"/>
            </a:avLst>
          </a:prstGeom>
          <a:solidFill>
            <a:srgbClr val="1B2A4A"/>
          </a:solidFill>
          <a:ln/>
          <a:effectLst>
            <a:outerShdw sx="100000" sy="100000" kx="0" ky="0" algn="bl" rotWithShape="0" blurRad="63500" dist="25400" dir="5400000">
              <a:srgbClr val="1B2A4A">
                <a:alpha val="10000"/>
              </a:srgbClr>
            </a:outerShdw>
          </a:effectLst>
        </p:spPr>
      </p:sp>
      <p:sp>
        <p:nvSpPr>
          <p:cNvPr id="47" name="Shape 42"/>
          <p:cNvSpPr/>
          <p:nvPr/>
        </p:nvSpPr>
        <p:spPr>
          <a:xfrm>
            <a:off x="10026396" y="1783080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8" name="Image 3" descr="/home/claude/nestle_deck/icons/layers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1984" y="1868668"/>
            <a:ext cx="487192" cy="487192"/>
          </a:xfrm>
          <a:prstGeom prst="rect">
            <a:avLst/>
          </a:prstGeom>
        </p:spPr>
      </p:pic>
      <p:sp>
        <p:nvSpPr>
          <p:cNvPr id="49" name="Text 43"/>
          <p:cNvSpPr/>
          <p:nvPr/>
        </p:nvSpPr>
        <p:spPr>
          <a:xfrm>
            <a:off x="9052560" y="25603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</a:t>
            </a:r>
            <a:endParaRPr lang="en-US" sz="1700" dirty="0"/>
          </a:p>
        </p:txBody>
      </p:sp>
      <p:sp>
        <p:nvSpPr>
          <p:cNvPr id="50" name="Shape 44"/>
          <p:cNvSpPr/>
          <p:nvPr/>
        </p:nvSpPr>
        <p:spPr>
          <a:xfrm>
            <a:off x="10035540" y="2944368"/>
            <a:ext cx="640080" cy="0"/>
          </a:xfrm>
          <a:prstGeom prst="line">
            <a:avLst/>
          </a:prstGeom>
          <a:noFill/>
          <a:ln w="25400">
            <a:solidFill>
              <a:srgbClr val="00A99D"/>
            </a:solidFill>
            <a:prstDash val="solid"/>
          </a:ln>
        </p:spPr>
      </p:sp>
      <p:sp>
        <p:nvSpPr>
          <p:cNvPr id="51" name="Shape 45"/>
          <p:cNvSpPr/>
          <p:nvPr/>
        </p:nvSpPr>
        <p:spPr>
          <a:xfrm>
            <a:off x="9253728" y="3227832"/>
            <a:ext cx="73152" cy="73152"/>
          </a:xfrm>
          <a:prstGeom prst="ellipse">
            <a:avLst/>
          </a:prstGeom>
          <a:solidFill>
            <a:srgbClr val="00A99D"/>
          </a:solidFill>
          <a:ln/>
        </p:spPr>
      </p:sp>
      <p:sp>
        <p:nvSpPr>
          <p:cNvPr id="52" name="Text 46"/>
          <p:cNvSpPr/>
          <p:nvPr/>
        </p:nvSpPr>
        <p:spPr>
          <a:xfrm>
            <a:off x="9418320" y="3127248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strengths</a:t>
            </a:r>
            <a:endParaRPr lang="en-US" sz="1150" dirty="0"/>
          </a:p>
        </p:txBody>
      </p:sp>
      <p:sp>
        <p:nvSpPr>
          <p:cNvPr id="53" name="Shape 47"/>
          <p:cNvSpPr/>
          <p:nvPr/>
        </p:nvSpPr>
        <p:spPr>
          <a:xfrm>
            <a:off x="9253728" y="3886200"/>
            <a:ext cx="73152" cy="73152"/>
          </a:xfrm>
          <a:prstGeom prst="ellipse">
            <a:avLst/>
          </a:prstGeom>
          <a:solidFill>
            <a:srgbClr val="00A99D"/>
          </a:solidFill>
          <a:ln/>
        </p:spPr>
      </p:sp>
      <p:sp>
        <p:nvSpPr>
          <p:cNvPr id="54" name="Text 48"/>
          <p:cNvSpPr/>
          <p:nvPr/>
        </p:nvSpPr>
        <p:spPr>
          <a:xfrm>
            <a:off x="9418320" y="3785616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+ optimization</a:t>
            </a:r>
            <a:endParaRPr lang="en-US" sz="1150" dirty="0"/>
          </a:p>
        </p:txBody>
      </p:sp>
      <p:sp>
        <p:nvSpPr>
          <p:cNvPr id="55" name="Shape 49"/>
          <p:cNvSpPr/>
          <p:nvPr/>
        </p:nvSpPr>
        <p:spPr>
          <a:xfrm>
            <a:off x="9253728" y="4544568"/>
            <a:ext cx="73152" cy="73152"/>
          </a:xfrm>
          <a:prstGeom prst="ellipse">
            <a:avLst/>
          </a:prstGeom>
          <a:solidFill>
            <a:srgbClr val="00A99D"/>
          </a:solidFill>
          <a:ln/>
        </p:spPr>
      </p:sp>
      <p:sp>
        <p:nvSpPr>
          <p:cNvPr id="56" name="Text 50"/>
          <p:cNvSpPr/>
          <p:nvPr/>
        </p:nvSpPr>
        <p:spPr>
          <a:xfrm>
            <a:off x="9418320" y="4443984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reliability</a:t>
            </a:r>
            <a:endParaRPr lang="en-US" sz="1150" dirty="0"/>
          </a:p>
        </p:txBody>
      </p:sp>
      <p:sp>
        <p:nvSpPr>
          <p:cNvPr id="57" name="Shape 51"/>
          <p:cNvSpPr/>
          <p:nvPr/>
        </p:nvSpPr>
        <p:spPr>
          <a:xfrm>
            <a:off x="9253728" y="5202936"/>
            <a:ext cx="73152" cy="73152"/>
          </a:xfrm>
          <a:prstGeom prst="ellipse">
            <a:avLst/>
          </a:prstGeom>
          <a:solidFill>
            <a:srgbClr val="00A99D"/>
          </a:solidFill>
          <a:ln/>
        </p:spPr>
      </p:sp>
      <p:sp>
        <p:nvSpPr>
          <p:cNvPr id="58" name="Text 52"/>
          <p:cNvSpPr/>
          <p:nvPr/>
        </p:nvSpPr>
        <p:spPr>
          <a:xfrm>
            <a:off x="9418320" y="5102352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readiness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5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CRITERIA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Evaluated the Approaches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Nestlé Distributed Order Management  |  WISER Global Quantum + AI Program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4173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Criterion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840480" y="1417320"/>
            <a:ext cx="19431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783580" y="1417320"/>
            <a:ext cx="19431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726680" y="1417320"/>
            <a:ext cx="19431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669780" y="1417320"/>
            <a:ext cx="19431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85800" y="1783080"/>
            <a:ext cx="3108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capability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23994" y="1933956"/>
            <a:ext cx="100584" cy="100584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15" name="Shape 13"/>
          <p:cNvSpPr/>
          <p:nvPr/>
        </p:nvSpPr>
        <p:spPr>
          <a:xfrm>
            <a:off x="4642866" y="1933956"/>
            <a:ext cx="100584" cy="100584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16" name="Shape 14"/>
          <p:cNvSpPr/>
          <p:nvPr/>
        </p:nvSpPr>
        <p:spPr>
          <a:xfrm>
            <a:off x="4761738" y="1933956"/>
            <a:ext cx="100584" cy="100584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17" name="Shape 15"/>
          <p:cNvSpPr/>
          <p:nvPr/>
        </p:nvSpPr>
        <p:spPr>
          <a:xfrm>
            <a:off x="4880610" y="1933956"/>
            <a:ext cx="100584" cy="100584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18" name="Shape 16"/>
          <p:cNvSpPr/>
          <p:nvPr/>
        </p:nvSpPr>
        <p:spPr>
          <a:xfrm>
            <a:off x="4999482" y="1933956"/>
            <a:ext cx="100584" cy="100584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19" name="Shape 17"/>
          <p:cNvSpPr/>
          <p:nvPr/>
        </p:nvSpPr>
        <p:spPr>
          <a:xfrm>
            <a:off x="6467094" y="1933956"/>
            <a:ext cx="100584" cy="100584"/>
          </a:xfrm>
          <a:prstGeom prst="ellipse">
            <a:avLst/>
          </a:prstGeom>
          <a:solidFill>
            <a:srgbClr val="5B9BD5"/>
          </a:solidFill>
          <a:ln/>
        </p:spPr>
      </p:sp>
      <p:sp>
        <p:nvSpPr>
          <p:cNvPr id="20" name="Shape 18"/>
          <p:cNvSpPr/>
          <p:nvPr/>
        </p:nvSpPr>
        <p:spPr>
          <a:xfrm>
            <a:off x="6585966" y="1933956"/>
            <a:ext cx="100584" cy="100584"/>
          </a:xfrm>
          <a:prstGeom prst="ellipse">
            <a:avLst/>
          </a:prstGeom>
          <a:solidFill>
            <a:srgbClr val="D9DEE6"/>
          </a:solidFill>
          <a:ln/>
        </p:spPr>
      </p:sp>
      <p:sp>
        <p:nvSpPr>
          <p:cNvPr id="21" name="Shape 19"/>
          <p:cNvSpPr/>
          <p:nvPr/>
        </p:nvSpPr>
        <p:spPr>
          <a:xfrm>
            <a:off x="6704838" y="1933956"/>
            <a:ext cx="100584" cy="100584"/>
          </a:xfrm>
          <a:prstGeom prst="ellipse">
            <a:avLst/>
          </a:prstGeom>
          <a:solidFill>
            <a:srgbClr val="D9DEE6"/>
          </a:solidFill>
          <a:ln/>
        </p:spPr>
      </p:sp>
      <p:sp>
        <p:nvSpPr>
          <p:cNvPr id="22" name="Shape 20"/>
          <p:cNvSpPr/>
          <p:nvPr/>
        </p:nvSpPr>
        <p:spPr>
          <a:xfrm>
            <a:off x="6823710" y="1933956"/>
            <a:ext cx="100584" cy="100584"/>
          </a:xfrm>
          <a:prstGeom prst="ellipse">
            <a:avLst/>
          </a:prstGeom>
          <a:solidFill>
            <a:srgbClr val="D9DEE6"/>
          </a:solidFill>
          <a:ln/>
        </p:spPr>
      </p:sp>
      <p:sp>
        <p:nvSpPr>
          <p:cNvPr id="23" name="Shape 21"/>
          <p:cNvSpPr/>
          <p:nvPr/>
        </p:nvSpPr>
        <p:spPr>
          <a:xfrm>
            <a:off x="6942582" y="1933956"/>
            <a:ext cx="100584" cy="100584"/>
          </a:xfrm>
          <a:prstGeom prst="ellipse">
            <a:avLst/>
          </a:prstGeom>
          <a:solidFill>
            <a:srgbClr val="D9DEE6"/>
          </a:solidFill>
          <a:ln/>
        </p:spPr>
      </p:sp>
      <p:sp>
        <p:nvSpPr>
          <p:cNvPr id="24" name="Shape 22"/>
          <p:cNvSpPr/>
          <p:nvPr/>
        </p:nvSpPr>
        <p:spPr>
          <a:xfrm>
            <a:off x="8410194" y="1933956"/>
            <a:ext cx="100584" cy="10058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25" name="Shape 23"/>
          <p:cNvSpPr/>
          <p:nvPr/>
        </p:nvSpPr>
        <p:spPr>
          <a:xfrm>
            <a:off x="8529066" y="1933956"/>
            <a:ext cx="100584" cy="10058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26" name="Shape 24"/>
          <p:cNvSpPr/>
          <p:nvPr/>
        </p:nvSpPr>
        <p:spPr>
          <a:xfrm>
            <a:off x="8647938" y="1933956"/>
            <a:ext cx="100584" cy="100584"/>
          </a:xfrm>
          <a:prstGeom prst="ellipse">
            <a:avLst/>
          </a:prstGeom>
          <a:solidFill>
            <a:srgbClr val="D9DEE6"/>
          </a:solidFill>
          <a:ln/>
        </p:spPr>
      </p:sp>
      <p:sp>
        <p:nvSpPr>
          <p:cNvPr id="27" name="Shape 25"/>
          <p:cNvSpPr/>
          <p:nvPr/>
        </p:nvSpPr>
        <p:spPr>
          <a:xfrm>
            <a:off x="8766810" y="1933956"/>
            <a:ext cx="100584" cy="100584"/>
          </a:xfrm>
          <a:prstGeom prst="ellipse">
            <a:avLst/>
          </a:prstGeom>
          <a:solidFill>
            <a:srgbClr val="D9DEE6"/>
          </a:solidFill>
          <a:ln/>
        </p:spPr>
      </p:sp>
      <p:sp>
        <p:nvSpPr>
          <p:cNvPr id="28" name="Shape 26"/>
          <p:cNvSpPr/>
          <p:nvPr/>
        </p:nvSpPr>
        <p:spPr>
          <a:xfrm>
            <a:off x="8885682" y="1933956"/>
            <a:ext cx="100584" cy="100584"/>
          </a:xfrm>
          <a:prstGeom prst="ellipse">
            <a:avLst/>
          </a:prstGeom>
          <a:solidFill>
            <a:srgbClr val="D9DEE6"/>
          </a:solidFill>
          <a:ln/>
        </p:spPr>
      </p:sp>
      <p:sp>
        <p:nvSpPr>
          <p:cNvPr id="29" name="Shape 27"/>
          <p:cNvSpPr/>
          <p:nvPr/>
        </p:nvSpPr>
        <p:spPr>
          <a:xfrm>
            <a:off x="10353294" y="1933956"/>
            <a:ext cx="100584" cy="100584"/>
          </a:xfrm>
          <a:prstGeom prst="ellipse">
            <a:avLst/>
          </a:prstGeom>
          <a:solidFill>
            <a:srgbClr val="00A99D"/>
          </a:solidFill>
          <a:ln/>
        </p:spPr>
      </p:sp>
      <p:sp>
        <p:nvSpPr>
          <p:cNvPr id="30" name="Shape 28"/>
          <p:cNvSpPr/>
          <p:nvPr/>
        </p:nvSpPr>
        <p:spPr>
          <a:xfrm>
            <a:off x="10472166" y="1933956"/>
            <a:ext cx="100584" cy="100584"/>
          </a:xfrm>
          <a:prstGeom prst="ellipse">
            <a:avLst/>
          </a:prstGeom>
          <a:solidFill>
            <a:srgbClr val="00A99D"/>
          </a:solidFill>
          <a:ln/>
        </p:spPr>
      </p:sp>
      <p:sp>
        <p:nvSpPr>
          <p:cNvPr id="31" name="Shape 29"/>
          <p:cNvSpPr/>
          <p:nvPr/>
        </p:nvSpPr>
        <p:spPr>
          <a:xfrm>
            <a:off x="10591038" y="1933956"/>
            <a:ext cx="100584" cy="100584"/>
          </a:xfrm>
          <a:prstGeom prst="ellipse">
            <a:avLst/>
          </a:prstGeom>
          <a:solidFill>
            <a:srgbClr val="00A99D"/>
          </a:solidFill>
          <a:ln/>
        </p:spPr>
      </p:sp>
      <p:sp>
        <p:nvSpPr>
          <p:cNvPr id="32" name="Shape 30"/>
          <p:cNvSpPr/>
          <p:nvPr/>
        </p:nvSpPr>
        <p:spPr>
          <a:xfrm>
            <a:off x="10709910" y="1933956"/>
            <a:ext cx="100584" cy="100584"/>
          </a:xfrm>
          <a:prstGeom prst="ellipse">
            <a:avLst/>
          </a:prstGeom>
          <a:solidFill>
            <a:srgbClr val="00A99D"/>
          </a:solidFill>
          <a:ln/>
        </p:spPr>
      </p:sp>
      <p:sp>
        <p:nvSpPr>
          <p:cNvPr id="33" name="Shape 31"/>
          <p:cNvSpPr/>
          <p:nvPr/>
        </p:nvSpPr>
        <p:spPr>
          <a:xfrm>
            <a:off x="10828782" y="1933956"/>
            <a:ext cx="100584" cy="100584"/>
          </a:xfrm>
          <a:prstGeom prst="ellipse">
            <a:avLst/>
          </a:prstGeom>
          <a:solidFill>
            <a:srgbClr val="00A99D"/>
          </a:solidFill>
          <a:ln/>
        </p:spPr>
      </p:sp>
      <p:sp>
        <p:nvSpPr>
          <p:cNvPr id="34" name="Shape 32"/>
          <p:cNvSpPr/>
          <p:nvPr/>
        </p:nvSpPr>
        <p:spPr>
          <a:xfrm>
            <a:off x="548640" y="2185416"/>
            <a:ext cx="11064240" cy="402336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5" name="Text 33"/>
          <p:cNvSpPr/>
          <p:nvPr/>
        </p:nvSpPr>
        <p:spPr>
          <a:xfrm>
            <a:off x="685800" y="2185416"/>
            <a:ext cx="3108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capability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523994" y="2336292"/>
            <a:ext cx="100584" cy="100584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37" name="Shape 35"/>
          <p:cNvSpPr/>
          <p:nvPr/>
        </p:nvSpPr>
        <p:spPr>
          <a:xfrm>
            <a:off x="4642866" y="2336292"/>
            <a:ext cx="100584" cy="100584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38" name="Shape 36"/>
          <p:cNvSpPr/>
          <p:nvPr/>
        </p:nvSpPr>
        <p:spPr>
          <a:xfrm>
            <a:off x="4761738" y="2336292"/>
            <a:ext cx="100584" cy="100584"/>
          </a:xfrm>
          <a:prstGeom prst="ellipse">
            <a:avLst/>
          </a:prstGeom>
          <a:solidFill>
            <a:srgbClr val="D9DEE6"/>
          </a:solidFill>
          <a:ln/>
        </p:spPr>
      </p:sp>
      <p:sp>
        <p:nvSpPr>
          <p:cNvPr id="39" name="Shape 37"/>
          <p:cNvSpPr/>
          <p:nvPr/>
        </p:nvSpPr>
        <p:spPr>
          <a:xfrm>
            <a:off x="4880610" y="2336292"/>
            <a:ext cx="100584" cy="100584"/>
          </a:xfrm>
          <a:prstGeom prst="ellipse">
            <a:avLst/>
          </a:prstGeom>
          <a:solidFill>
            <a:srgbClr val="D9DEE6"/>
          </a:solidFill>
          <a:ln/>
        </p:spPr>
      </p:sp>
      <p:sp>
        <p:nvSpPr>
          <p:cNvPr id="40" name="Shape 38"/>
          <p:cNvSpPr/>
          <p:nvPr/>
        </p:nvSpPr>
        <p:spPr>
          <a:xfrm>
            <a:off x="4999482" y="2336292"/>
            <a:ext cx="100584" cy="100584"/>
          </a:xfrm>
          <a:prstGeom prst="ellipse">
            <a:avLst/>
          </a:prstGeom>
          <a:solidFill>
            <a:srgbClr val="D9DEE6"/>
          </a:solidFill>
          <a:ln/>
        </p:spPr>
      </p:sp>
      <p:sp>
        <p:nvSpPr>
          <p:cNvPr id="41" name="Shape 39"/>
          <p:cNvSpPr/>
          <p:nvPr/>
        </p:nvSpPr>
        <p:spPr>
          <a:xfrm>
            <a:off x="6467094" y="2336292"/>
            <a:ext cx="100584" cy="100584"/>
          </a:xfrm>
          <a:prstGeom prst="ellipse">
            <a:avLst/>
          </a:prstGeom>
          <a:solidFill>
            <a:srgbClr val="5B9BD5"/>
          </a:solidFill>
          <a:ln/>
        </p:spPr>
      </p:sp>
      <p:sp>
        <p:nvSpPr>
          <p:cNvPr id="42" name="Shape 40"/>
          <p:cNvSpPr/>
          <p:nvPr/>
        </p:nvSpPr>
        <p:spPr>
          <a:xfrm>
            <a:off x="6585966" y="2336292"/>
            <a:ext cx="100584" cy="100584"/>
          </a:xfrm>
          <a:prstGeom prst="ellipse">
            <a:avLst/>
          </a:prstGeom>
          <a:solidFill>
            <a:srgbClr val="5B9BD5"/>
          </a:solidFill>
          <a:ln/>
        </p:spPr>
      </p:sp>
      <p:sp>
        <p:nvSpPr>
          <p:cNvPr id="43" name="Shape 41"/>
          <p:cNvSpPr/>
          <p:nvPr/>
        </p:nvSpPr>
        <p:spPr>
          <a:xfrm>
            <a:off x="6704838" y="2336292"/>
            <a:ext cx="100584" cy="100584"/>
          </a:xfrm>
          <a:prstGeom prst="ellipse">
            <a:avLst/>
          </a:prstGeom>
          <a:solidFill>
            <a:srgbClr val="5B9BD5"/>
          </a:solidFill>
          <a:ln/>
        </p:spPr>
      </p:sp>
      <p:sp>
        <p:nvSpPr>
          <p:cNvPr id="44" name="Shape 42"/>
          <p:cNvSpPr/>
          <p:nvPr/>
        </p:nvSpPr>
        <p:spPr>
          <a:xfrm>
            <a:off x="6823710" y="2336292"/>
            <a:ext cx="100584" cy="100584"/>
          </a:xfrm>
          <a:prstGeom prst="ellipse">
            <a:avLst/>
          </a:prstGeom>
          <a:solidFill>
            <a:srgbClr val="5B9BD5"/>
          </a:solidFill>
          <a:ln/>
        </p:spPr>
      </p:sp>
      <p:sp>
        <p:nvSpPr>
          <p:cNvPr id="45" name="Shape 43"/>
          <p:cNvSpPr/>
          <p:nvPr/>
        </p:nvSpPr>
        <p:spPr>
          <a:xfrm>
            <a:off x="6942582" y="2336292"/>
            <a:ext cx="100584" cy="100584"/>
          </a:xfrm>
          <a:prstGeom prst="ellipse">
            <a:avLst/>
          </a:prstGeom>
          <a:solidFill>
            <a:srgbClr val="5B9BD5"/>
          </a:solidFill>
          <a:ln/>
        </p:spPr>
      </p:sp>
      <p:sp>
        <p:nvSpPr>
          <p:cNvPr id="46" name="Shape 44"/>
          <p:cNvSpPr/>
          <p:nvPr/>
        </p:nvSpPr>
        <p:spPr>
          <a:xfrm>
            <a:off x="8410194" y="2336292"/>
            <a:ext cx="100584" cy="10058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47" name="Shape 45"/>
          <p:cNvSpPr/>
          <p:nvPr/>
        </p:nvSpPr>
        <p:spPr>
          <a:xfrm>
            <a:off x="8529066" y="2336292"/>
            <a:ext cx="100584" cy="10058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48" name="Shape 46"/>
          <p:cNvSpPr/>
          <p:nvPr/>
        </p:nvSpPr>
        <p:spPr>
          <a:xfrm>
            <a:off x="8647938" y="2336292"/>
            <a:ext cx="100584" cy="10058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49" name="Shape 47"/>
          <p:cNvSpPr/>
          <p:nvPr/>
        </p:nvSpPr>
        <p:spPr>
          <a:xfrm>
            <a:off x="8766810" y="2336292"/>
            <a:ext cx="100584" cy="100584"/>
          </a:xfrm>
          <a:prstGeom prst="ellipse">
            <a:avLst/>
          </a:prstGeom>
          <a:solidFill>
            <a:srgbClr val="D9DEE6"/>
          </a:solidFill>
          <a:ln/>
        </p:spPr>
      </p:sp>
      <p:sp>
        <p:nvSpPr>
          <p:cNvPr id="50" name="Shape 48"/>
          <p:cNvSpPr/>
          <p:nvPr/>
        </p:nvSpPr>
        <p:spPr>
          <a:xfrm>
            <a:off x="8885682" y="2336292"/>
            <a:ext cx="100584" cy="100584"/>
          </a:xfrm>
          <a:prstGeom prst="ellipse">
            <a:avLst/>
          </a:prstGeom>
          <a:solidFill>
            <a:srgbClr val="D9DEE6"/>
          </a:solidFill>
          <a:ln/>
        </p:spPr>
      </p:sp>
      <p:sp>
        <p:nvSpPr>
          <p:cNvPr id="51" name="Shape 49"/>
          <p:cNvSpPr/>
          <p:nvPr/>
        </p:nvSpPr>
        <p:spPr>
          <a:xfrm>
            <a:off x="10353294" y="2336292"/>
            <a:ext cx="100584" cy="100584"/>
          </a:xfrm>
          <a:prstGeom prst="ellipse">
            <a:avLst/>
          </a:prstGeom>
          <a:solidFill>
            <a:srgbClr val="00A99D"/>
          </a:solidFill>
          <a:ln/>
        </p:spPr>
      </p:sp>
      <p:sp>
        <p:nvSpPr>
          <p:cNvPr id="52" name="Shape 50"/>
          <p:cNvSpPr/>
          <p:nvPr/>
        </p:nvSpPr>
        <p:spPr>
          <a:xfrm>
            <a:off x="10472166" y="2336292"/>
            <a:ext cx="100584" cy="100584"/>
          </a:xfrm>
          <a:prstGeom prst="ellipse">
            <a:avLst/>
          </a:prstGeom>
          <a:solidFill>
            <a:srgbClr val="00A99D"/>
          </a:solidFill>
          <a:ln/>
        </p:spPr>
      </p:sp>
      <p:sp>
        <p:nvSpPr>
          <p:cNvPr id="53" name="Shape 51"/>
          <p:cNvSpPr/>
          <p:nvPr/>
        </p:nvSpPr>
        <p:spPr>
          <a:xfrm>
            <a:off x="10591038" y="2336292"/>
            <a:ext cx="100584" cy="100584"/>
          </a:xfrm>
          <a:prstGeom prst="ellipse">
            <a:avLst/>
          </a:prstGeom>
          <a:solidFill>
            <a:srgbClr val="00A99D"/>
          </a:solidFill>
          <a:ln/>
        </p:spPr>
      </p:sp>
      <p:sp>
        <p:nvSpPr>
          <p:cNvPr id="54" name="Shape 52"/>
          <p:cNvSpPr/>
          <p:nvPr/>
        </p:nvSpPr>
        <p:spPr>
          <a:xfrm>
            <a:off x="10709910" y="2336292"/>
            <a:ext cx="100584" cy="100584"/>
          </a:xfrm>
          <a:prstGeom prst="ellipse">
            <a:avLst/>
          </a:prstGeom>
          <a:solidFill>
            <a:srgbClr val="00A99D"/>
          </a:solidFill>
          <a:ln/>
        </p:spPr>
      </p:sp>
      <p:sp>
        <p:nvSpPr>
          <p:cNvPr id="55" name="Shape 53"/>
          <p:cNvSpPr/>
          <p:nvPr/>
        </p:nvSpPr>
        <p:spPr>
          <a:xfrm>
            <a:off x="10828782" y="2336292"/>
            <a:ext cx="100584" cy="100584"/>
          </a:xfrm>
          <a:prstGeom prst="ellipse">
            <a:avLst/>
          </a:prstGeom>
          <a:solidFill>
            <a:srgbClr val="00A99D"/>
          </a:solidFill>
          <a:ln/>
        </p:spPr>
      </p:sp>
      <p:sp>
        <p:nvSpPr>
          <p:cNvPr id="56" name="Text 54"/>
          <p:cNvSpPr/>
          <p:nvPr/>
        </p:nvSpPr>
        <p:spPr>
          <a:xfrm>
            <a:off x="685800" y="2587752"/>
            <a:ext cx="3108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handling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4523994" y="2738628"/>
            <a:ext cx="100584" cy="100584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58" name="Shape 56"/>
          <p:cNvSpPr/>
          <p:nvPr/>
        </p:nvSpPr>
        <p:spPr>
          <a:xfrm>
            <a:off x="4642866" y="2738628"/>
            <a:ext cx="100584" cy="100584"/>
          </a:xfrm>
          <a:prstGeom prst="ellipse">
            <a:avLst/>
          </a:prstGeom>
          <a:solidFill>
            <a:srgbClr val="D9DEE6"/>
          </a:solidFill>
          <a:ln/>
        </p:spPr>
      </p:sp>
      <p:sp>
        <p:nvSpPr>
          <p:cNvPr id="59" name="Shape 57"/>
          <p:cNvSpPr/>
          <p:nvPr/>
        </p:nvSpPr>
        <p:spPr>
          <a:xfrm>
            <a:off x="4761738" y="2738628"/>
            <a:ext cx="100584" cy="100584"/>
          </a:xfrm>
          <a:prstGeom prst="ellipse">
            <a:avLst/>
          </a:prstGeom>
          <a:solidFill>
            <a:srgbClr val="D9DEE6"/>
          </a:solidFill>
          <a:ln/>
        </p:spPr>
      </p:sp>
      <p:sp>
        <p:nvSpPr>
          <p:cNvPr id="60" name="Shape 58"/>
          <p:cNvSpPr/>
          <p:nvPr/>
        </p:nvSpPr>
        <p:spPr>
          <a:xfrm>
            <a:off x="4880610" y="2738628"/>
            <a:ext cx="100584" cy="100584"/>
          </a:xfrm>
          <a:prstGeom prst="ellipse">
            <a:avLst/>
          </a:prstGeom>
          <a:solidFill>
            <a:srgbClr val="D9DEE6"/>
          </a:solidFill>
          <a:ln/>
        </p:spPr>
      </p:sp>
      <p:sp>
        <p:nvSpPr>
          <p:cNvPr id="61" name="Shape 59"/>
          <p:cNvSpPr/>
          <p:nvPr/>
        </p:nvSpPr>
        <p:spPr>
          <a:xfrm>
            <a:off x="4999482" y="2738628"/>
            <a:ext cx="100584" cy="100584"/>
          </a:xfrm>
          <a:prstGeom prst="ellipse">
            <a:avLst/>
          </a:prstGeom>
          <a:solidFill>
            <a:srgbClr val="D9DEE6"/>
          </a:solidFill>
          <a:ln/>
        </p:spPr>
      </p:sp>
      <p:sp>
        <p:nvSpPr>
          <p:cNvPr id="62" name="Shape 60"/>
          <p:cNvSpPr/>
          <p:nvPr/>
        </p:nvSpPr>
        <p:spPr>
          <a:xfrm>
            <a:off x="6467094" y="2738628"/>
            <a:ext cx="100584" cy="100584"/>
          </a:xfrm>
          <a:prstGeom prst="ellipse">
            <a:avLst/>
          </a:prstGeom>
          <a:solidFill>
            <a:srgbClr val="5B9BD5"/>
          </a:solidFill>
          <a:ln/>
        </p:spPr>
      </p:sp>
      <p:sp>
        <p:nvSpPr>
          <p:cNvPr id="63" name="Shape 61"/>
          <p:cNvSpPr/>
          <p:nvPr/>
        </p:nvSpPr>
        <p:spPr>
          <a:xfrm>
            <a:off x="6585966" y="2738628"/>
            <a:ext cx="100584" cy="100584"/>
          </a:xfrm>
          <a:prstGeom prst="ellipse">
            <a:avLst/>
          </a:prstGeom>
          <a:solidFill>
            <a:srgbClr val="5B9BD5"/>
          </a:solidFill>
          <a:ln/>
        </p:spPr>
      </p:sp>
      <p:sp>
        <p:nvSpPr>
          <p:cNvPr id="64" name="Shape 62"/>
          <p:cNvSpPr/>
          <p:nvPr/>
        </p:nvSpPr>
        <p:spPr>
          <a:xfrm>
            <a:off x="6704838" y="2738628"/>
            <a:ext cx="100584" cy="100584"/>
          </a:xfrm>
          <a:prstGeom prst="ellipse">
            <a:avLst/>
          </a:prstGeom>
          <a:solidFill>
            <a:srgbClr val="5B9BD5"/>
          </a:solidFill>
          <a:ln/>
        </p:spPr>
      </p:sp>
      <p:sp>
        <p:nvSpPr>
          <p:cNvPr id="65" name="Shape 63"/>
          <p:cNvSpPr/>
          <p:nvPr/>
        </p:nvSpPr>
        <p:spPr>
          <a:xfrm>
            <a:off x="6823710" y="2738628"/>
            <a:ext cx="100584" cy="100584"/>
          </a:xfrm>
          <a:prstGeom prst="ellipse">
            <a:avLst/>
          </a:prstGeom>
          <a:solidFill>
            <a:srgbClr val="5B9BD5"/>
          </a:solidFill>
          <a:ln/>
        </p:spPr>
      </p:sp>
      <p:sp>
        <p:nvSpPr>
          <p:cNvPr id="66" name="Shape 64"/>
          <p:cNvSpPr/>
          <p:nvPr/>
        </p:nvSpPr>
        <p:spPr>
          <a:xfrm>
            <a:off x="6942582" y="2738628"/>
            <a:ext cx="100584" cy="100584"/>
          </a:xfrm>
          <a:prstGeom prst="ellipse">
            <a:avLst/>
          </a:prstGeom>
          <a:solidFill>
            <a:srgbClr val="5B9BD5"/>
          </a:solidFill>
          <a:ln/>
        </p:spPr>
      </p:sp>
      <p:sp>
        <p:nvSpPr>
          <p:cNvPr id="67" name="Shape 65"/>
          <p:cNvSpPr/>
          <p:nvPr/>
        </p:nvSpPr>
        <p:spPr>
          <a:xfrm>
            <a:off x="8410194" y="2738628"/>
            <a:ext cx="100584" cy="10058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8" name="Shape 66"/>
          <p:cNvSpPr/>
          <p:nvPr/>
        </p:nvSpPr>
        <p:spPr>
          <a:xfrm>
            <a:off x="8529066" y="2738628"/>
            <a:ext cx="100584" cy="10058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9" name="Shape 67"/>
          <p:cNvSpPr/>
          <p:nvPr/>
        </p:nvSpPr>
        <p:spPr>
          <a:xfrm>
            <a:off x="8647938" y="2738628"/>
            <a:ext cx="100584" cy="100584"/>
          </a:xfrm>
          <a:prstGeom prst="ellipse">
            <a:avLst/>
          </a:prstGeom>
          <a:solidFill>
            <a:srgbClr val="D9DEE6"/>
          </a:solidFill>
          <a:ln/>
        </p:spPr>
      </p:sp>
      <p:sp>
        <p:nvSpPr>
          <p:cNvPr id="70" name="Shape 68"/>
          <p:cNvSpPr/>
          <p:nvPr/>
        </p:nvSpPr>
        <p:spPr>
          <a:xfrm>
            <a:off x="8766810" y="2738628"/>
            <a:ext cx="100584" cy="100584"/>
          </a:xfrm>
          <a:prstGeom prst="ellipse">
            <a:avLst/>
          </a:prstGeom>
          <a:solidFill>
            <a:srgbClr val="D9DEE6"/>
          </a:solidFill>
          <a:ln/>
        </p:spPr>
      </p:sp>
      <p:sp>
        <p:nvSpPr>
          <p:cNvPr id="71" name="Shape 69"/>
          <p:cNvSpPr/>
          <p:nvPr/>
        </p:nvSpPr>
        <p:spPr>
          <a:xfrm>
            <a:off x="8885682" y="2738628"/>
            <a:ext cx="100584" cy="100584"/>
          </a:xfrm>
          <a:prstGeom prst="ellipse">
            <a:avLst/>
          </a:prstGeom>
          <a:solidFill>
            <a:srgbClr val="D9DEE6"/>
          </a:solidFill>
          <a:ln/>
        </p:spPr>
      </p:sp>
      <p:sp>
        <p:nvSpPr>
          <p:cNvPr id="72" name="Shape 70"/>
          <p:cNvSpPr/>
          <p:nvPr/>
        </p:nvSpPr>
        <p:spPr>
          <a:xfrm>
            <a:off x="10353294" y="2738628"/>
            <a:ext cx="100584" cy="100584"/>
          </a:xfrm>
          <a:prstGeom prst="ellipse">
            <a:avLst/>
          </a:prstGeom>
          <a:solidFill>
            <a:srgbClr val="00A99D"/>
          </a:solidFill>
          <a:ln/>
        </p:spPr>
      </p:sp>
      <p:sp>
        <p:nvSpPr>
          <p:cNvPr id="73" name="Shape 71"/>
          <p:cNvSpPr/>
          <p:nvPr/>
        </p:nvSpPr>
        <p:spPr>
          <a:xfrm>
            <a:off x="10472166" y="2738628"/>
            <a:ext cx="100584" cy="100584"/>
          </a:xfrm>
          <a:prstGeom prst="ellipse">
            <a:avLst/>
          </a:prstGeom>
          <a:solidFill>
            <a:srgbClr val="00A99D"/>
          </a:solidFill>
          <a:ln/>
        </p:spPr>
      </p:sp>
      <p:sp>
        <p:nvSpPr>
          <p:cNvPr id="74" name="Shape 72"/>
          <p:cNvSpPr/>
          <p:nvPr/>
        </p:nvSpPr>
        <p:spPr>
          <a:xfrm>
            <a:off x="10591038" y="2738628"/>
            <a:ext cx="100584" cy="100584"/>
          </a:xfrm>
          <a:prstGeom prst="ellipse">
            <a:avLst/>
          </a:prstGeom>
          <a:solidFill>
            <a:srgbClr val="00A99D"/>
          </a:solidFill>
          <a:ln/>
        </p:spPr>
      </p:sp>
      <p:sp>
        <p:nvSpPr>
          <p:cNvPr id="75" name="Shape 73"/>
          <p:cNvSpPr/>
          <p:nvPr/>
        </p:nvSpPr>
        <p:spPr>
          <a:xfrm>
            <a:off x="10709910" y="2738628"/>
            <a:ext cx="100584" cy="100584"/>
          </a:xfrm>
          <a:prstGeom prst="ellipse">
            <a:avLst/>
          </a:prstGeom>
          <a:solidFill>
            <a:srgbClr val="00A99D"/>
          </a:solidFill>
          <a:ln/>
        </p:spPr>
      </p:sp>
      <p:sp>
        <p:nvSpPr>
          <p:cNvPr id="76" name="Shape 74"/>
          <p:cNvSpPr/>
          <p:nvPr/>
        </p:nvSpPr>
        <p:spPr>
          <a:xfrm>
            <a:off x="10828782" y="2738628"/>
            <a:ext cx="100584" cy="100584"/>
          </a:xfrm>
          <a:prstGeom prst="ellipse">
            <a:avLst/>
          </a:prstGeom>
          <a:solidFill>
            <a:srgbClr val="00A99D"/>
          </a:solidFill>
          <a:ln/>
        </p:spPr>
      </p:sp>
      <p:sp>
        <p:nvSpPr>
          <p:cNvPr id="77" name="Shape 75"/>
          <p:cNvSpPr/>
          <p:nvPr/>
        </p:nvSpPr>
        <p:spPr>
          <a:xfrm>
            <a:off x="548640" y="2990088"/>
            <a:ext cx="11064240" cy="402336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78" name="Text 76"/>
          <p:cNvSpPr/>
          <p:nvPr/>
        </p:nvSpPr>
        <p:spPr>
          <a:xfrm>
            <a:off x="685800" y="2990088"/>
            <a:ext cx="3108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quality</a:t>
            </a:r>
            <a:endParaRPr lang="en-US" sz="1050" dirty="0"/>
          </a:p>
        </p:txBody>
      </p:sp>
      <p:sp>
        <p:nvSpPr>
          <p:cNvPr id="79" name="Shape 77"/>
          <p:cNvSpPr/>
          <p:nvPr/>
        </p:nvSpPr>
        <p:spPr>
          <a:xfrm>
            <a:off x="4523994" y="3140964"/>
            <a:ext cx="100584" cy="100584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80" name="Shape 78"/>
          <p:cNvSpPr/>
          <p:nvPr/>
        </p:nvSpPr>
        <p:spPr>
          <a:xfrm>
            <a:off x="4642866" y="3140964"/>
            <a:ext cx="100584" cy="100584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81" name="Shape 79"/>
          <p:cNvSpPr/>
          <p:nvPr/>
        </p:nvSpPr>
        <p:spPr>
          <a:xfrm>
            <a:off x="4761738" y="3140964"/>
            <a:ext cx="100584" cy="100584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82" name="Shape 80"/>
          <p:cNvSpPr/>
          <p:nvPr/>
        </p:nvSpPr>
        <p:spPr>
          <a:xfrm>
            <a:off x="4880610" y="3140964"/>
            <a:ext cx="100584" cy="100584"/>
          </a:xfrm>
          <a:prstGeom prst="ellipse">
            <a:avLst/>
          </a:prstGeom>
          <a:solidFill>
            <a:srgbClr val="D9DEE6"/>
          </a:solidFill>
          <a:ln/>
        </p:spPr>
      </p:sp>
      <p:sp>
        <p:nvSpPr>
          <p:cNvPr id="83" name="Shape 81"/>
          <p:cNvSpPr/>
          <p:nvPr/>
        </p:nvSpPr>
        <p:spPr>
          <a:xfrm>
            <a:off x="4999482" y="3140964"/>
            <a:ext cx="100584" cy="100584"/>
          </a:xfrm>
          <a:prstGeom prst="ellipse">
            <a:avLst/>
          </a:prstGeom>
          <a:solidFill>
            <a:srgbClr val="D9DEE6"/>
          </a:solidFill>
          <a:ln/>
        </p:spPr>
      </p:sp>
      <p:sp>
        <p:nvSpPr>
          <p:cNvPr id="84" name="Shape 82"/>
          <p:cNvSpPr/>
          <p:nvPr/>
        </p:nvSpPr>
        <p:spPr>
          <a:xfrm>
            <a:off x="6467094" y="3140964"/>
            <a:ext cx="100584" cy="100584"/>
          </a:xfrm>
          <a:prstGeom prst="ellipse">
            <a:avLst/>
          </a:prstGeom>
          <a:solidFill>
            <a:srgbClr val="5B9BD5"/>
          </a:solidFill>
          <a:ln/>
        </p:spPr>
      </p:sp>
      <p:sp>
        <p:nvSpPr>
          <p:cNvPr id="85" name="Shape 83"/>
          <p:cNvSpPr/>
          <p:nvPr/>
        </p:nvSpPr>
        <p:spPr>
          <a:xfrm>
            <a:off x="6585966" y="3140964"/>
            <a:ext cx="100584" cy="100584"/>
          </a:xfrm>
          <a:prstGeom prst="ellipse">
            <a:avLst/>
          </a:prstGeom>
          <a:solidFill>
            <a:srgbClr val="5B9BD5"/>
          </a:solidFill>
          <a:ln/>
        </p:spPr>
      </p:sp>
      <p:sp>
        <p:nvSpPr>
          <p:cNvPr id="86" name="Shape 84"/>
          <p:cNvSpPr/>
          <p:nvPr/>
        </p:nvSpPr>
        <p:spPr>
          <a:xfrm>
            <a:off x="6704838" y="3140964"/>
            <a:ext cx="100584" cy="100584"/>
          </a:xfrm>
          <a:prstGeom prst="ellipse">
            <a:avLst/>
          </a:prstGeom>
          <a:solidFill>
            <a:srgbClr val="5B9BD5"/>
          </a:solidFill>
          <a:ln/>
        </p:spPr>
      </p:sp>
      <p:sp>
        <p:nvSpPr>
          <p:cNvPr id="87" name="Shape 85"/>
          <p:cNvSpPr/>
          <p:nvPr/>
        </p:nvSpPr>
        <p:spPr>
          <a:xfrm>
            <a:off x="6823710" y="3140964"/>
            <a:ext cx="100584" cy="100584"/>
          </a:xfrm>
          <a:prstGeom prst="ellipse">
            <a:avLst/>
          </a:prstGeom>
          <a:solidFill>
            <a:srgbClr val="5B9BD5"/>
          </a:solidFill>
          <a:ln/>
        </p:spPr>
      </p:sp>
      <p:sp>
        <p:nvSpPr>
          <p:cNvPr id="88" name="Shape 86"/>
          <p:cNvSpPr/>
          <p:nvPr/>
        </p:nvSpPr>
        <p:spPr>
          <a:xfrm>
            <a:off x="6942582" y="3140964"/>
            <a:ext cx="100584" cy="100584"/>
          </a:xfrm>
          <a:prstGeom prst="ellipse">
            <a:avLst/>
          </a:prstGeom>
          <a:solidFill>
            <a:srgbClr val="5B9BD5"/>
          </a:solidFill>
          <a:ln/>
        </p:spPr>
      </p:sp>
      <p:sp>
        <p:nvSpPr>
          <p:cNvPr id="89" name="Shape 87"/>
          <p:cNvSpPr/>
          <p:nvPr/>
        </p:nvSpPr>
        <p:spPr>
          <a:xfrm>
            <a:off x="8410194" y="3140964"/>
            <a:ext cx="100584" cy="10058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90" name="Shape 88"/>
          <p:cNvSpPr/>
          <p:nvPr/>
        </p:nvSpPr>
        <p:spPr>
          <a:xfrm>
            <a:off x="8529066" y="3140964"/>
            <a:ext cx="100584" cy="10058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91" name="Shape 89"/>
          <p:cNvSpPr/>
          <p:nvPr/>
        </p:nvSpPr>
        <p:spPr>
          <a:xfrm>
            <a:off x="8647938" y="3140964"/>
            <a:ext cx="100584" cy="10058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92" name="Shape 90"/>
          <p:cNvSpPr/>
          <p:nvPr/>
        </p:nvSpPr>
        <p:spPr>
          <a:xfrm>
            <a:off x="8766810" y="3140964"/>
            <a:ext cx="100584" cy="100584"/>
          </a:xfrm>
          <a:prstGeom prst="ellipse">
            <a:avLst/>
          </a:prstGeom>
          <a:solidFill>
            <a:srgbClr val="D9DEE6"/>
          </a:solidFill>
          <a:ln/>
        </p:spPr>
      </p:sp>
      <p:sp>
        <p:nvSpPr>
          <p:cNvPr id="93" name="Shape 91"/>
          <p:cNvSpPr/>
          <p:nvPr/>
        </p:nvSpPr>
        <p:spPr>
          <a:xfrm>
            <a:off x="8885682" y="3140964"/>
            <a:ext cx="100584" cy="100584"/>
          </a:xfrm>
          <a:prstGeom prst="ellipse">
            <a:avLst/>
          </a:prstGeom>
          <a:solidFill>
            <a:srgbClr val="D9DEE6"/>
          </a:solidFill>
          <a:ln/>
        </p:spPr>
      </p:sp>
      <p:sp>
        <p:nvSpPr>
          <p:cNvPr id="94" name="Shape 92"/>
          <p:cNvSpPr/>
          <p:nvPr/>
        </p:nvSpPr>
        <p:spPr>
          <a:xfrm>
            <a:off x="10353294" y="3140964"/>
            <a:ext cx="100584" cy="100584"/>
          </a:xfrm>
          <a:prstGeom prst="ellipse">
            <a:avLst/>
          </a:prstGeom>
          <a:solidFill>
            <a:srgbClr val="00A99D"/>
          </a:solidFill>
          <a:ln/>
        </p:spPr>
      </p:sp>
      <p:sp>
        <p:nvSpPr>
          <p:cNvPr id="95" name="Shape 93"/>
          <p:cNvSpPr/>
          <p:nvPr/>
        </p:nvSpPr>
        <p:spPr>
          <a:xfrm>
            <a:off x="10472166" y="3140964"/>
            <a:ext cx="100584" cy="100584"/>
          </a:xfrm>
          <a:prstGeom prst="ellipse">
            <a:avLst/>
          </a:prstGeom>
          <a:solidFill>
            <a:srgbClr val="00A99D"/>
          </a:solidFill>
          <a:ln/>
        </p:spPr>
      </p:sp>
      <p:sp>
        <p:nvSpPr>
          <p:cNvPr id="96" name="Shape 94"/>
          <p:cNvSpPr/>
          <p:nvPr/>
        </p:nvSpPr>
        <p:spPr>
          <a:xfrm>
            <a:off x="10591038" y="3140964"/>
            <a:ext cx="100584" cy="100584"/>
          </a:xfrm>
          <a:prstGeom prst="ellipse">
            <a:avLst/>
          </a:prstGeom>
          <a:solidFill>
            <a:srgbClr val="00A99D"/>
          </a:solidFill>
          <a:ln/>
        </p:spPr>
      </p:sp>
      <p:sp>
        <p:nvSpPr>
          <p:cNvPr id="97" name="Shape 95"/>
          <p:cNvSpPr/>
          <p:nvPr/>
        </p:nvSpPr>
        <p:spPr>
          <a:xfrm>
            <a:off x="10709910" y="3140964"/>
            <a:ext cx="100584" cy="100584"/>
          </a:xfrm>
          <a:prstGeom prst="ellipse">
            <a:avLst/>
          </a:prstGeom>
          <a:solidFill>
            <a:srgbClr val="00A99D"/>
          </a:solidFill>
          <a:ln/>
        </p:spPr>
      </p:sp>
      <p:sp>
        <p:nvSpPr>
          <p:cNvPr id="98" name="Shape 96"/>
          <p:cNvSpPr/>
          <p:nvPr/>
        </p:nvSpPr>
        <p:spPr>
          <a:xfrm>
            <a:off x="10828782" y="3140964"/>
            <a:ext cx="100584" cy="100584"/>
          </a:xfrm>
          <a:prstGeom prst="ellipse">
            <a:avLst/>
          </a:prstGeom>
          <a:solidFill>
            <a:srgbClr val="00A99D"/>
          </a:solidFill>
          <a:ln/>
        </p:spPr>
      </p:sp>
      <p:sp>
        <p:nvSpPr>
          <p:cNvPr id="99" name="Text 97"/>
          <p:cNvSpPr/>
          <p:nvPr/>
        </p:nvSpPr>
        <p:spPr>
          <a:xfrm>
            <a:off x="685800" y="3392424"/>
            <a:ext cx="3108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efficiency</a:t>
            </a:r>
            <a:endParaRPr lang="en-US" sz="1050" dirty="0"/>
          </a:p>
        </p:txBody>
      </p:sp>
      <p:sp>
        <p:nvSpPr>
          <p:cNvPr id="100" name="Shape 98"/>
          <p:cNvSpPr/>
          <p:nvPr/>
        </p:nvSpPr>
        <p:spPr>
          <a:xfrm>
            <a:off x="4523994" y="3543300"/>
            <a:ext cx="100584" cy="100584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101" name="Shape 99"/>
          <p:cNvSpPr/>
          <p:nvPr/>
        </p:nvSpPr>
        <p:spPr>
          <a:xfrm>
            <a:off x="4642866" y="3543300"/>
            <a:ext cx="100584" cy="100584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102" name="Shape 100"/>
          <p:cNvSpPr/>
          <p:nvPr/>
        </p:nvSpPr>
        <p:spPr>
          <a:xfrm>
            <a:off x="4761738" y="3543300"/>
            <a:ext cx="100584" cy="100584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103" name="Shape 101"/>
          <p:cNvSpPr/>
          <p:nvPr/>
        </p:nvSpPr>
        <p:spPr>
          <a:xfrm>
            <a:off x="4880610" y="3543300"/>
            <a:ext cx="100584" cy="100584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104" name="Shape 102"/>
          <p:cNvSpPr/>
          <p:nvPr/>
        </p:nvSpPr>
        <p:spPr>
          <a:xfrm>
            <a:off x="4999482" y="3543300"/>
            <a:ext cx="100584" cy="100584"/>
          </a:xfrm>
          <a:prstGeom prst="ellipse">
            <a:avLst/>
          </a:prstGeom>
          <a:solidFill>
            <a:srgbClr val="D9DEE6"/>
          </a:solidFill>
          <a:ln/>
        </p:spPr>
      </p:sp>
      <p:sp>
        <p:nvSpPr>
          <p:cNvPr id="105" name="Shape 103"/>
          <p:cNvSpPr/>
          <p:nvPr/>
        </p:nvSpPr>
        <p:spPr>
          <a:xfrm>
            <a:off x="6467094" y="3543300"/>
            <a:ext cx="100584" cy="100584"/>
          </a:xfrm>
          <a:prstGeom prst="ellipse">
            <a:avLst/>
          </a:prstGeom>
          <a:solidFill>
            <a:srgbClr val="5B9BD5"/>
          </a:solidFill>
          <a:ln/>
        </p:spPr>
      </p:sp>
      <p:sp>
        <p:nvSpPr>
          <p:cNvPr id="106" name="Shape 104"/>
          <p:cNvSpPr/>
          <p:nvPr/>
        </p:nvSpPr>
        <p:spPr>
          <a:xfrm>
            <a:off x="6585966" y="3543300"/>
            <a:ext cx="100584" cy="100584"/>
          </a:xfrm>
          <a:prstGeom prst="ellipse">
            <a:avLst/>
          </a:prstGeom>
          <a:solidFill>
            <a:srgbClr val="5B9BD5"/>
          </a:solidFill>
          <a:ln/>
        </p:spPr>
      </p:sp>
      <p:sp>
        <p:nvSpPr>
          <p:cNvPr id="107" name="Shape 105"/>
          <p:cNvSpPr/>
          <p:nvPr/>
        </p:nvSpPr>
        <p:spPr>
          <a:xfrm>
            <a:off x="6704838" y="3543300"/>
            <a:ext cx="100584" cy="100584"/>
          </a:xfrm>
          <a:prstGeom prst="ellipse">
            <a:avLst/>
          </a:prstGeom>
          <a:solidFill>
            <a:srgbClr val="5B9BD5"/>
          </a:solidFill>
          <a:ln/>
        </p:spPr>
      </p:sp>
      <p:sp>
        <p:nvSpPr>
          <p:cNvPr id="108" name="Shape 106"/>
          <p:cNvSpPr/>
          <p:nvPr/>
        </p:nvSpPr>
        <p:spPr>
          <a:xfrm>
            <a:off x="6823710" y="3543300"/>
            <a:ext cx="100584" cy="100584"/>
          </a:xfrm>
          <a:prstGeom prst="ellipse">
            <a:avLst/>
          </a:prstGeom>
          <a:solidFill>
            <a:srgbClr val="5B9BD5"/>
          </a:solidFill>
          <a:ln/>
        </p:spPr>
      </p:sp>
      <p:sp>
        <p:nvSpPr>
          <p:cNvPr id="109" name="Shape 107"/>
          <p:cNvSpPr/>
          <p:nvPr/>
        </p:nvSpPr>
        <p:spPr>
          <a:xfrm>
            <a:off x="6942582" y="3543300"/>
            <a:ext cx="100584" cy="100584"/>
          </a:xfrm>
          <a:prstGeom prst="ellipse">
            <a:avLst/>
          </a:prstGeom>
          <a:solidFill>
            <a:srgbClr val="5B9BD5"/>
          </a:solidFill>
          <a:ln/>
        </p:spPr>
      </p:sp>
      <p:sp>
        <p:nvSpPr>
          <p:cNvPr id="110" name="Shape 108"/>
          <p:cNvSpPr/>
          <p:nvPr/>
        </p:nvSpPr>
        <p:spPr>
          <a:xfrm>
            <a:off x="8410194" y="3543300"/>
            <a:ext cx="100584" cy="10058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11" name="Shape 109"/>
          <p:cNvSpPr/>
          <p:nvPr/>
        </p:nvSpPr>
        <p:spPr>
          <a:xfrm>
            <a:off x="8529066" y="3543300"/>
            <a:ext cx="100584" cy="10058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12" name="Shape 110"/>
          <p:cNvSpPr/>
          <p:nvPr/>
        </p:nvSpPr>
        <p:spPr>
          <a:xfrm>
            <a:off x="8647938" y="3543300"/>
            <a:ext cx="100584" cy="100584"/>
          </a:xfrm>
          <a:prstGeom prst="ellipse">
            <a:avLst/>
          </a:prstGeom>
          <a:solidFill>
            <a:srgbClr val="D9DEE6"/>
          </a:solidFill>
          <a:ln/>
        </p:spPr>
      </p:sp>
      <p:sp>
        <p:nvSpPr>
          <p:cNvPr id="113" name="Shape 111"/>
          <p:cNvSpPr/>
          <p:nvPr/>
        </p:nvSpPr>
        <p:spPr>
          <a:xfrm>
            <a:off x="8766810" y="3543300"/>
            <a:ext cx="100584" cy="100584"/>
          </a:xfrm>
          <a:prstGeom prst="ellipse">
            <a:avLst/>
          </a:prstGeom>
          <a:solidFill>
            <a:srgbClr val="D9DEE6"/>
          </a:solidFill>
          <a:ln/>
        </p:spPr>
      </p:sp>
      <p:sp>
        <p:nvSpPr>
          <p:cNvPr id="114" name="Shape 112"/>
          <p:cNvSpPr/>
          <p:nvPr/>
        </p:nvSpPr>
        <p:spPr>
          <a:xfrm>
            <a:off x="8885682" y="3543300"/>
            <a:ext cx="100584" cy="100584"/>
          </a:xfrm>
          <a:prstGeom prst="ellipse">
            <a:avLst/>
          </a:prstGeom>
          <a:solidFill>
            <a:srgbClr val="D9DEE6"/>
          </a:solidFill>
          <a:ln/>
        </p:spPr>
      </p:sp>
      <p:sp>
        <p:nvSpPr>
          <p:cNvPr id="115" name="Shape 113"/>
          <p:cNvSpPr/>
          <p:nvPr/>
        </p:nvSpPr>
        <p:spPr>
          <a:xfrm>
            <a:off x="10353294" y="3543300"/>
            <a:ext cx="100584" cy="100584"/>
          </a:xfrm>
          <a:prstGeom prst="ellipse">
            <a:avLst/>
          </a:prstGeom>
          <a:solidFill>
            <a:srgbClr val="00A99D"/>
          </a:solidFill>
          <a:ln/>
        </p:spPr>
      </p:sp>
      <p:sp>
        <p:nvSpPr>
          <p:cNvPr id="116" name="Shape 114"/>
          <p:cNvSpPr/>
          <p:nvPr/>
        </p:nvSpPr>
        <p:spPr>
          <a:xfrm>
            <a:off x="10472166" y="3543300"/>
            <a:ext cx="100584" cy="100584"/>
          </a:xfrm>
          <a:prstGeom prst="ellipse">
            <a:avLst/>
          </a:prstGeom>
          <a:solidFill>
            <a:srgbClr val="00A99D"/>
          </a:solidFill>
          <a:ln/>
        </p:spPr>
      </p:sp>
      <p:sp>
        <p:nvSpPr>
          <p:cNvPr id="117" name="Shape 115"/>
          <p:cNvSpPr/>
          <p:nvPr/>
        </p:nvSpPr>
        <p:spPr>
          <a:xfrm>
            <a:off x="10591038" y="3543300"/>
            <a:ext cx="100584" cy="100584"/>
          </a:xfrm>
          <a:prstGeom prst="ellipse">
            <a:avLst/>
          </a:prstGeom>
          <a:solidFill>
            <a:srgbClr val="00A99D"/>
          </a:solidFill>
          <a:ln/>
        </p:spPr>
      </p:sp>
      <p:sp>
        <p:nvSpPr>
          <p:cNvPr id="118" name="Shape 116"/>
          <p:cNvSpPr/>
          <p:nvPr/>
        </p:nvSpPr>
        <p:spPr>
          <a:xfrm>
            <a:off x="10709910" y="3543300"/>
            <a:ext cx="100584" cy="100584"/>
          </a:xfrm>
          <a:prstGeom prst="ellipse">
            <a:avLst/>
          </a:prstGeom>
          <a:solidFill>
            <a:srgbClr val="00A99D"/>
          </a:solidFill>
          <a:ln/>
        </p:spPr>
      </p:sp>
      <p:sp>
        <p:nvSpPr>
          <p:cNvPr id="119" name="Shape 117"/>
          <p:cNvSpPr/>
          <p:nvPr/>
        </p:nvSpPr>
        <p:spPr>
          <a:xfrm>
            <a:off x="10828782" y="3543300"/>
            <a:ext cx="100584" cy="100584"/>
          </a:xfrm>
          <a:prstGeom prst="ellipse">
            <a:avLst/>
          </a:prstGeom>
          <a:solidFill>
            <a:srgbClr val="D9DEE6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48640" y="3794760"/>
            <a:ext cx="11064240" cy="402336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21" name="Text 119"/>
          <p:cNvSpPr/>
          <p:nvPr/>
        </p:nvSpPr>
        <p:spPr>
          <a:xfrm>
            <a:off x="685800" y="3794760"/>
            <a:ext cx="3108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050" dirty="0"/>
          </a:p>
        </p:txBody>
      </p:sp>
      <p:sp>
        <p:nvSpPr>
          <p:cNvPr id="122" name="Shape 120"/>
          <p:cNvSpPr/>
          <p:nvPr/>
        </p:nvSpPr>
        <p:spPr>
          <a:xfrm>
            <a:off x="4523994" y="3945636"/>
            <a:ext cx="100584" cy="100584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123" name="Shape 121"/>
          <p:cNvSpPr/>
          <p:nvPr/>
        </p:nvSpPr>
        <p:spPr>
          <a:xfrm>
            <a:off x="4642866" y="3945636"/>
            <a:ext cx="100584" cy="100584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124" name="Shape 122"/>
          <p:cNvSpPr/>
          <p:nvPr/>
        </p:nvSpPr>
        <p:spPr>
          <a:xfrm>
            <a:off x="4761738" y="3945636"/>
            <a:ext cx="100584" cy="100584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125" name="Shape 123"/>
          <p:cNvSpPr/>
          <p:nvPr/>
        </p:nvSpPr>
        <p:spPr>
          <a:xfrm>
            <a:off x="4880610" y="3945636"/>
            <a:ext cx="100584" cy="100584"/>
          </a:xfrm>
          <a:prstGeom prst="ellipse">
            <a:avLst/>
          </a:prstGeom>
          <a:solidFill>
            <a:srgbClr val="D9DEE6"/>
          </a:solidFill>
          <a:ln/>
        </p:spPr>
      </p:sp>
      <p:sp>
        <p:nvSpPr>
          <p:cNvPr id="126" name="Shape 124"/>
          <p:cNvSpPr/>
          <p:nvPr/>
        </p:nvSpPr>
        <p:spPr>
          <a:xfrm>
            <a:off x="4999482" y="3945636"/>
            <a:ext cx="100584" cy="100584"/>
          </a:xfrm>
          <a:prstGeom prst="ellipse">
            <a:avLst/>
          </a:prstGeom>
          <a:solidFill>
            <a:srgbClr val="D9DEE6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467094" y="3945636"/>
            <a:ext cx="100584" cy="100584"/>
          </a:xfrm>
          <a:prstGeom prst="ellipse">
            <a:avLst/>
          </a:prstGeom>
          <a:solidFill>
            <a:srgbClr val="5B9BD5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585966" y="3945636"/>
            <a:ext cx="100584" cy="100584"/>
          </a:xfrm>
          <a:prstGeom prst="ellipse">
            <a:avLst/>
          </a:prstGeom>
          <a:solidFill>
            <a:srgbClr val="5B9BD5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704838" y="3945636"/>
            <a:ext cx="100584" cy="100584"/>
          </a:xfrm>
          <a:prstGeom prst="ellipse">
            <a:avLst/>
          </a:prstGeom>
          <a:solidFill>
            <a:srgbClr val="5B9BD5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823710" y="3945636"/>
            <a:ext cx="100584" cy="100584"/>
          </a:xfrm>
          <a:prstGeom prst="ellipse">
            <a:avLst/>
          </a:prstGeom>
          <a:solidFill>
            <a:srgbClr val="5B9BD5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942582" y="3945636"/>
            <a:ext cx="100584" cy="100584"/>
          </a:xfrm>
          <a:prstGeom prst="ellipse">
            <a:avLst/>
          </a:prstGeom>
          <a:solidFill>
            <a:srgbClr val="5B9BD5"/>
          </a:solidFill>
          <a:ln/>
        </p:spPr>
      </p:sp>
      <p:sp>
        <p:nvSpPr>
          <p:cNvPr id="132" name="Shape 130"/>
          <p:cNvSpPr/>
          <p:nvPr/>
        </p:nvSpPr>
        <p:spPr>
          <a:xfrm>
            <a:off x="8410194" y="3945636"/>
            <a:ext cx="100584" cy="10058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33" name="Shape 131"/>
          <p:cNvSpPr/>
          <p:nvPr/>
        </p:nvSpPr>
        <p:spPr>
          <a:xfrm>
            <a:off x="8529066" y="3945636"/>
            <a:ext cx="100584" cy="10058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34" name="Shape 132"/>
          <p:cNvSpPr/>
          <p:nvPr/>
        </p:nvSpPr>
        <p:spPr>
          <a:xfrm>
            <a:off x="8647938" y="3945636"/>
            <a:ext cx="100584" cy="100584"/>
          </a:xfrm>
          <a:prstGeom prst="ellipse">
            <a:avLst/>
          </a:prstGeom>
          <a:solidFill>
            <a:srgbClr val="D9DEE6"/>
          </a:solidFill>
          <a:ln/>
        </p:spPr>
      </p:sp>
      <p:sp>
        <p:nvSpPr>
          <p:cNvPr id="135" name="Shape 133"/>
          <p:cNvSpPr/>
          <p:nvPr/>
        </p:nvSpPr>
        <p:spPr>
          <a:xfrm>
            <a:off x="8766810" y="3945636"/>
            <a:ext cx="100584" cy="100584"/>
          </a:xfrm>
          <a:prstGeom prst="ellipse">
            <a:avLst/>
          </a:prstGeom>
          <a:solidFill>
            <a:srgbClr val="D9DEE6"/>
          </a:solidFill>
          <a:ln/>
        </p:spPr>
      </p:sp>
      <p:sp>
        <p:nvSpPr>
          <p:cNvPr id="136" name="Shape 134"/>
          <p:cNvSpPr/>
          <p:nvPr/>
        </p:nvSpPr>
        <p:spPr>
          <a:xfrm>
            <a:off x="8885682" y="3945636"/>
            <a:ext cx="100584" cy="100584"/>
          </a:xfrm>
          <a:prstGeom prst="ellipse">
            <a:avLst/>
          </a:prstGeom>
          <a:solidFill>
            <a:srgbClr val="D9DEE6"/>
          </a:solidFill>
          <a:ln/>
        </p:spPr>
      </p:sp>
      <p:sp>
        <p:nvSpPr>
          <p:cNvPr id="137" name="Shape 135"/>
          <p:cNvSpPr/>
          <p:nvPr/>
        </p:nvSpPr>
        <p:spPr>
          <a:xfrm>
            <a:off x="10353294" y="3945636"/>
            <a:ext cx="100584" cy="100584"/>
          </a:xfrm>
          <a:prstGeom prst="ellipse">
            <a:avLst/>
          </a:prstGeom>
          <a:solidFill>
            <a:srgbClr val="00A99D"/>
          </a:solidFill>
          <a:ln/>
        </p:spPr>
      </p:sp>
      <p:sp>
        <p:nvSpPr>
          <p:cNvPr id="138" name="Shape 136"/>
          <p:cNvSpPr/>
          <p:nvPr/>
        </p:nvSpPr>
        <p:spPr>
          <a:xfrm>
            <a:off x="10472166" y="3945636"/>
            <a:ext cx="100584" cy="100584"/>
          </a:xfrm>
          <a:prstGeom prst="ellipse">
            <a:avLst/>
          </a:prstGeom>
          <a:solidFill>
            <a:srgbClr val="00A99D"/>
          </a:solidFill>
          <a:ln/>
        </p:spPr>
      </p:sp>
      <p:sp>
        <p:nvSpPr>
          <p:cNvPr id="139" name="Shape 137"/>
          <p:cNvSpPr/>
          <p:nvPr/>
        </p:nvSpPr>
        <p:spPr>
          <a:xfrm>
            <a:off x="10591038" y="3945636"/>
            <a:ext cx="100584" cy="100584"/>
          </a:xfrm>
          <a:prstGeom prst="ellipse">
            <a:avLst/>
          </a:prstGeom>
          <a:solidFill>
            <a:srgbClr val="00A99D"/>
          </a:solidFill>
          <a:ln/>
        </p:spPr>
      </p:sp>
      <p:sp>
        <p:nvSpPr>
          <p:cNvPr id="140" name="Shape 138"/>
          <p:cNvSpPr/>
          <p:nvPr/>
        </p:nvSpPr>
        <p:spPr>
          <a:xfrm>
            <a:off x="10709910" y="3945636"/>
            <a:ext cx="100584" cy="100584"/>
          </a:xfrm>
          <a:prstGeom prst="ellipse">
            <a:avLst/>
          </a:prstGeom>
          <a:solidFill>
            <a:srgbClr val="00A99D"/>
          </a:solidFill>
          <a:ln/>
        </p:spPr>
      </p:sp>
      <p:sp>
        <p:nvSpPr>
          <p:cNvPr id="141" name="Shape 139"/>
          <p:cNvSpPr/>
          <p:nvPr/>
        </p:nvSpPr>
        <p:spPr>
          <a:xfrm>
            <a:off x="10828782" y="3945636"/>
            <a:ext cx="100584" cy="100584"/>
          </a:xfrm>
          <a:prstGeom prst="ellipse">
            <a:avLst/>
          </a:prstGeom>
          <a:solidFill>
            <a:srgbClr val="D9DEE6"/>
          </a:solidFill>
          <a:ln/>
        </p:spPr>
      </p:sp>
      <p:sp>
        <p:nvSpPr>
          <p:cNvPr id="142" name="Text 140"/>
          <p:cNvSpPr/>
          <p:nvPr/>
        </p:nvSpPr>
        <p:spPr>
          <a:xfrm>
            <a:off x="685800" y="4197096"/>
            <a:ext cx="3108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050" dirty="0"/>
          </a:p>
        </p:txBody>
      </p:sp>
      <p:sp>
        <p:nvSpPr>
          <p:cNvPr id="143" name="Shape 141"/>
          <p:cNvSpPr/>
          <p:nvPr/>
        </p:nvSpPr>
        <p:spPr>
          <a:xfrm>
            <a:off x="4523994" y="4347972"/>
            <a:ext cx="100584" cy="100584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144" name="Shape 142"/>
          <p:cNvSpPr/>
          <p:nvPr/>
        </p:nvSpPr>
        <p:spPr>
          <a:xfrm>
            <a:off x="4642866" y="4347972"/>
            <a:ext cx="100584" cy="100584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145" name="Shape 143"/>
          <p:cNvSpPr/>
          <p:nvPr/>
        </p:nvSpPr>
        <p:spPr>
          <a:xfrm>
            <a:off x="4761738" y="4347972"/>
            <a:ext cx="100584" cy="100584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146" name="Shape 144"/>
          <p:cNvSpPr/>
          <p:nvPr/>
        </p:nvSpPr>
        <p:spPr>
          <a:xfrm>
            <a:off x="4880610" y="4347972"/>
            <a:ext cx="100584" cy="100584"/>
          </a:xfrm>
          <a:prstGeom prst="ellipse">
            <a:avLst/>
          </a:prstGeom>
          <a:solidFill>
            <a:srgbClr val="D9DEE6"/>
          </a:solidFill>
          <a:ln/>
        </p:spPr>
      </p:sp>
      <p:sp>
        <p:nvSpPr>
          <p:cNvPr id="147" name="Shape 145"/>
          <p:cNvSpPr/>
          <p:nvPr/>
        </p:nvSpPr>
        <p:spPr>
          <a:xfrm>
            <a:off x="4999482" y="4347972"/>
            <a:ext cx="100584" cy="100584"/>
          </a:xfrm>
          <a:prstGeom prst="ellipse">
            <a:avLst/>
          </a:prstGeom>
          <a:solidFill>
            <a:srgbClr val="D9DEE6"/>
          </a:solidFill>
          <a:ln/>
        </p:spPr>
      </p:sp>
      <p:sp>
        <p:nvSpPr>
          <p:cNvPr id="148" name="Shape 146"/>
          <p:cNvSpPr/>
          <p:nvPr/>
        </p:nvSpPr>
        <p:spPr>
          <a:xfrm>
            <a:off x="6467094" y="4347972"/>
            <a:ext cx="100584" cy="100584"/>
          </a:xfrm>
          <a:prstGeom prst="ellipse">
            <a:avLst/>
          </a:prstGeom>
          <a:solidFill>
            <a:srgbClr val="5B9BD5"/>
          </a:solidFill>
          <a:ln/>
        </p:spPr>
      </p:sp>
      <p:sp>
        <p:nvSpPr>
          <p:cNvPr id="149" name="Shape 147"/>
          <p:cNvSpPr/>
          <p:nvPr/>
        </p:nvSpPr>
        <p:spPr>
          <a:xfrm>
            <a:off x="6585966" y="4347972"/>
            <a:ext cx="100584" cy="100584"/>
          </a:xfrm>
          <a:prstGeom prst="ellipse">
            <a:avLst/>
          </a:prstGeom>
          <a:solidFill>
            <a:srgbClr val="5B9BD5"/>
          </a:solidFill>
          <a:ln/>
        </p:spPr>
      </p:sp>
      <p:sp>
        <p:nvSpPr>
          <p:cNvPr id="150" name="Shape 148"/>
          <p:cNvSpPr/>
          <p:nvPr/>
        </p:nvSpPr>
        <p:spPr>
          <a:xfrm>
            <a:off x="6704838" y="4347972"/>
            <a:ext cx="100584" cy="100584"/>
          </a:xfrm>
          <a:prstGeom prst="ellipse">
            <a:avLst/>
          </a:prstGeom>
          <a:solidFill>
            <a:srgbClr val="5B9BD5"/>
          </a:solidFill>
          <a:ln/>
        </p:spPr>
      </p:sp>
      <p:sp>
        <p:nvSpPr>
          <p:cNvPr id="151" name="Shape 149"/>
          <p:cNvSpPr/>
          <p:nvPr/>
        </p:nvSpPr>
        <p:spPr>
          <a:xfrm>
            <a:off x="6823710" y="4347972"/>
            <a:ext cx="100584" cy="100584"/>
          </a:xfrm>
          <a:prstGeom prst="ellipse">
            <a:avLst/>
          </a:prstGeom>
          <a:solidFill>
            <a:srgbClr val="D9DEE6"/>
          </a:solidFill>
          <a:ln/>
        </p:spPr>
      </p:sp>
      <p:sp>
        <p:nvSpPr>
          <p:cNvPr id="152" name="Shape 150"/>
          <p:cNvSpPr/>
          <p:nvPr/>
        </p:nvSpPr>
        <p:spPr>
          <a:xfrm>
            <a:off x="6942582" y="4347972"/>
            <a:ext cx="100584" cy="100584"/>
          </a:xfrm>
          <a:prstGeom prst="ellipse">
            <a:avLst/>
          </a:prstGeom>
          <a:solidFill>
            <a:srgbClr val="D9DEE6"/>
          </a:solidFill>
          <a:ln/>
        </p:spPr>
      </p:sp>
      <p:sp>
        <p:nvSpPr>
          <p:cNvPr id="153" name="Shape 151"/>
          <p:cNvSpPr/>
          <p:nvPr/>
        </p:nvSpPr>
        <p:spPr>
          <a:xfrm>
            <a:off x="8410194" y="4347972"/>
            <a:ext cx="100584" cy="10058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54" name="Shape 152"/>
          <p:cNvSpPr/>
          <p:nvPr/>
        </p:nvSpPr>
        <p:spPr>
          <a:xfrm>
            <a:off x="8529066" y="4347972"/>
            <a:ext cx="100584" cy="10058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55" name="Shape 153"/>
          <p:cNvSpPr/>
          <p:nvPr/>
        </p:nvSpPr>
        <p:spPr>
          <a:xfrm>
            <a:off x="8647938" y="4347972"/>
            <a:ext cx="100584" cy="10058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56" name="Shape 154"/>
          <p:cNvSpPr/>
          <p:nvPr/>
        </p:nvSpPr>
        <p:spPr>
          <a:xfrm>
            <a:off x="8766810" y="4347972"/>
            <a:ext cx="100584" cy="100584"/>
          </a:xfrm>
          <a:prstGeom prst="ellipse">
            <a:avLst/>
          </a:prstGeom>
          <a:solidFill>
            <a:srgbClr val="D9DEE6"/>
          </a:solidFill>
          <a:ln/>
        </p:spPr>
      </p:sp>
      <p:sp>
        <p:nvSpPr>
          <p:cNvPr id="157" name="Shape 155"/>
          <p:cNvSpPr/>
          <p:nvPr/>
        </p:nvSpPr>
        <p:spPr>
          <a:xfrm>
            <a:off x="8885682" y="4347972"/>
            <a:ext cx="100584" cy="100584"/>
          </a:xfrm>
          <a:prstGeom prst="ellipse">
            <a:avLst/>
          </a:prstGeom>
          <a:solidFill>
            <a:srgbClr val="D9DEE6"/>
          </a:solidFill>
          <a:ln/>
        </p:spPr>
      </p:sp>
      <p:sp>
        <p:nvSpPr>
          <p:cNvPr id="158" name="Shape 156"/>
          <p:cNvSpPr/>
          <p:nvPr/>
        </p:nvSpPr>
        <p:spPr>
          <a:xfrm>
            <a:off x="10353294" y="4347972"/>
            <a:ext cx="100584" cy="100584"/>
          </a:xfrm>
          <a:prstGeom prst="ellipse">
            <a:avLst/>
          </a:prstGeom>
          <a:solidFill>
            <a:srgbClr val="00A99D"/>
          </a:solidFill>
          <a:ln/>
        </p:spPr>
      </p:sp>
      <p:sp>
        <p:nvSpPr>
          <p:cNvPr id="159" name="Shape 157"/>
          <p:cNvSpPr/>
          <p:nvPr/>
        </p:nvSpPr>
        <p:spPr>
          <a:xfrm>
            <a:off x="10472166" y="4347972"/>
            <a:ext cx="100584" cy="100584"/>
          </a:xfrm>
          <a:prstGeom prst="ellipse">
            <a:avLst/>
          </a:prstGeom>
          <a:solidFill>
            <a:srgbClr val="00A99D"/>
          </a:solidFill>
          <a:ln/>
        </p:spPr>
      </p:sp>
      <p:sp>
        <p:nvSpPr>
          <p:cNvPr id="160" name="Shape 158"/>
          <p:cNvSpPr/>
          <p:nvPr/>
        </p:nvSpPr>
        <p:spPr>
          <a:xfrm>
            <a:off x="10591038" y="4347972"/>
            <a:ext cx="100584" cy="100584"/>
          </a:xfrm>
          <a:prstGeom prst="ellipse">
            <a:avLst/>
          </a:prstGeom>
          <a:solidFill>
            <a:srgbClr val="00A99D"/>
          </a:solidFill>
          <a:ln/>
        </p:spPr>
      </p:sp>
      <p:sp>
        <p:nvSpPr>
          <p:cNvPr id="161" name="Shape 159"/>
          <p:cNvSpPr/>
          <p:nvPr/>
        </p:nvSpPr>
        <p:spPr>
          <a:xfrm>
            <a:off x="10709910" y="4347972"/>
            <a:ext cx="100584" cy="100584"/>
          </a:xfrm>
          <a:prstGeom prst="ellipse">
            <a:avLst/>
          </a:prstGeom>
          <a:solidFill>
            <a:srgbClr val="00A99D"/>
          </a:solidFill>
          <a:ln/>
        </p:spPr>
      </p:sp>
      <p:sp>
        <p:nvSpPr>
          <p:cNvPr id="162" name="Shape 160"/>
          <p:cNvSpPr/>
          <p:nvPr/>
        </p:nvSpPr>
        <p:spPr>
          <a:xfrm>
            <a:off x="10828782" y="4347972"/>
            <a:ext cx="100584" cy="100584"/>
          </a:xfrm>
          <a:prstGeom prst="ellipse">
            <a:avLst/>
          </a:prstGeom>
          <a:solidFill>
            <a:srgbClr val="D9DEE6"/>
          </a:solidFill>
          <a:ln/>
        </p:spPr>
      </p:sp>
      <p:sp>
        <p:nvSpPr>
          <p:cNvPr id="163" name="Shape 161"/>
          <p:cNvSpPr/>
          <p:nvPr/>
        </p:nvSpPr>
        <p:spPr>
          <a:xfrm>
            <a:off x="548640" y="4599432"/>
            <a:ext cx="11064240" cy="402336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64" name="Text 162"/>
          <p:cNvSpPr/>
          <p:nvPr/>
        </p:nvSpPr>
        <p:spPr>
          <a:xfrm>
            <a:off x="685800" y="4599432"/>
            <a:ext cx="3108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applicability</a:t>
            </a:r>
            <a:endParaRPr lang="en-US" sz="1050" dirty="0"/>
          </a:p>
        </p:txBody>
      </p:sp>
      <p:sp>
        <p:nvSpPr>
          <p:cNvPr id="165" name="Shape 163"/>
          <p:cNvSpPr/>
          <p:nvPr/>
        </p:nvSpPr>
        <p:spPr>
          <a:xfrm>
            <a:off x="4523994" y="4750308"/>
            <a:ext cx="100584" cy="100584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166" name="Shape 164"/>
          <p:cNvSpPr/>
          <p:nvPr/>
        </p:nvSpPr>
        <p:spPr>
          <a:xfrm>
            <a:off x="4642866" y="4750308"/>
            <a:ext cx="100584" cy="100584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167" name="Shape 165"/>
          <p:cNvSpPr/>
          <p:nvPr/>
        </p:nvSpPr>
        <p:spPr>
          <a:xfrm>
            <a:off x="4761738" y="4750308"/>
            <a:ext cx="100584" cy="100584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168" name="Shape 166"/>
          <p:cNvSpPr/>
          <p:nvPr/>
        </p:nvSpPr>
        <p:spPr>
          <a:xfrm>
            <a:off x="4880610" y="4750308"/>
            <a:ext cx="100584" cy="100584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169" name="Shape 167"/>
          <p:cNvSpPr/>
          <p:nvPr/>
        </p:nvSpPr>
        <p:spPr>
          <a:xfrm>
            <a:off x="4999482" y="4750308"/>
            <a:ext cx="100584" cy="100584"/>
          </a:xfrm>
          <a:prstGeom prst="ellipse">
            <a:avLst/>
          </a:prstGeom>
          <a:solidFill>
            <a:srgbClr val="D9DEE6"/>
          </a:solidFill>
          <a:ln/>
        </p:spPr>
      </p:sp>
      <p:sp>
        <p:nvSpPr>
          <p:cNvPr id="170" name="Shape 168"/>
          <p:cNvSpPr/>
          <p:nvPr/>
        </p:nvSpPr>
        <p:spPr>
          <a:xfrm>
            <a:off x="6467094" y="4750308"/>
            <a:ext cx="100584" cy="100584"/>
          </a:xfrm>
          <a:prstGeom prst="ellipse">
            <a:avLst/>
          </a:prstGeom>
          <a:solidFill>
            <a:srgbClr val="5B9BD5"/>
          </a:solidFill>
          <a:ln/>
        </p:spPr>
      </p:sp>
      <p:sp>
        <p:nvSpPr>
          <p:cNvPr id="171" name="Shape 169"/>
          <p:cNvSpPr/>
          <p:nvPr/>
        </p:nvSpPr>
        <p:spPr>
          <a:xfrm>
            <a:off x="6585966" y="4750308"/>
            <a:ext cx="100584" cy="100584"/>
          </a:xfrm>
          <a:prstGeom prst="ellipse">
            <a:avLst/>
          </a:prstGeom>
          <a:solidFill>
            <a:srgbClr val="5B9BD5"/>
          </a:solidFill>
          <a:ln/>
        </p:spPr>
      </p:sp>
      <p:sp>
        <p:nvSpPr>
          <p:cNvPr id="172" name="Shape 170"/>
          <p:cNvSpPr/>
          <p:nvPr/>
        </p:nvSpPr>
        <p:spPr>
          <a:xfrm>
            <a:off x="6704838" y="4750308"/>
            <a:ext cx="100584" cy="100584"/>
          </a:xfrm>
          <a:prstGeom prst="ellipse">
            <a:avLst/>
          </a:prstGeom>
          <a:solidFill>
            <a:srgbClr val="5B9BD5"/>
          </a:solidFill>
          <a:ln/>
        </p:spPr>
      </p:sp>
      <p:sp>
        <p:nvSpPr>
          <p:cNvPr id="173" name="Shape 171"/>
          <p:cNvSpPr/>
          <p:nvPr/>
        </p:nvSpPr>
        <p:spPr>
          <a:xfrm>
            <a:off x="6823710" y="4750308"/>
            <a:ext cx="100584" cy="100584"/>
          </a:xfrm>
          <a:prstGeom prst="ellipse">
            <a:avLst/>
          </a:prstGeom>
          <a:solidFill>
            <a:srgbClr val="5B9BD5"/>
          </a:solidFill>
          <a:ln/>
        </p:spPr>
      </p:sp>
      <p:sp>
        <p:nvSpPr>
          <p:cNvPr id="174" name="Shape 172"/>
          <p:cNvSpPr/>
          <p:nvPr/>
        </p:nvSpPr>
        <p:spPr>
          <a:xfrm>
            <a:off x="6942582" y="4750308"/>
            <a:ext cx="100584" cy="100584"/>
          </a:xfrm>
          <a:prstGeom prst="ellipse">
            <a:avLst/>
          </a:prstGeom>
          <a:solidFill>
            <a:srgbClr val="5B9BD5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410194" y="4750308"/>
            <a:ext cx="100584" cy="10058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529066" y="4750308"/>
            <a:ext cx="100584" cy="10058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647938" y="4750308"/>
            <a:ext cx="100584" cy="100584"/>
          </a:xfrm>
          <a:prstGeom prst="ellipse">
            <a:avLst/>
          </a:prstGeom>
          <a:solidFill>
            <a:srgbClr val="D9DEE6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766810" y="4750308"/>
            <a:ext cx="100584" cy="100584"/>
          </a:xfrm>
          <a:prstGeom prst="ellipse">
            <a:avLst/>
          </a:prstGeom>
          <a:solidFill>
            <a:srgbClr val="D9DEE6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85682" y="4750308"/>
            <a:ext cx="100584" cy="100584"/>
          </a:xfrm>
          <a:prstGeom prst="ellipse">
            <a:avLst/>
          </a:prstGeom>
          <a:solidFill>
            <a:srgbClr val="D9DEE6"/>
          </a:solidFill>
          <a:ln/>
        </p:spPr>
      </p:sp>
      <p:sp>
        <p:nvSpPr>
          <p:cNvPr id="180" name="Shape 178"/>
          <p:cNvSpPr/>
          <p:nvPr/>
        </p:nvSpPr>
        <p:spPr>
          <a:xfrm>
            <a:off x="10353294" y="4750308"/>
            <a:ext cx="100584" cy="100584"/>
          </a:xfrm>
          <a:prstGeom prst="ellipse">
            <a:avLst/>
          </a:prstGeom>
          <a:solidFill>
            <a:srgbClr val="00A99D"/>
          </a:solidFill>
          <a:ln/>
        </p:spPr>
      </p:sp>
      <p:sp>
        <p:nvSpPr>
          <p:cNvPr id="181" name="Shape 179"/>
          <p:cNvSpPr/>
          <p:nvPr/>
        </p:nvSpPr>
        <p:spPr>
          <a:xfrm>
            <a:off x="10472166" y="4750308"/>
            <a:ext cx="100584" cy="100584"/>
          </a:xfrm>
          <a:prstGeom prst="ellipse">
            <a:avLst/>
          </a:prstGeom>
          <a:solidFill>
            <a:srgbClr val="00A99D"/>
          </a:solidFill>
          <a:ln/>
        </p:spPr>
      </p:sp>
      <p:sp>
        <p:nvSpPr>
          <p:cNvPr id="182" name="Shape 180"/>
          <p:cNvSpPr/>
          <p:nvPr/>
        </p:nvSpPr>
        <p:spPr>
          <a:xfrm>
            <a:off x="10591038" y="4750308"/>
            <a:ext cx="100584" cy="100584"/>
          </a:xfrm>
          <a:prstGeom prst="ellipse">
            <a:avLst/>
          </a:prstGeom>
          <a:solidFill>
            <a:srgbClr val="00A99D"/>
          </a:solidFill>
          <a:ln/>
        </p:spPr>
      </p:sp>
      <p:sp>
        <p:nvSpPr>
          <p:cNvPr id="183" name="Shape 181"/>
          <p:cNvSpPr/>
          <p:nvPr/>
        </p:nvSpPr>
        <p:spPr>
          <a:xfrm>
            <a:off x="10709910" y="4750308"/>
            <a:ext cx="100584" cy="100584"/>
          </a:xfrm>
          <a:prstGeom prst="ellipse">
            <a:avLst/>
          </a:prstGeom>
          <a:solidFill>
            <a:srgbClr val="00A99D"/>
          </a:solidFill>
          <a:ln/>
        </p:spPr>
      </p:sp>
      <p:sp>
        <p:nvSpPr>
          <p:cNvPr id="184" name="Shape 182"/>
          <p:cNvSpPr/>
          <p:nvPr/>
        </p:nvSpPr>
        <p:spPr>
          <a:xfrm>
            <a:off x="10828782" y="4750308"/>
            <a:ext cx="100584" cy="100584"/>
          </a:xfrm>
          <a:prstGeom prst="ellipse">
            <a:avLst/>
          </a:prstGeom>
          <a:solidFill>
            <a:srgbClr val="00A99D"/>
          </a:solidFill>
          <a:ln/>
        </p:spPr>
      </p:sp>
      <p:sp>
        <p:nvSpPr>
          <p:cNvPr id="185" name="Text 183"/>
          <p:cNvSpPr/>
          <p:nvPr/>
        </p:nvSpPr>
        <p:spPr>
          <a:xfrm>
            <a:off x="685800" y="5001768"/>
            <a:ext cx="3108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maturity</a:t>
            </a:r>
            <a:endParaRPr lang="en-US" sz="1050" dirty="0"/>
          </a:p>
        </p:txBody>
      </p:sp>
      <p:sp>
        <p:nvSpPr>
          <p:cNvPr id="186" name="Shape 184"/>
          <p:cNvSpPr/>
          <p:nvPr/>
        </p:nvSpPr>
        <p:spPr>
          <a:xfrm>
            <a:off x="4523994" y="5152644"/>
            <a:ext cx="100584" cy="100584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187" name="Shape 185"/>
          <p:cNvSpPr/>
          <p:nvPr/>
        </p:nvSpPr>
        <p:spPr>
          <a:xfrm>
            <a:off x="4642866" y="5152644"/>
            <a:ext cx="100584" cy="100584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188" name="Shape 186"/>
          <p:cNvSpPr/>
          <p:nvPr/>
        </p:nvSpPr>
        <p:spPr>
          <a:xfrm>
            <a:off x="4761738" y="5152644"/>
            <a:ext cx="100584" cy="100584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189" name="Shape 187"/>
          <p:cNvSpPr/>
          <p:nvPr/>
        </p:nvSpPr>
        <p:spPr>
          <a:xfrm>
            <a:off x="4880610" y="5152644"/>
            <a:ext cx="100584" cy="100584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190" name="Shape 188"/>
          <p:cNvSpPr/>
          <p:nvPr/>
        </p:nvSpPr>
        <p:spPr>
          <a:xfrm>
            <a:off x="4999482" y="5152644"/>
            <a:ext cx="100584" cy="100584"/>
          </a:xfrm>
          <a:prstGeom prst="ellipse">
            <a:avLst/>
          </a:prstGeom>
          <a:solidFill>
            <a:srgbClr val="D9DEE6"/>
          </a:solidFill>
          <a:ln/>
        </p:spPr>
      </p:sp>
      <p:sp>
        <p:nvSpPr>
          <p:cNvPr id="191" name="Shape 189"/>
          <p:cNvSpPr/>
          <p:nvPr/>
        </p:nvSpPr>
        <p:spPr>
          <a:xfrm>
            <a:off x="6467094" y="5152644"/>
            <a:ext cx="100584" cy="100584"/>
          </a:xfrm>
          <a:prstGeom prst="ellipse">
            <a:avLst/>
          </a:prstGeom>
          <a:solidFill>
            <a:srgbClr val="5B9BD5"/>
          </a:solidFill>
          <a:ln/>
        </p:spPr>
      </p:sp>
      <p:sp>
        <p:nvSpPr>
          <p:cNvPr id="192" name="Shape 190"/>
          <p:cNvSpPr/>
          <p:nvPr/>
        </p:nvSpPr>
        <p:spPr>
          <a:xfrm>
            <a:off x="6585966" y="5152644"/>
            <a:ext cx="100584" cy="100584"/>
          </a:xfrm>
          <a:prstGeom prst="ellipse">
            <a:avLst/>
          </a:prstGeom>
          <a:solidFill>
            <a:srgbClr val="5B9BD5"/>
          </a:solidFill>
          <a:ln/>
        </p:spPr>
      </p:sp>
      <p:sp>
        <p:nvSpPr>
          <p:cNvPr id="193" name="Shape 191"/>
          <p:cNvSpPr/>
          <p:nvPr/>
        </p:nvSpPr>
        <p:spPr>
          <a:xfrm>
            <a:off x="6704838" y="5152644"/>
            <a:ext cx="100584" cy="100584"/>
          </a:xfrm>
          <a:prstGeom prst="ellipse">
            <a:avLst/>
          </a:prstGeom>
          <a:solidFill>
            <a:srgbClr val="5B9BD5"/>
          </a:solidFill>
          <a:ln/>
        </p:spPr>
      </p:sp>
      <p:sp>
        <p:nvSpPr>
          <p:cNvPr id="194" name="Shape 192"/>
          <p:cNvSpPr/>
          <p:nvPr/>
        </p:nvSpPr>
        <p:spPr>
          <a:xfrm>
            <a:off x="6823710" y="5152644"/>
            <a:ext cx="100584" cy="100584"/>
          </a:xfrm>
          <a:prstGeom prst="ellipse">
            <a:avLst/>
          </a:prstGeom>
          <a:solidFill>
            <a:srgbClr val="5B9BD5"/>
          </a:solidFill>
          <a:ln/>
        </p:spPr>
      </p:sp>
      <p:sp>
        <p:nvSpPr>
          <p:cNvPr id="195" name="Shape 193"/>
          <p:cNvSpPr/>
          <p:nvPr/>
        </p:nvSpPr>
        <p:spPr>
          <a:xfrm>
            <a:off x="6942582" y="5152644"/>
            <a:ext cx="100584" cy="100584"/>
          </a:xfrm>
          <a:prstGeom prst="ellipse">
            <a:avLst/>
          </a:prstGeom>
          <a:solidFill>
            <a:srgbClr val="5B9BD5"/>
          </a:solidFill>
          <a:ln/>
        </p:spPr>
      </p:sp>
      <p:sp>
        <p:nvSpPr>
          <p:cNvPr id="196" name="Shape 194"/>
          <p:cNvSpPr/>
          <p:nvPr/>
        </p:nvSpPr>
        <p:spPr>
          <a:xfrm>
            <a:off x="8410194" y="5152644"/>
            <a:ext cx="100584" cy="10058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97" name="Shape 195"/>
          <p:cNvSpPr/>
          <p:nvPr/>
        </p:nvSpPr>
        <p:spPr>
          <a:xfrm>
            <a:off x="8529066" y="5152644"/>
            <a:ext cx="100584" cy="100584"/>
          </a:xfrm>
          <a:prstGeom prst="ellipse">
            <a:avLst/>
          </a:prstGeom>
          <a:solidFill>
            <a:srgbClr val="D9DEE6"/>
          </a:solidFill>
          <a:ln/>
        </p:spPr>
      </p:sp>
      <p:sp>
        <p:nvSpPr>
          <p:cNvPr id="198" name="Shape 196"/>
          <p:cNvSpPr/>
          <p:nvPr/>
        </p:nvSpPr>
        <p:spPr>
          <a:xfrm>
            <a:off x="8647938" y="5152644"/>
            <a:ext cx="100584" cy="100584"/>
          </a:xfrm>
          <a:prstGeom prst="ellipse">
            <a:avLst/>
          </a:prstGeom>
          <a:solidFill>
            <a:srgbClr val="D9DEE6"/>
          </a:solidFill>
          <a:ln/>
        </p:spPr>
      </p:sp>
      <p:sp>
        <p:nvSpPr>
          <p:cNvPr id="199" name="Shape 197"/>
          <p:cNvSpPr/>
          <p:nvPr/>
        </p:nvSpPr>
        <p:spPr>
          <a:xfrm>
            <a:off x="8766810" y="5152644"/>
            <a:ext cx="100584" cy="100584"/>
          </a:xfrm>
          <a:prstGeom prst="ellipse">
            <a:avLst/>
          </a:prstGeom>
          <a:solidFill>
            <a:srgbClr val="D9DEE6"/>
          </a:solidFill>
          <a:ln/>
        </p:spPr>
      </p:sp>
      <p:sp>
        <p:nvSpPr>
          <p:cNvPr id="200" name="Shape 198"/>
          <p:cNvSpPr/>
          <p:nvPr/>
        </p:nvSpPr>
        <p:spPr>
          <a:xfrm>
            <a:off x="8885682" y="5152644"/>
            <a:ext cx="100584" cy="100584"/>
          </a:xfrm>
          <a:prstGeom prst="ellipse">
            <a:avLst/>
          </a:prstGeom>
          <a:solidFill>
            <a:srgbClr val="D9DEE6"/>
          </a:solidFill>
          <a:ln/>
        </p:spPr>
      </p:sp>
      <p:sp>
        <p:nvSpPr>
          <p:cNvPr id="201" name="Shape 199"/>
          <p:cNvSpPr/>
          <p:nvPr/>
        </p:nvSpPr>
        <p:spPr>
          <a:xfrm>
            <a:off x="10353294" y="5152644"/>
            <a:ext cx="100584" cy="100584"/>
          </a:xfrm>
          <a:prstGeom prst="ellipse">
            <a:avLst/>
          </a:prstGeom>
          <a:solidFill>
            <a:srgbClr val="00A99D"/>
          </a:solidFill>
          <a:ln/>
        </p:spPr>
      </p:sp>
      <p:sp>
        <p:nvSpPr>
          <p:cNvPr id="202" name="Shape 200"/>
          <p:cNvSpPr/>
          <p:nvPr/>
        </p:nvSpPr>
        <p:spPr>
          <a:xfrm>
            <a:off x="10472166" y="5152644"/>
            <a:ext cx="100584" cy="100584"/>
          </a:xfrm>
          <a:prstGeom prst="ellipse">
            <a:avLst/>
          </a:prstGeom>
          <a:solidFill>
            <a:srgbClr val="00A99D"/>
          </a:solidFill>
          <a:ln/>
        </p:spPr>
      </p:sp>
      <p:sp>
        <p:nvSpPr>
          <p:cNvPr id="203" name="Shape 201"/>
          <p:cNvSpPr/>
          <p:nvPr/>
        </p:nvSpPr>
        <p:spPr>
          <a:xfrm>
            <a:off x="10591038" y="5152644"/>
            <a:ext cx="100584" cy="100584"/>
          </a:xfrm>
          <a:prstGeom prst="ellipse">
            <a:avLst/>
          </a:prstGeom>
          <a:solidFill>
            <a:srgbClr val="00A99D"/>
          </a:solidFill>
          <a:ln/>
        </p:spPr>
      </p:sp>
      <p:sp>
        <p:nvSpPr>
          <p:cNvPr id="204" name="Shape 202"/>
          <p:cNvSpPr/>
          <p:nvPr/>
        </p:nvSpPr>
        <p:spPr>
          <a:xfrm>
            <a:off x="10709910" y="5152644"/>
            <a:ext cx="100584" cy="100584"/>
          </a:xfrm>
          <a:prstGeom prst="ellipse">
            <a:avLst/>
          </a:prstGeom>
          <a:solidFill>
            <a:srgbClr val="00A99D"/>
          </a:solidFill>
          <a:ln/>
        </p:spPr>
      </p:sp>
      <p:sp>
        <p:nvSpPr>
          <p:cNvPr id="205" name="Shape 203"/>
          <p:cNvSpPr/>
          <p:nvPr/>
        </p:nvSpPr>
        <p:spPr>
          <a:xfrm>
            <a:off x="10828782" y="5152644"/>
            <a:ext cx="100584" cy="100584"/>
          </a:xfrm>
          <a:prstGeom prst="ellipse">
            <a:avLst/>
          </a:prstGeom>
          <a:solidFill>
            <a:srgbClr val="D9DEE6"/>
          </a:solidFill>
          <a:ln/>
        </p:spPr>
      </p:sp>
      <p:sp>
        <p:nvSpPr>
          <p:cNvPr id="206" name="Shape 204"/>
          <p:cNvSpPr/>
          <p:nvPr/>
        </p:nvSpPr>
        <p:spPr>
          <a:xfrm>
            <a:off x="548640" y="5404104"/>
            <a:ext cx="11064240" cy="402336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07" name="Text 205"/>
          <p:cNvSpPr/>
          <p:nvPr/>
        </p:nvSpPr>
        <p:spPr>
          <a:xfrm>
            <a:off x="685800" y="5404104"/>
            <a:ext cx="3108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quantum readiness</a:t>
            </a:r>
            <a:endParaRPr lang="en-US" sz="1050" dirty="0"/>
          </a:p>
        </p:txBody>
      </p:sp>
      <p:sp>
        <p:nvSpPr>
          <p:cNvPr id="208" name="Shape 206"/>
          <p:cNvSpPr/>
          <p:nvPr/>
        </p:nvSpPr>
        <p:spPr>
          <a:xfrm>
            <a:off x="4523994" y="5554980"/>
            <a:ext cx="100584" cy="100584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209" name="Shape 207"/>
          <p:cNvSpPr/>
          <p:nvPr/>
        </p:nvSpPr>
        <p:spPr>
          <a:xfrm>
            <a:off x="4642866" y="5554980"/>
            <a:ext cx="100584" cy="100584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210" name="Shape 208"/>
          <p:cNvSpPr/>
          <p:nvPr/>
        </p:nvSpPr>
        <p:spPr>
          <a:xfrm>
            <a:off x="4761738" y="5554980"/>
            <a:ext cx="100584" cy="100584"/>
          </a:xfrm>
          <a:prstGeom prst="ellipse">
            <a:avLst/>
          </a:prstGeom>
          <a:solidFill>
            <a:srgbClr val="D9DEE6"/>
          </a:solidFill>
          <a:ln/>
        </p:spPr>
      </p:sp>
      <p:sp>
        <p:nvSpPr>
          <p:cNvPr id="211" name="Shape 209"/>
          <p:cNvSpPr/>
          <p:nvPr/>
        </p:nvSpPr>
        <p:spPr>
          <a:xfrm>
            <a:off x="4880610" y="5554980"/>
            <a:ext cx="100584" cy="100584"/>
          </a:xfrm>
          <a:prstGeom prst="ellipse">
            <a:avLst/>
          </a:prstGeom>
          <a:solidFill>
            <a:srgbClr val="D9DEE6"/>
          </a:solidFill>
          <a:ln/>
        </p:spPr>
      </p:sp>
      <p:sp>
        <p:nvSpPr>
          <p:cNvPr id="212" name="Shape 210"/>
          <p:cNvSpPr/>
          <p:nvPr/>
        </p:nvSpPr>
        <p:spPr>
          <a:xfrm>
            <a:off x="4999482" y="5554980"/>
            <a:ext cx="100584" cy="100584"/>
          </a:xfrm>
          <a:prstGeom prst="ellipse">
            <a:avLst/>
          </a:prstGeom>
          <a:solidFill>
            <a:srgbClr val="D9DEE6"/>
          </a:solidFill>
          <a:ln/>
        </p:spPr>
      </p:sp>
      <p:sp>
        <p:nvSpPr>
          <p:cNvPr id="213" name="Shape 211"/>
          <p:cNvSpPr/>
          <p:nvPr/>
        </p:nvSpPr>
        <p:spPr>
          <a:xfrm>
            <a:off x="6467094" y="5554980"/>
            <a:ext cx="100584" cy="100584"/>
          </a:xfrm>
          <a:prstGeom prst="ellipse">
            <a:avLst/>
          </a:prstGeom>
          <a:solidFill>
            <a:srgbClr val="5B9BD5"/>
          </a:solidFill>
          <a:ln/>
        </p:spPr>
      </p:sp>
      <p:sp>
        <p:nvSpPr>
          <p:cNvPr id="214" name="Shape 212"/>
          <p:cNvSpPr/>
          <p:nvPr/>
        </p:nvSpPr>
        <p:spPr>
          <a:xfrm>
            <a:off x="6585966" y="5554980"/>
            <a:ext cx="100584" cy="100584"/>
          </a:xfrm>
          <a:prstGeom prst="ellipse">
            <a:avLst/>
          </a:prstGeom>
          <a:solidFill>
            <a:srgbClr val="5B9BD5"/>
          </a:solidFill>
          <a:ln/>
        </p:spPr>
      </p:sp>
      <p:sp>
        <p:nvSpPr>
          <p:cNvPr id="215" name="Shape 213"/>
          <p:cNvSpPr/>
          <p:nvPr/>
        </p:nvSpPr>
        <p:spPr>
          <a:xfrm>
            <a:off x="6704838" y="5554980"/>
            <a:ext cx="100584" cy="100584"/>
          </a:xfrm>
          <a:prstGeom prst="ellipse">
            <a:avLst/>
          </a:prstGeom>
          <a:solidFill>
            <a:srgbClr val="D9DEE6"/>
          </a:solidFill>
          <a:ln/>
        </p:spPr>
      </p:sp>
      <p:sp>
        <p:nvSpPr>
          <p:cNvPr id="216" name="Shape 214"/>
          <p:cNvSpPr/>
          <p:nvPr/>
        </p:nvSpPr>
        <p:spPr>
          <a:xfrm>
            <a:off x="6823710" y="5554980"/>
            <a:ext cx="100584" cy="100584"/>
          </a:xfrm>
          <a:prstGeom prst="ellipse">
            <a:avLst/>
          </a:prstGeom>
          <a:solidFill>
            <a:srgbClr val="D9DEE6"/>
          </a:solidFill>
          <a:ln/>
        </p:spPr>
      </p:sp>
      <p:sp>
        <p:nvSpPr>
          <p:cNvPr id="217" name="Shape 215"/>
          <p:cNvSpPr/>
          <p:nvPr/>
        </p:nvSpPr>
        <p:spPr>
          <a:xfrm>
            <a:off x="6942582" y="5554980"/>
            <a:ext cx="100584" cy="100584"/>
          </a:xfrm>
          <a:prstGeom prst="ellipse">
            <a:avLst/>
          </a:prstGeom>
          <a:solidFill>
            <a:srgbClr val="D9DEE6"/>
          </a:solidFill>
          <a:ln/>
        </p:spPr>
      </p:sp>
      <p:sp>
        <p:nvSpPr>
          <p:cNvPr id="218" name="Shape 216"/>
          <p:cNvSpPr/>
          <p:nvPr/>
        </p:nvSpPr>
        <p:spPr>
          <a:xfrm>
            <a:off x="8410194" y="5554980"/>
            <a:ext cx="100584" cy="10058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219" name="Shape 217"/>
          <p:cNvSpPr/>
          <p:nvPr/>
        </p:nvSpPr>
        <p:spPr>
          <a:xfrm>
            <a:off x="8529066" y="5554980"/>
            <a:ext cx="100584" cy="10058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220" name="Shape 218"/>
          <p:cNvSpPr/>
          <p:nvPr/>
        </p:nvSpPr>
        <p:spPr>
          <a:xfrm>
            <a:off x="8647938" y="5554980"/>
            <a:ext cx="100584" cy="10058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221" name="Shape 219"/>
          <p:cNvSpPr/>
          <p:nvPr/>
        </p:nvSpPr>
        <p:spPr>
          <a:xfrm>
            <a:off x="8766810" y="5554980"/>
            <a:ext cx="100584" cy="10058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222" name="Shape 220"/>
          <p:cNvSpPr/>
          <p:nvPr/>
        </p:nvSpPr>
        <p:spPr>
          <a:xfrm>
            <a:off x="8885682" y="5554980"/>
            <a:ext cx="100584" cy="10058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223" name="Shape 221"/>
          <p:cNvSpPr/>
          <p:nvPr/>
        </p:nvSpPr>
        <p:spPr>
          <a:xfrm>
            <a:off x="10353294" y="5554980"/>
            <a:ext cx="100584" cy="100584"/>
          </a:xfrm>
          <a:prstGeom prst="ellipse">
            <a:avLst/>
          </a:prstGeom>
          <a:solidFill>
            <a:srgbClr val="00A99D"/>
          </a:solidFill>
          <a:ln/>
        </p:spPr>
      </p:sp>
      <p:sp>
        <p:nvSpPr>
          <p:cNvPr id="224" name="Shape 222"/>
          <p:cNvSpPr/>
          <p:nvPr/>
        </p:nvSpPr>
        <p:spPr>
          <a:xfrm>
            <a:off x="10472166" y="5554980"/>
            <a:ext cx="100584" cy="100584"/>
          </a:xfrm>
          <a:prstGeom prst="ellipse">
            <a:avLst/>
          </a:prstGeom>
          <a:solidFill>
            <a:srgbClr val="00A99D"/>
          </a:solidFill>
          <a:ln/>
        </p:spPr>
      </p:sp>
      <p:sp>
        <p:nvSpPr>
          <p:cNvPr id="225" name="Shape 223"/>
          <p:cNvSpPr/>
          <p:nvPr/>
        </p:nvSpPr>
        <p:spPr>
          <a:xfrm>
            <a:off x="10591038" y="5554980"/>
            <a:ext cx="100584" cy="100584"/>
          </a:xfrm>
          <a:prstGeom prst="ellipse">
            <a:avLst/>
          </a:prstGeom>
          <a:solidFill>
            <a:srgbClr val="00A99D"/>
          </a:solidFill>
          <a:ln/>
        </p:spPr>
      </p:sp>
      <p:sp>
        <p:nvSpPr>
          <p:cNvPr id="226" name="Shape 224"/>
          <p:cNvSpPr/>
          <p:nvPr/>
        </p:nvSpPr>
        <p:spPr>
          <a:xfrm>
            <a:off x="10709910" y="5554980"/>
            <a:ext cx="100584" cy="100584"/>
          </a:xfrm>
          <a:prstGeom prst="ellipse">
            <a:avLst/>
          </a:prstGeom>
          <a:solidFill>
            <a:srgbClr val="00A99D"/>
          </a:solidFill>
          <a:ln/>
        </p:spPr>
      </p:sp>
      <p:sp>
        <p:nvSpPr>
          <p:cNvPr id="227" name="Shape 225"/>
          <p:cNvSpPr/>
          <p:nvPr/>
        </p:nvSpPr>
        <p:spPr>
          <a:xfrm>
            <a:off x="10828782" y="5554980"/>
            <a:ext cx="100584" cy="100584"/>
          </a:xfrm>
          <a:prstGeom prst="ellipse">
            <a:avLst/>
          </a:prstGeom>
          <a:solidFill>
            <a:srgbClr val="00A99D"/>
          </a:solidFill>
          <a:ln/>
        </p:spPr>
      </p:sp>
      <p:sp>
        <p:nvSpPr>
          <p:cNvPr id="228" name="Text 226"/>
          <p:cNvSpPr/>
          <p:nvPr/>
        </p:nvSpPr>
        <p:spPr>
          <a:xfrm>
            <a:off x="548640" y="59436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1–5 across ten weighted criteria by the project team; Hybrid leads or ties the leader on 9 of 10 criteria.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5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— WHY WE SELECTED 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Provides Predictive Intelligence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Nestlé Distributed Order Management  |  WISER Global Quantum + AI Program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decisions depend on understanding future demand and inventory conditions before a single order can be assigned.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5120640" cy="420624"/>
          </a:xfrm>
          <a:prstGeom prst="roundRect">
            <a:avLst>
              <a:gd name="adj" fmla="val 13043"/>
            </a:avLst>
          </a:prstGeom>
          <a:solidFill>
            <a:srgbClr val="F4F6F9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148840"/>
            <a:ext cx="4663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Data</a:t>
            </a:r>
            <a:endParaRPr lang="en-US" sz="1200" dirty="0"/>
          </a:p>
        </p:txBody>
      </p:sp>
      <p:pic>
        <p:nvPicPr>
          <p:cNvPr id="10" name="Image 0" descr="/home/claude/nestle_deck/icons/arrowRight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5400000">
            <a:off x="3026664" y="2587752"/>
            <a:ext cx="164592" cy="16459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48640" y="2715768"/>
            <a:ext cx="5120640" cy="420624"/>
          </a:xfrm>
          <a:prstGeom prst="roundRect">
            <a:avLst>
              <a:gd name="adj" fmla="val 13043"/>
            </a:avLst>
          </a:prstGeom>
          <a:solidFill>
            <a:srgbClr val="F4F6F9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2715768"/>
            <a:ext cx="4663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00" dirty="0"/>
          </a:p>
        </p:txBody>
      </p:sp>
      <p:pic>
        <p:nvPicPr>
          <p:cNvPr id="13" name="Image 1" descr="/home/claude/nestle_deck/icons/arrowRight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3026664" y="3154680"/>
            <a:ext cx="164592" cy="16459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48640" y="3282696"/>
            <a:ext cx="5120640" cy="420624"/>
          </a:xfrm>
          <a:prstGeom prst="roundRect">
            <a:avLst>
              <a:gd name="adj" fmla="val 13043"/>
            </a:avLst>
          </a:prstGeom>
          <a:solidFill>
            <a:srgbClr val="F4F6F9"/>
          </a:solidFill>
          <a:ln/>
        </p:spPr>
      </p:sp>
      <p:sp>
        <p:nvSpPr>
          <p:cNvPr id="15" name="Text 11"/>
          <p:cNvSpPr/>
          <p:nvPr/>
        </p:nvSpPr>
        <p:spPr>
          <a:xfrm>
            <a:off x="777240" y="3282696"/>
            <a:ext cx="4663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Model</a:t>
            </a:r>
            <a:endParaRPr lang="en-US" sz="1200" dirty="0"/>
          </a:p>
        </p:txBody>
      </p:sp>
      <p:pic>
        <p:nvPicPr>
          <p:cNvPr id="16" name="Image 2" descr="/home/claude/nestle_deck/icons/arrowRight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026664" y="3721608"/>
            <a:ext cx="164592" cy="164592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548640" y="3849624"/>
            <a:ext cx="5120640" cy="420624"/>
          </a:xfrm>
          <a:prstGeom prst="roundRect">
            <a:avLst>
              <a:gd name="adj" fmla="val 13043"/>
            </a:avLst>
          </a:prstGeom>
          <a:solidFill>
            <a:srgbClr val="F4F6F9"/>
          </a:solidFill>
          <a:ln/>
        </p:spPr>
      </p:sp>
      <p:sp>
        <p:nvSpPr>
          <p:cNvPr id="18" name="Text 13"/>
          <p:cNvSpPr/>
          <p:nvPr/>
        </p:nvSpPr>
        <p:spPr>
          <a:xfrm>
            <a:off x="777240" y="3849624"/>
            <a:ext cx="4663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Prediction</a:t>
            </a:r>
            <a:endParaRPr lang="en-US" sz="1200" dirty="0"/>
          </a:p>
        </p:txBody>
      </p:sp>
      <p:pic>
        <p:nvPicPr>
          <p:cNvPr id="19" name="Image 3" descr="/home/claude/nestle_deck/icons/arrowRight_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3026664" y="4288536"/>
            <a:ext cx="164592" cy="164592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548640" y="4416552"/>
            <a:ext cx="5120640" cy="420624"/>
          </a:xfrm>
          <a:prstGeom prst="roundRect">
            <a:avLst>
              <a:gd name="adj" fmla="val 13043"/>
            </a:avLst>
          </a:prstGeom>
          <a:solidFill>
            <a:srgbClr val="F4F6F9"/>
          </a:solidFill>
          <a:ln/>
        </p:spPr>
      </p:sp>
      <p:sp>
        <p:nvSpPr>
          <p:cNvPr id="21" name="Text 15"/>
          <p:cNvSpPr/>
          <p:nvPr/>
        </p:nvSpPr>
        <p:spPr>
          <a:xfrm>
            <a:off x="777240" y="4416552"/>
            <a:ext cx="4663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Prediction</a:t>
            </a:r>
            <a:endParaRPr lang="en-US" sz="1200" dirty="0"/>
          </a:p>
        </p:txBody>
      </p:sp>
      <p:pic>
        <p:nvPicPr>
          <p:cNvPr id="22" name="Image 4" descr="/home/claude/nestle_deck/icons/arrowRight_blu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3026664" y="4855464"/>
            <a:ext cx="164592" cy="164592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548640" y="4983480"/>
            <a:ext cx="5120640" cy="420624"/>
          </a:xfrm>
          <a:prstGeom prst="roundRect">
            <a:avLst>
              <a:gd name="adj" fmla="val 13043"/>
            </a:avLst>
          </a:prstGeom>
          <a:solidFill>
            <a:srgbClr val="0055A4"/>
          </a:solidFill>
          <a:ln/>
        </p:spPr>
      </p:sp>
      <p:sp>
        <p:nvSpPr>
          <p:cNvPr id="24" name="Text 17"/>
          <p:cNvSpPr/>
          <p:nvPr/>
        </p:nvSpPr>
        <p:spPr>
          <a:xfrm>
            <a:off x="777240" y="4983480"/>
            <a:ext cx="4663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Recommendation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6309360" y="1371600"/>
            <a:ext cx="5029200" cy="1051560"/>
          </a:xfrm>
          <a:prstGeom prst="roundRect">
            <a:avLst>
              <a:gd name="adj" fmla="val 6957"/>
            </a:avLst>
          </a:prstGeom>
          <a:solidFill>
            <a:srgbClr val="1B2A4A"/>
          </a:solidFill>
          <a:ln/>
          <a:effectLst>
            <a:outerShdw sx="100000" sy="100000" kx="0" ky="0" algn="bl" rotWithShape="0" blurRad="76200" dist="25400" dir="5400000">
              <a:srgbClr val="1B2A4A">
                <a:alpha val="15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6583680" y="1595628"/>
            <a:ext cx="603504" cy="603504"/>
          </a:xfrm>
          <a:prstGeom prst="ellipse">
            <a:avLst/>
          </a:prstGeom>
          <a:solidFill>
            <a:srgbClr val="00A99D"/>
          </a:solidFill>
          <a:ln/>
        </p:spPr>
      </p:sp>
      <p:pic>
        <p:nvPicPr>
          <p:cNvPr id="27" name="Image 5" descr="/home/claude/nestle_deck/icons/target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2136" y="1674084"/>
            <a:ext cx="446593" cy="446593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7406640" y="1499616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0.000310</a:t>
            </a:r>
            <a:endParaRPr lang="en-US" sz="2800" dirty="0"/>
          </a:p>
        </p:txBody>
      </p:sp>
      <p:sp>
        <p:nvSpPr>
          <p:cNvPr id="29" name="Text 21"/>
          <p:cNvSpPr/>
          <p:nvPr/>
        </p:nvSpPr>
        <p:spPr>
          <a:xfrm>
            <a:off x="7406640" y="202996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EC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 (Verified Model Result)</a:t>
            </a:r>
            <a:endParaRPr lang="en-US" sz="1050" dirty="0"/>
          </a:p>
        </p:txBody>
      </p:sp>
      <p:sp>
        <p:nvSpPr>
          <p:cNvPr id="30" name="Shape 22"/>
          <p:cNvSpPr/>
          <p:nvPr/>
        </p:nvSpPr>
        <p:spPr>
          <a:xfrm>
            <a:off x="6309360" y="2651760"/>
            <a:ext cx="5029200" cy="1051560"/>
          </a:xfrm>
          <a:prstGeom prst="roundRect">
            <a:avLst>
              <a:gd name="adj" fmla="val 6957"/>
            </a:avLst>
          </a:prstGeom>
          <a:solidFill>
            <a:srgbClr val="1B2A4A"/>
          </a:solidFill>
          <a:ln/>
          <a:effectLst>
            <a:outerShdw sx="100000" sy="100000" kx="0" ky="0" algn="bl" rotWithShape="0" blurRad="76200" dist="25400" dir="5400000">
              <a:srgbClr val="1B2A4A">
                <a:alpha val="15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6583680" y="2875788"/>
            <a:ext cx="603504" cy="603504"/>
          </a:xfrm>
          <a:prstGeom prst="ellipse">
            <a:avLst/>
          </a:prstGeom>
          <a:solidFill>
            <a:srgbClr val="00A99D"/>
          </a:solidFill>
          <a:ln/>
        </p:spPr>
      </p:sp>
      <p:pic>
        <p:nvPicPr>
          <p:cNvPr id="32" name="Image 6" descr="/home/claude/nestle_deck/icons/chart_nav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62136" y="2954244"/>
            <a:ext cx="446593" cy="446593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7406640" y="2779776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0.005716</a:t>
            </a:r>
            <a:endParaRPr lang="en-US" sz="2800" dirty="0"/>
          </a:p>
        </p:txBody>
      </p:sp>
      <p:sp>
        <p:nvSpPr>
          <p:cNvPr id="34" name="Text 25"/>
          <p:cNvSpPr/>
          <p:nvPr/>
        </p:nvSpPr>
        <p:spPr>
          <a:xfrm>
            <a:off x="7406640" y="331012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EC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 (Verified Model Result)</a:t>
            </a:r>
            <a:endParaRPr lang="en-US" sz="1050" dirty="0"/>
          </a:p>
        </p:txBody>
      </p:sp>
      <p:sp>
        <p:nvSpPr>
          <p:cNvPr id="35" name="Shape 26"/>
          <p:cNvSpPr/>
          <p:nvPr/>
        </p:nvSpPr>
        <p:spPr>
          <a:xfrm>
            <a:off x="6309360" y="3931920"/>
            <a:ext cx="5029200" cy="1051560"/>
          </a:xfrm>
          <a:prstGeom prst="roundRect">
            <a:avLst>
              <a:gd name="adj" fmla="val 6957"/>
            </a:avLst>
          </a:prstGeom>
          <a:solidFill>
            <a:srgbClr val="1B2A4A"/>
          </a:solidFill>
          <a:ln/>
          <a:effectLst>
            <a:outerShdw sx="100000" sy="100000" kx="0" ky="0" algn="bl" rotWithShape="0" blurRad="76200" dist="25400" dir="5400000">
              <a:srgbClr val="1B2A4A">
                <a:alpha val="15000"/>
              </a:srgbClr>
            </a:outerShdw>
          </a:effectLst>
        </p:spPr>
      </p:sp>
      <p:sp>
        <p:nvSpPr>
          <p:cNvPr id="36" name="Shape 27"/>
          <p:cNvSpPr/>
          <p:nvPr/>
        </p:nvSpPr>
        <p:spPr>
          <a:xfrm>
            <a:off x="6583680" y="4155948"/>
            <a:ext cx="603504" cy="603504"/>
          </a:xfrm>
          <a:prstGeom prst="ellipse">
            <a:avLst/>
          </a:prstGeom>
          <a:solidFill>
            <a:srgbClr val="00A99D"/>
          </a:solidFill>
          <a:ln/>
        </p:spPr>
      </p:sp>
      <p:pic>
        <p:nvPicPr>
          <p:cNvPr id="37" name="Image 7" descr="/home/claude/nestle_deck/icons/star_nav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62136" y="4234404"/>
            <a:ext cx="446593" cy="446593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7406640" y="4059936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0.967557</a:t>
            </a:r>
            <a:endParaRPr lang="en-US" sz="2800" dirty="0"/>
          </a:p>
        </p:txBody>
      </p:sp>
      <p:sp>
        <p:nvSpPr>
          <p:cNvPr id="39" name="Text 29"/>
          <p:cNvSpPr/>
          <p:nvPr/>
        </p:nvSpPr>
        <p:spPr>
          <a:xfrm>
            <a:off x="7406640" y="459028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EC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 (Verified Model Result)</a:t>
            </a:r>
            <a:endParaRPr lang="en-US" sz="1050" dirty="0"/>
          </a:p>
        </p:txBody>
      </p:sp>
      <p:sp>
        <p:nvSpPr>
          <p:cNvPr id="40" name="Text 30"/>
          <p:cNvSpPr/>
          <p:nvPr/>
        </p:nvSpPr>
        <p:spPr>
          <a:xfrm>
            <a:off x="6309360" y="52578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 reported alongside every AI recommendation for business transparency.</a:t>
            </a:r>
            <a:endParaRPr lang="en-US" sz="1050" dirty="0"/>
          </a:p>
        </p:txBody>
      </p:sp>
      <p:sp>
        <p:nvSpPr>
          <p:cNvPr id="41" name="Shape 31"/>
          <p:cNvSpPr/>
          <p:nvPr/>
        </p:nvSpPr>
        <p:spPr>
          <a:xfrm>
            <a:off x="548640" y="5760720"/>
            <a:ext cx="11064240" cy="502920"/>
          </a:xfrm>
          <a:prstGeom prst="roundRect">
            <a:avLst>
              <a:gd name="adj" fmla="val 10909"/>
            </a:avLst>
          </a:prstGeom>
          <a:solidFill>
            <a:srgbClr val="E8F1FA"/>
          </a:solidFill>
          <a:ln/>
        </p:spPr>
      </p:sp>
      <p:sp>
        <p:nvSpPr>
          <p:cNvPr id="42" name="Text 32"/>
          <p:cNvSpPr/>
          <p:nvPr/>
        </p:nvSpPr>
        <p:spPr>
          <a:xfrm>
            <a:off x="777240" y="576072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because it converts raw historical data into forward-looking, business-ready predictions — the foundation every downstream optimization decision relies on.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5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— WHY WE SELECTED 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Classical Optimization Provides Reliable Decision Making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Nestlé Distributed Order Management  |  WISER Global Quantum + AI Program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complementary techniques were applied: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5394960" cy="914400"/>
          </a:xfrm>
          <a:prstGeom prst="roundRect">
            <a:avLst>
              <a:gd name="adj" fmla="val 7000"/>
            </a:avLst>
          </a:prstGeom>
          <a:solidFill>
            <a:srgbClr val="F4F6F9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947672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55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234440" y="189280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Assignment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34440" y="2203704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rule-based routing for fast, predictable fallback decisions.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862072"/>
            <a:ext cx="5394960" cy="914400"/>
          </a:xfrm>
          <a:prstGeom prst="roundRect">
            <a:avLst>
              <a:gd name="adj" fmla="val 7000"/>
            </a:avLst>
          </a:prstGeom>
          <a:solidFill>
            <a:srgbClr val="F4F6F9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026664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55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234440" y="2971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Assignment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34440" y="3282696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heuristic assignment optimizing locally at each step.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941064"/>
            <a:ext cx="5394960" cy="914400"/>
          </a:xfrm>
          <a:prstGeom prst="roundRect">
            <a:avLst>
              <a:gd name="adj" fmla="val 7000"/>
            </a:avLst>
          </a:prstGeom>
          <a:solidFill>
            <a:srgbClr val="F4F6F9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105656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55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234440" y="40507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Programming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34440" y="4361688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Globally optimal assignment under full operational constraints.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263640" y="13716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Flow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949440" y="1828800"/>
            <a:ext cx="37490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C9D2D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9440" y="182880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250" dirty="0"/>
          </a:p>
        </p:txBody>
      </p:sp>
      <p:pic>
        <p:nvPicPr>
          <p:cNvPr id="23" name="Image 0" descr="/home/claude/nestle_deck/icons/arrowRight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5400000">
            <a:off x="8741664" y="2432304"/>
            <a:ext cx="164592" cy="164592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6949440" y="2606040"/>
            <a:ext cx="37490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C9D2D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949440" y="260604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1250" dirty="0"/>
          </a:p>
        </p:txBody>
      </p:sp>
      <p:pic>
        <p:nvPicPr>
          <p:cNvPr id="26" name="Image 1" descr="/home/claude/nestle_deck/icons/arrowRight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8741664" y="3209544"/>
            <a:ext cx="164592" cy="164592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6949440" y="3383280"/>
            <a:ext cx="3749040" cy="566928"/>
          </a:xfrm>
          <a:prstGeom prst="roundRect">
            <a:avLst>
              <a:gd name="adj" fmla="val 12903"/>
            </a:avLst>
          </a:prstGeom>
          <a:solidFill>
            <a:srgbClr val="0055A4"/>
          </a:solidFill>
          <a:ln w="15875">
            <a:solidFill>
              <a:srgbClr val="0055A4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949440" y="338328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Optimization</a:t>
            </a:r>
            <a:endParaRPr lang="en-US" sz="1250" dirty="0"/>
          </a:p>
        </p:txBody>
      </p:sp>
      <p:pic>
        <p:nvPicPr>
          <p:cNvPr id="29" name="Image 2" descr="/home/claude/nestle_deck/icons/arrowRight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8741664" y="3986784"/>
            <a:ext cx="164592" cy="164592"/>
          </a:xfrm>
          <a:prstGeom prst="rect">
            <a:avLst/>
          </a:prstGeom>
        </p:spPr>
      </p:pic>
      <p:sp>
        <p:nvSpPr>
          <p:cNvPr id="30" name="Shape 25"/>
          <p:cNvSpPr/>
          <p:nvPr/>
        </p:nvSpPr>
        <p:spPr>
          <a:xfrm>
            <a:off x="6949440" y="4160520"/>
            <a:ext cx="37490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C9D2DF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6949440" y="416052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Center Assignment</a:t>
            </a:r>
            <a:endParaRPr lang="en-US" sz="1250" dirty="0"/>
          </a:p>
        </p:txBody>
      </p:sp>
      <p:sp>
        <p:nvSpPr>
          <p:cNvPr id="32" name="Shape 27"/>
          <p:cNvSpPr/>
          <p:nvPr/>
        </p:nvSpPr>
        <p:spPr>
          <a:xfrm>
            <a:off x="548640" y="534924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/>
        </p:spPr>
      </p:sp>
      <p:sp>
        <p:nvSpPr>
          <p:cNvPr id="33" name="Shape 28"/>
          <p:cNvSpPr/>
          <p:nvPr/>
        </p:nvSpPr>
        <p:spPr>
          <a:xfrm>
            <a:off x="731520" y="5541264"/>
            <a:ext cx="457200" cy="457200"/>
          </a:xfrm>
          <a:prstGeom prst="ellipse">
            <a:avLst/>
          </a:prstGeom>
          <a:solidFill>
            <a:srgbClr val="00A99D"/>
          </a:solidFill>
          <a:ln/>
        </p:spPr>
      </p:sp>
      <p:pic>
        <p:nvPicPr>
          <p:cNvPr id="34" name="Image 3" descr="/home/claude/nestle_deck/icons/check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956" y="5600700"/>
            <a:ext cx="338328" cy="338328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1298448" y="5349240"/>
            <a:ext cx="19431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 &amp; validated</a:t>
            </a:r>
            <a:endParaRPr lang="en-US" sz="1150" dirty="0"/>
          </a:p>
        </p:txBody>
      </p:sp>
      <p:sp>
        <p:nvSpPr>
          <p:cNvPr id="36" name="Shape 30"/>
          <p:cNvSpPr/>
          <p:nvPr/>
        </p:nvSpPr>
        <p:spPr>
          <a:xfrm>
            <a:off x="3497580" y="5541264"/>
            <a:ext cx="457200" cy="457200"/>
          </a:xfrm>
          <a:prstGeom prst="ellipse">
            <a:avLst/>
          </a:prstGeom>
          <a:solidFill>
            <a:srgbClr val="00A99D"/>
          </a:solidFill>
          <a:ln/>
        </p:spPr>
      </p:sp>
      <p:pic>
        <p:nvPicPr>
          <p:cNvPr id="37" name="Image 4" descr="/home/claude/nestle_deck/icons/check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7016" y="5600700"/>
            <a:ext cx="338328" cy="338328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4064508" y="5349240"/>
            <a:ext cx="19431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constraint handling</a:t>
            </a:r>
            <a:endParaRPr lang="en-US" sz="1150" dirty="0"/>
          </a:p>
        </p:txBody>
      </p:sp>
      <p:sp>
        <p:nvSpPr>
          <p:cNvPr id="39" name="Shape 32"/>
          <p:cNvSpPr/>
          <p:nvPr/>
        </p:nvSpPr>
        <p:spPr>
          <a:xfrm>
            <a:off x="6263640" y="5541264"/>
            <a:ext cx="457200" cy="457200"/>
          </a:xfrm>
          <a:prstGeom prst="ellipse">
            <a:avLst/>
          </a:prstGeom>
          <a:solidFill>
            <a:srgbClr val="00A99D"/>
          </a:solidFill>
          <a:ln/>
        </p:spPr>
      </p:sp>
      <p:pic>
        <p:nvPicPr>
          <p:cNvPr id="40" name="Image 5" descr="/home/claude/nestle_deck/icons/check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3076" y="5600700"/>
            <a:ext cx="338328" cy="338328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6830568" y="5349240"/>
            <a:ext cx="19431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solutions</a:t>
            </a:r>
            <a:endParaRPr lang="en-US" sz="1150" dirty="0"/>
          </a:p>
        </p:txBody>
      </p:sp>
      <p:sp>
        <p:nvSpPr>
          <p:cNvPr id="42" name="Shape 34"/>
          <p:cNvSpPr/>
          <p:nvPr/>
        </p:nvSpPr>
        <p:spPr>
          <a:xfrm>
            <a:off x="9029700" y="5541264"/>
            <a:ext cx="457200" cy="457200"/>
          </a:xfrm>
          <a:prstGeom prst="ellipse">
            <a:avLst/>
          </a:prstGeom>
          <a:solidFill>
            <a:srgbClr val="00A99D"/>
          </a:solidFill>
          <a:ln/>
        </p:spPr>
      </p:sp>
      <p:pic>
        <p:nvPicPr>
          <p:cNvPr id="43" name="Image 6" descr="/home/claude/nestle_deck/icons/check_nav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89136" y="5600700"/>
            <a:ext cx="338328" cy="338328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9596628" y="5349240"/>
            <a:ext cx="19431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for deployment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5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— WHY WE SELECTED 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Quantum Optimization Provides Future Readiness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Nestlé Distributed Order Management  |  WISER Global Quantum + AI Program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DOM assignment problem can be represented as a combinatorial optimization problem — a natural fit for quantum experimentation.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F4F6F9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" y="1965960"/>
            <a:ext cx="181965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150" dirty="0"/>
          </a:p>
        </p:txBody>
      </p:sp>
      <p:pic>
        <p:nvPicPr>
          <p:cNvPr id="10" name="Image 0" descr="/home/claude/nestle_deck/icons/arrowRight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32888" y="2409444"/>
            <a:ext cx="146304" cy="16459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679192" y="196596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F4F6F9"/>
          </a:solidFill>
          <a:ln/>
        </p:spPr>
      </p:sp>
      <p:sp>
        <p:nvSpPr>
          <p:cNvPr id="12" name="Text 9"/>
          <p:cNvSpPr/>
          <p:nvPr/>
        </p:nvSpPr>
        <p:spPr>
          <a:xfrm>
            <a:off x="2752344" y="1965960"/>
            <a:ext cx="181965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Decision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150" dirty="0"/>
          </a:p>
        </p:txBody>
      </p:sp>
      <p:pic>
        <p:nvPicPr>
          <p:cNvPr id="13" name="Image 1" descr="/home/claude/nestle_deck/icons/arrowRight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2409444"/>
            <a:ext cx="146304" cy="16459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809744" y="196596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F4F6F9"/>
          </a:solidFill>
          <a:ln/>
        </p:spPr>
      </p:sp>
      <p:sp>
        <p:nvSpPr>
          <p:cNvPr id="15" name="Text 11"/>
          <p:cNvSpPr/>
          <p:nvPr/>
        </p:nvSpPr>
        <p:spPr>
          <a:xfrm>
            <a:off x="4882896" y="1965960"/>
            <a:ext cx="181965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QUBO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Formulation</a:t>
            </a:r>
            <a:endParaRPr lang="en-US" sz="1150" dirty="0"/>
          </a:p>
        </p:txBody>
      </p:sp>
      <p:pic>
        <p:nvPicPr>
          <p:cNvPr id="16" name="Image 2" descr="/home/claude/nestle_deck/icons/arrowRight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2" y="2409444"/>
            <a:ext cx="146304" cy="164592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6940296" y="196596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F4F6F9"/>
          </a:solidFill>
          <a:ln/>
        </p:spPr>
      </p:sp>
      <p:sp>
        <p:nvSpPr>
          <p:cNvPr id="18" name="Text 13"/>
          <p:cNvSpPr/>
          <p:nvPr/>
        </p:nvSpPr>
        <p:spPr>
          <a:xfrm>
            <a:off x="7013448" y="1965960"/>
            <a:ext cx="181965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Qiskit /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PennyLane</a:t>
            </a:r>
            <a:endParaRPr lang="en-US" sz="1150" dirty="0"/>
          </a:p>
        </p:txBody>
      </p:sp>
      <p:pic>
        <p:nvPicPr>
          <p:cNvPr id="19" name="Image 3" descr="/home/claude/nestle_deck/icons/arrowRight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4544" y="2409444"/>
            <a:ext cx="146304" cy="164592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9070848" y="196596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C89B3C"/>
          </a:solidFill>
          <a:ln/>
        </p:spPr>
      </p:sp>
      <p:sp>
        <p:nvSpPr>
          <p:cNvPr id="21" name="Text 15"/>
          <p:cNvSpPr/>
          <p:nvPr/>
        </p:nvSpPr>
        <p:spPr>
          <a:xfrm>
            <a:off x="9144000" y="1965960"/>
            <a:ext cx="181965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548640" y="3246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explored: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548640" y="3611880"/>
            <a:ext cx="1790395" cy="384048"/>
          </a:xfrm>
          <a:prstGeom prst="roundRect">
            <a:avLst>
              <a:gd name="adj" fmla="val 50000"/>
            </a:avLst>
          </a:prstGeom>
          <a:solidFill>
            <a:srgbClr val="E8F1FA"/>
          </a:solidFill>
          <a:ln/>
        </p:spPr>
      </p:sp>
      <p:sp>
        <p:nvSpPr>
          <p:cNvPr id="24" name="Text 18"/>
          <p:cNvSpPr/>
          <p:nvPr/>
        </p:nvSpPr>
        <p:spPr>
          <a:xfrm>
            <a:off x="548640" y="3611880"/>
            <a:ext cx="179039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5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QUBO formulation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2503627" y="3611880"/>
            <a:ext cx="985723" cy="384048"/>
          </a:xfrm>
          <a:prstGeom prst="roundRect">
            <a:avLst>
              <a:gd name="adj" fmla="val 50000"/>
            </a:avLst>
          </a:prstGeom>
          <a:solidFill>
            <a:srgbClr val="E8F1FA"/>
          </a:solidFill>
          <a:ln/>
        </p:spPr>
      </p:sp>
      <p:sp>
        <p:nvSpPr>
          <p:cNvPr id="26" name="Text 20"/>
          <p:cNvSpPr/>
          <p:nvPr/>
        </p:nvSpPr>
        <p:spPr>
          <a:xfrm>
            <a:off x="2503627" y="3611880"/>
            <a:ext cx="98572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5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Qiskit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3653942" y="3611880"/>
            <a:ext cx="1227125" cy="384048"/>
          </a:xfrm>
          <a:prstGeom prst="roundRect">
            <a:avLst>
              <a:gd name="adj" fmla="val 50000"/>
            </a:avLst>
          </a:prstGeom>
          <a:solidFill>
            <a:srgbClr val="E8F1FA"/>
          </a:solidFill>
          <a:ln/>
        </p:spPr>
      </p:sp>
      <p:sp>
        <p:nvSpPr>
          <p:cNvPr id="28" name="Text 22"/>
          <p:cNvSpPr/>
          <p:nvPr/>
        </p:nvSpPr>
        <p:spPr>
          <a:xfrm>
            <a:off x="3653942" y="3611880"/>
            <a:ext cx="122712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5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PennyLane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5045659" y="3611880"/>
            <a:ext cx="2836469" cy="384048"/>
          </a:xfrm>
          <a:prstGeom prst="roundRect">
            <a:avLst>
              <a:gd name="adj" fmla="val 50000"/>
            </a:avLst>
          </a:prstGeom>
          <a:solidFill>
            <a:srgbClr val="E8F1FA"/>
          </a:solidFill>
          <a:ln/>
        </p:spPr>
      </p:sp>
      <p:sp>
        <p:nvSpPr>
          <p:cNvPr id="30" name="Text 24"/>
          <p:cNvSpPr/>
          <p:nvPr/>
        </p:nvSpPr>
        <p:spPr>
          <a:xfrm>
            <a:off x="5045659" y="3611880"/>
            <a:ext cx="283646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5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QAOA / hybrid experimentation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8046720" y="3611880"/>
            <a:ext cx="1951330" cy="384048"/>
          </a:xfrm>
          <a:prstGeom prst="roundRect">
            <a:avLst>
              <a:gd name="adj" fmla="val 50000"/>
            </a:avLst>
          </a:prstGeom>
          <a:solidFill>
            <a:srgbClr val="E8F1FA"/>
          </a:solidFill>
          <a:ln/>
        </p:spPr>
      </p:sp>
      <p:sp>
        <p:nvSpPr>
          <p:cNvPr id="32" name="Text 26"/>
          <p:cNvSpPr/>
          <p:nvPr/>
        </p:nvSpPr>
        <p:spPr>
          <a:xfrm>
            <a:off x="8046720" y="3611880"/>
            <a:ext cx="195133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5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simulation</a:t>
            </a:r>
            <a:endParaRPr lang="en-US" sz="1050" dirty="0"/>
          </a:p>
        </p:txBody>
      </p:sp>
      <p:sp>
        <p:nvSpPr>
          <p:cNvPr id="33" name="Shape 27"/>
          <p:cNvSpPr/>
          <p:nvPr/>
        </p:nvSpPr>
        <p:spPr>
          <a:xfrm>
            <a:off x="548640" y="470916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4F6F9"/>
          </a:solidFill>
          <a:ln/>
        </p:spPr>
      </p:sp>
      <p:sp>
        <p:nvSpPr>
          <p:cNvPr id="34" name="Text 28"/>
          <p:cNvSpPr/>
          <p:nvPr/>
        </p:nvSpPr>
        <p:spPr>
          <a:xfrm>
            <a:off x="777240" y="4855464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VALIDATION</a:t>
            </a:r>
            <a:endParaRPr lang="en-US" sz="1100" dirty="0"/>
          </a:p>
        </p:txBody>
      </p:sp>
      <p:sp>
        <p:nvSpPr>
          <p:cNvPr id="35" name="Text 29"/>
          <p:cNvSpPr/>
          <p:nvPr/>
        </p:nvSpPr>
        <p:spPr>
          <a:xfrm>
            <a:off x="777240" y="516636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QUBO models were formulated and tested through quantum simulation to validate feasibility of the approach on real order-assignment structures.</a:t>
            </a:r>
            <a:endParaRPr lang="en-US" sz="1100" dirty="0"/>
          </a:p>
        </p:txBody>
      </p:sp>
      <p:sp>
        <p:nvSpPr>
          <p:cNvPr id="36" name="Shape 30"/>
          <p:cNvSpPr/>
          <p:nvPr/>
        </p:nvSpPr>
        <p:spPr>
          <a:xfrm>
            <a:off x="6217920" y="470916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1B2A4A"/>
          </a:solidFill>
          <a:ln/>
        </p:spPr>
      </p:sp>
      <p:sp>
        <p:nvSpPr>
          <p:cNvPr id="37" name="Text 31"/>
          <p:cNvSpPr/>
          <p:nvPr/>
        </p:nvSpPr>
        <p:spPr>
          <a:xfrm>
            <a:off x="6446520" y="4855464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QUANTUM POTENTIAL</a:t>
            </a:r>
            <a:endParaRPr lang="en-US" sz="1100" dirty="0"/>
          </a:p>
        </p:txBody>
      </p:sp>
      <p:sp>
        <p:nvSpPr>
          <p:cNvPr id="38" name="Text 32"/>
          <p:cNvSpPr/>
          <p:nvPr/>
        </p:nvSpPr>
        <p:spPr>
          <a:xfrm>
            <a:off x="6446520" y="516636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as a future-oriented technology for increasingly complex, large-scale optimization — not a claim of production quantum advantage today.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5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HYBRID?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Hybrid Approach Provides the Best Balance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Nestlé Distributed Order Management  |  WISER Global Quantum + AI Program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632808" y="1417320"/>
            <a:ext cx="2926080" cy="502920"/>
          </a:xfrm>
          <a:prstGeom prst="roundRect">
            <a:avLst>
              <a:gd name="adj" fmla="val 12727"/>
            </a:avLst>
          </a:prstGeom>
          <a:solidFill>
            <a:srgbClr val="0055A4"/>
          </a:solidFill>
          <a:ln/>
        </p:spPr>
      </p:sp>
      <p:sp>
        <p:nvSpPr>
          <p:cNvPr id="8" name="Text 6"/>
          <p:cNvSpPr/>
          <p:nvPr/>
        </p:nvSpPr>
        <p:spPr>
          <a:xfrm>
            <a:off x="4632808" y="141732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— Predictive Intelligence</a:t>
            </a:r>
            <a:endParaRPr lang="en-US" sz="1250" dirty="0"/>
          </a:p>
        </p:txBody>
      </p:sp>
      <p:pic>
        <p:nvPicPr>
          <p:cNvPr id="9" name="Image 0" descr="/home/claude/nestle_deck/icons/arrowRight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5400000">
            <a:off x="6013552" y="2029968"/>
            <a:ext cx="164592" cy="16459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632808" y="2286000"/>
            <a:ext cx="2926080" cy="502920"/>
          </a:xfrm>
          <a:prstGeom prst="roundRect">
            <a:avLst>
              <a:gd name="adj" fmla="val 12727"/>
            </a:avLst>
          </a:prstGeom>
          <a:solidFill>
            <a:srgbClr val="F4F6F9"/>
          </a:solidFill>
          <a:ln/>
        </p:spPr>
      </p:sp>
      <p:sp>
        <p:nvSpPr>
          <p:cNvPr id="11" name="Text 8"/>
          <p:cNvSpPr/>
          <p:nvPr/>
        </p:nvSpPr>
        <p:spPr>
          <a:xfrm>
            <a:off x="4632808" y="228600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Insights</a:t>
            </a:r>
            <a:endParaRPr lang="en-US" sz="1250" dirty="0"/>
          </a:p>
        </p:txBody>
      </p:sp>
      <p:pic>
        <p:nvPicPr>
          <p:cNvPr id="12" name="Image 1" descr="/home/claude/nestle_deck/icons/arrowRight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6013552" y="2898648"/>
            <a:ext cx="164592" cy="16459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084168" y="3154680"/>
            <a:ext cx="4023360" cy="548640"/>
          </a:xfrm>
          <a:prstGeom prst="roundRect">
            <a:avLst>
              <a:gd name="adj" fmla="val 11667"/>
            </a:avLst>
          </a:prstGeom>
          <a:solidFill>
            <a:srgbClr val="1B2A4A"/>
          </a:solidFill>
          <a:ln/>
        </p:spPr>
      </p:sp>
      <p:sp>
        <p:nvSpPr>
          <p:cNvPr id="14" name="Text 10"/>
          <p:cNvSpPr/>
          <p:nvPr/>
        </p:nvSpPr>
        <p:spPr>
          <a:xfrm>
            <a:off x="4084168" y="315468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Engine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4358488" y="3813048"/>
            <a:ext cx="3474720" cy="0"/>
          </a:xfrm>
          <a:prstGeom prst="line">
            <a:avLst/>
          </a:prstGeom>
          <a:noFill/>
          <a:ln w="15875">
            <a:solidFill>
              <a:srgbClr val="6B7789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358488" y="3813048"/>
            <a:ext cx="0" cy="201168"/>
          </a:xfrm>
          <a:prstGeom prst="line">
            <a:avLst/>
          </a:prstGeom>
          <a:noFill/>
          <a:ln w="15875">
            <a:solidFill>
              <a:srgbClr val="6B7789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833208" y="3813048"/>
            <a:ext cx="0" cy="201168"/>
          </a:xfrm>
          <a:prstGeom prst="line">
            <a:avLst/>
          </a:prstGeom>
          <a:noFill/>
          <a:ln w="15875">
            <a:solidFill>
              <a:srgbClr val="6B7789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169768" y="4014216"/>
            <a:ext cx="2377440" cy="502920"/>
          </a:xfrm>
          <a:prstGeom prst="roundRect">
            <a:avLst>
              <a:gd name="adj" fmla="val 12727"/>
            </a:avLst>
          </a:prstGeom>
          <a:solidFill>
            <a:srgbClr val="5B9BD5"/>
          </a:solidFill>
          <a:ln/>
        </p:spPr>
      </p:sp>
      <p:sp>
        <p:nvSpPr>
          <p:cNvPr id="19" name="Text 15"/>
          <p:cNvSpPr/>
          <p:nvPr/>
        </p:nvSpPr>
        <p:spPr>
          <a:xfrm>
            <a:off x="3169768" y="4014216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Solver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6644488" y="4014216"/>
            <a:ext cx="2377440" cy="502920"/>
          </a:xfrm>
          <a:prstGeom prst="roundRect">
            <a:avLst>
              <a:gd name="adj" fmla="val 12727"/>
            </a:avLst>
          </a:prstGeom>
          <a:solidFill>
            <a:srgbClr val="C89B3C"/>
          </a:solidFill>
          <a:ln/>
        </p:spPr>
      </p:sp>
      <p:sp>
        <p:nvSpPr>
          <p:cNvPr id="21" name="Text 17"/>
          <p:cNvSpPr/>
          <p:nvPr/>
        </p:nvSpPr>
        <p:spPr>
          <a:xfrm>
            <a:off x="6644488" y="4014216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Solver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5547208" y="4608576"/>
            <a:ext cx="548640" cy="0"/>
          </a:xfrm>
          <a:prstGeom prst="line">
            <a:avLst/>
          </a:prstGeom>
          <a:noFill/>
          <a:ln w="15875">
            <a:solidFill>
              <a:srgbClr val="6B7789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095848" y="4608576"/>
            <a:ext cx="548640" cy="0"/>
          </a:xfrm>
          <a:prstGeom prst="line">
            <a:avLst/>
          </a:prstGeom>
          <a:noFill/>
          <a:ln w="15875">
            <a:solidFill>
              <a:srgbClr val="6B7789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095848" y="4498848"/>
            <a:ext cx="0" cy="128016"/>
          </a:xfrm>
          <a:prstGeom prst="line">
            <a:avLst/>
          </a:prstGeom>
          <a:noFill/>
          <a:ln w="15875">
            <a:solidFill>
              <a:srgbClr val="6B7789"/>
            </a:solidFill>
            <a:prstDash val="solid"/>
          </a:ln>
        </p:spPr>
      </p:sp>
      <p:pic>
        <p:nvPicPr>
          <p:cNvPr id="25" name="Image 2" descr="/home/claude/nestle_deck/icons/arrowRight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013552" y="4626864"/>
            <a:ext cx="164592" cy="164592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4724248" y="4882896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00A99D"/>
          </a:solidFill>
          <a:ln/>
        </p:spPr>
      </p:sp>
      <p:sp>
        <p:nvSpPr>
          <p:cNvPr id="27" name="Text 22"/>
          <p:cNvSpPr/>
          <p:nvPr/>
        </p:nvSpPr>
        <p:spPr>
          <a:xfrm>
            <a:off x="4724248" y="488289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Decision</a:t>
            </a:r>
            <a:endParaRPr lang="en-US" sz="1250" dirty="0"/>
          </a:p>
        </p:txBody>
      </p:sp>
      <p:pic>
        <p:nvPicPr>
          <p:cNvPr id="28" name="Image 3" descr="/home/claude/nestle_deck/icons/arrowRight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6013552" y="5431536"/>
            <a:ext cx="164592" cy="164592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4632808" y="5687568"/>
            <a:ext cx="2926080" cy="502920"/>
          </a:xfrm>
          <a:prstGeom prst="roundRect">
            <a:avLst>
              <a:gd name="adj" fmla="val 12727"/>
            </a:avLst>
          </a:prstGeom>
          <a:solidFill>
            <a:srgbClr val="1B2A4A"/>
          </a:solidFill>
          <a:ln/>
        </p:spPr>
      </p:sp>
      <p:sp>
        <p:nvSpPr>
          <p:cNvPr id="30" name="Text 24"/>
          <p:cNvSpPr/>
          <p:nvPr/>
        </p:nvSpPr>
        <p:spPr>
          <a:xfrm>
            <a:off x="4632808" y="5687568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Dashboard</a:t>
            </a:r>
            <a:endParaRPr lang="en-US" sz="1250" dirty="0"/>
          </a:p>
        </p:txBody>
      </p:sp>
      <p:sp>
        <p:nvSpPr>
          <p:cNvPr id="31" name="Text 25"/>
          <p:cNvSpPr/>
          <p:nvPr/>
        </p:nvSpPr>
        <p:spPr>
          <a:xfrm>
            <a:off x="457200" y="14630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5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ANSWERS</a:t>
            </a:r>
            <a:endParaRPr lang="en-US" sz="950" dirty="0"/>
          </a:p>
        </p:txBody>
      </p:sp>
      <p:sp>
        <p:nvSpPr>
          <p:cNvPr id="32" name="Text 26"/>
          <p:cNvSpPr/>
          <p:nvPr/>
        </p:nvSpPr>
        <p:spPr>
          <a:xfrm>
            <a:off x="457200" y="169164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is likely to happen?”</a:t>
            </a:r>
            <a:endParaRPr lang="en-US" sz="1050" dirty="0"/>
          </a:p>
        </p:txBody>
      </p:sp>
      <p:sp>
        <p:nvSpPr>
          <p:cNvPr id="33" name="Text 27"/>
          <p:cNvSpPr/>
          <p:nvPr/>
        </p:nvSpPr>
        <p:spPr>
          <a:xfrm>
            <a:off x="365760" y="342900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ANSWERS</a:t>
            </a:r>
            <a:endParaRPr lang="en-US" sz="950" dirty="0"/>
          </a:p>
        </p:txBody>
      </p:sp>
      <p:sp>
        <p:nvSpPr>
          <p:cNvPr id="34" name="Text 28"/>
          <p:cNvSpPr/>
          <p:nvPr/>
        </p:nvSpPr>
        <p:spPr>
          <a:xfrm>
            <a:off x="365760" y="365760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is the best feasible decision now?”</a:t>
            </a:r>
            <a:endParaRPr lang="en-US" sz="1050" dirty="0"/>
          </a:p>
        </p:txBody>
      </p:sp>
      <p:sp>
        <p:nvSpPr>
          <p:cNvPr id="35" name="Text 29"/>
          <p:cNvSpPr/>
          <p:nvPr/>
        </p:nvSpPr>
        <p:spPr>
          <a:xfrm>
            <a:off x="9509760" y="34290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ANSWERS</a:t>
            </a:r>
            <a:endParaRPr lang="en-US" sz="950" dirty="0"/>
          </a:p>
        </p:txBody>
      </p:sp>
      <p:sp>
        <p:nvSpPr>
          <p:cNvPr id="36" name="Text 30"/>
          <p:cNvSpPr/>
          <p:nvPr/>
        </p:nvSpPr>
        <p:spPr>
          <a:xfrm>
            <a:off x="9509760" y="36576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can future quantum methods help solve increasingly complex problems?”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5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DECISION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Decision: AI + Classical + Quantum Hybrid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Nestlé Distributed Order Management  |  WISER Global Quantum + AI Program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325880"/>
            <a:ext cx="11064240" cy="38404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325880"/>
            <a:ext cx="2971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657600" y="1325880"/>
            <a:ext cx="19888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646420" y="1325880"/>
            <a:ext cx="19888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635240" y="1325880"/>
            <a:ext cx="19888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624060" y="1325880"/>
            <a:ext cx="19888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85800" y="1709928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657600" y="1709928"/>
            <a:ext cx="19888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5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646420" y="1709928"/>
            <a:ext cx="19888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D2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635240" y="1709928"/>
            <a:ext cx="19888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D2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624060" y="1709928"/>
            <a:ext cx="19888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624060" y="1709928"/>
            <a:ext cx="1988820" cy="402336"/>
          </a:xfrm>
          <a:prstGeom prst="rect">
            <a:avLst/>
          </a:prstGeom>
          <a:solidFill>
            <a:srgbClr val="D6F0EE">
              <a:alpha val="4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2112264"/>
            <a:ext cx="11064240" cy="402336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2112264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57600" y="2112264"/>
            <a:ext cx="19888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D2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646420" y="2112264"/>
            <a:ext cx="19888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635240" y="2112264"/>
            <a:ext cx="19888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624060" y="2112264"/>
            <a:ext cx="19888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9624060" y="2112264"/>
            <a:ext cx="1988820" cy="402336"/>
          </a:xfrm>
          <a:prstGeom prst="rect">
            <a:avLst/>
          </a:prstGeom>
          <a:solidFill>
            <a:srgbClr val="D6F0EE">
              <a:alpha val="4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2514600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Handling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657600" y="2514600"/>
            <a:ext cx="19888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D2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646420" y="2514600"/>
            <a:ext cx="19888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635240" y="2514600"/>
            <a:ext cx="19888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D2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624060" y="2514600"/>
            <a:ext cx="19888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9624060" y="2514600"/>
            <a:ext cx="1988820" cy="402336"/>
          </a:xfrm>
          <a:prstGeom prst="rect">
            <a:avLst/>
          </a:prstGeom>
          <a:solidFill>
            <a:srgbClr val="D6F0EE">
              <a:alpha val="4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548640" y="2916936"/>
            <a:ext cx="11064240" cy="402336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3" name="Text 31"/>
          <p:cNvSpPr/>
          <p:nvPr/>
        </p:nvSpPr>
        <p:spPr>
          <a:xfrm>
            <a:off x="685800" y="2916936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657600" y="2916936"/>
            <a:ext cx="19888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5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5646420" y="2916936"/>
            <a:ext cx="19888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7635240" y="2916936"/>
            <a:ext cx="19888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D2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9624060" y="2916936"/>
            <a:ext cx="19888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9624060" y="2916936"/>
            <a:ext cx="1988820" cy="402336"/>
          </a:xfrm>
          <a:prstGeom prst="rect">
            <a:avLst/>
          </a:prstGeom>
          <a:solidFill>
            <a:srgbClr val="D6F0EE">
              <a:alpha val="45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685800" y="3319272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Deployment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3657600" y="3319272"/>
            <a:ext cx="19888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5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5646420" y="3319272"/>
            <a:ext cx="19888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7635240" y="3319272"/>
            <a:ext cx="19888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D2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9624060" y="3319272"/>
            <a:ext cx="19888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9624060" y="3319272"/>
            <a:ext cx="1988820" cy="402336"/>
          </a:xfrm>
          <a:prstGeom prst="rect">
            <a:avLst/>
          </a:prstGeom>
          <a:solidFill>
            <a:srgbClr val="D6F0EE">
              <a:alpha val="4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48640" y="3721608"/>
            <a:ext cx="11064240" cy="402336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46" name="Text 44"/>
          <p:cNvSpPr/>
          <p:nvPr/>
        </p:nvSpPr>
        <p:spPr>
          <a:xfrm>
            <a:off x="685800" y="3721608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Readiness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3657600" y="3721608"/>
            <a:ext cx="19888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D2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5646420" y="3721608"/>
            <a:ext cx="19888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D2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7635240" y="3721608"/>
            <a:ext cx="19888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9624060" y="3721608"/>
            <a:ext cx="19888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500" dirty="0"/>
          </a:p>
        </p:txBody>
      </p:sp>
      <p:sp>
        <p:nvSpPr>
          <p:cNvPr id="51" name="Shape 49"/>
          <p:cNvSpPr/>
          <p:nvPr/>
        </p:nvSpPr>
        <p:spPr>
          <a:xfrm>
            <a:off x="9624060" y="3721608"/>
            <a:ext cx="1988820" cy="402336"/>
          </a:xfrm>
          <a:prstGeom prst="rect">
            <a:avLst/>
          </a:prstGeom>
          <a:solidFill>
            <a:srgbClr val="D6F0EE">
              <a:alpha val="45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685800" y="4123944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3657600" y="4123944"/>
            <a:ext cx="19888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5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500" dirty="0"/>
          </a:p>
        </p:txBody>
      </p:sp>
      <p:sp>
        <p:nvSpPr>
          <p:cNvPr id="54" name="Text 52"/>
          <p:cNvSpPr/>
          <p:nvPr/>
        </p:nvSpPr>
        <p:spPr>
          <a:xfrm>
            <a:off x="5646420" y="4123944"/>
            <a:ext cx="19888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500" dirty="0"/>
          </a:p>
        </p:txBody>
      </p:sp>
      <p:sp>
        <p:nvSpPr>
          <p:cNvPr id="55" name="Text 53"/>
          <p:cNvSpPr/>
          <p:nvPr/>
        </p:nvSpPr>
        <p:spPr>
          <a:xfrm>
            <a:off x="7635240" y="4123944"/>
            <a:ext cx="19888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500" dirty="0"/>
          </a:p>
        </p:txBody>
      </p:sp>
      <p:sp>
        <p:nvSpPr>
          <p:cNvPr id="56" name="Text 54"/>
          <p:cNvSpPr/>
          <p:nvPr/>
        </p:nvSpPr>
        <p:spPr>
          <a:xfrm>
            <a:off x="9624060" y="4123944"/>
            <a:ext cx="19888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500" dirty="0"/>
          </a:p>
        </p:txBody>
      </p:sp>
      <p:sp>
        <p:nvSpPr>
          <p:cNvPr id="57" name="Shape 55"/>
          <p:cNvSpPr/>
          <p:nvPr/>
        </p:nvSpPr>
        <p:spPr>
          <a:xfrm>
            <a:off x="9624060" y="4123944"/>
            <a:ext cx="1988820" cy="402336"/>
          </a:xfrm>
          <a:prstGeom prst="rect">
            <a:avLst/>
          </a:prstGeom>
          <a:solidFill>
            <a:srgbClr val="D6F0EE">
              <a:alpha val="45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548640" y="47091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SELECTED: HYBRID ARCHITECTURE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548640" y="5029200"/>
            <a:ext cx="2596896" cy="329184"/>
          </a:xfrm>
          <a:prstGeom prst="roundRect">
            <a:avLst>
              <a:gd name="adj" fmla="val 50000"/>
            </a:avLst>
          </a:prstGeom>
          <a:solidFill>
            <a:srgbClr val="E8F1FA"/>
          </a:solidFill>
          <a:ln/>
        </p:spPr>
      </p:sp>
      <p:sp>
        <p:nvSpPr>
          <p:cNvPr id="60" name="Text 58"/>
          <p:cNvSpPr/>
          <p:nvPr/>
        </p:nvSpPr>
        <p:spPr>
          <a:xfrm>
            <a:off x="548640" y="5029200"/>
            <a:ext cx="25968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5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Strong predictive intelligence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3282696" y="5029200"/>
            <a:ext cx="1954987" cy="329184"/>
          </a:xfrm>
          <a:prstGeom prst="roundRect">
            <a:avLst>
              <a:gd name="adj" fmla="val 50000"/>
            </a:avLst>
          </a:prstGeom>
          <a:solidFill>
            <a:srgbClr val="E8F1FA"/>
          </a:solidFill>
          <a:ln/>
        </p:spPr>
      </p:sp>
      <p:sp>
        <p:nvSpPr>
          <p:cNvPr id="62" name="Text 60"/>
          <p:cNvSpPr/>
          <p:nvPr/>
        </p:nvSpPr>
        <p:spPr>
          <a:xfrm>
            <a:off x="3282696" y="5029200"/>
            <a:ext cx="1954987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5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Reliable optimization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5374843" y="5029200"/>
            <a:ext cx="2097634" cy="329184"/>
          </a:xfrm>
          <a:prstGeom prst="roundRect">
            <a:avLst>
              <a:gd name="adj" fmla="val 50000"/>
            </a:avLst>
          </a:prstGeom>
          <a:solidFill>
            <a:srgbClr val="E8F1FA"/>
          </a:solidFill>
          <a:ln/>
        </p:spPr>
      </p:sp>
      <p:sp>
        <p:nvSpPr>
          <p:cNvPr id="64" name="Text 62"/>
          <p:cNvSpPr/>
          <p:nvPr/>
        </p:nvSpPr>
        <p:spPr>
          <a:xfrm>
            <a:off x="5374843" y="5029200"/>
            <a:ext cx="209763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5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Business explainability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7609637" y="5029200"/>
            <a:ext cx="2454250" cy="329184"/>
          </a:xfrm>
          <a:prstGeom prst="roundRect">
            <a:avLst>
              <a:gd name="adj" fmla="val 50000"/>
            </a:avLst>
          </a:prstGeom>
          <a:solidFill>
            <a:srgbClr val="E8F1FA"/>
          </a:solidFill>
          <a:ln/>
        </p:spPr>
      </p:sp>
      <p:sp>
        <p:nvSpPr>
          <p:cNvPr id="66" name="Text 64"/>
          <p:cNvSpPr/>
          <p:nvPr/>
        </p:nvSpPr>
        <p:spPr>
          <a:xfrm>
            <a:off x="7609637" y="5029200"/>
            <a:ext cx="245425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5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Practical current deployment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548640" y="5440680"/>
            <a:ext cx="2097634" cy="329184"/>
          </a:xfrm>
          <a:prstGeom prst="roundRect">
            <a:avLst>
              <a:gd name="adj" fmla="val 50000"/>
            </a:avLst>
          </a:prstGeom>
          <a:solidFill>
            <a:srgbClr val="E8F1FA"/>
          </a:solidFill>
          <a:ln/>
        </p:spPr>
      </p:sp>
      <p:sp>
        <p:nvSpPr>
          <p:cNvPr id="68" name="Text 66"/>
          <p:cNvSpPr/>
          <p:nvPr/>
        </p:nvSpPr>
        <p:spPr>
          <a:xfrm>
            <a:off x="548640" y="5440680"/>
            <a:ext cx="209763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5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Quantum experimentation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2783434" y="5440680"/>
            <a:ext cx="1741018" cy="329184"/>
          </a:xfrm>
          <a:prstGeom prst="roundRect">
            <a:avLst>
              <a:gd name="adj" fmla="val 50000"/>
            </a:avLst>
          </a:prstGeom>
          <a:solidFill>
            <a:srgbClr val="E8F1FA"/>
          </a:solidFill>
          <a:ln/>
        </p:spPr>
      </p:sp>
      <p:sp>
        <p:nvSpPr>
          <p:cNvPr id="70" name="Text 68"/>
          <p:cNvSpPr/>
          <p:nvPr/>
        </p:nvSpPr>
        <p:spPr>
          <a:xfrm>
            <a:off x="2783434" y="5440680"/>
            <a:ext cx="174101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5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Future scalability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4661611" y="5440680"/>
            <a:ext cx="1883664" cy="329184"/>
          </a:xfrm>
          <a:prstGeom prst="roundRect">
            <a:avLst>
              <a:gd name="adj" fmla="val 50000"/>
            </a:avLst>
          </a:prstGeom>
          <a:solidFill>
            <a:srgbClr val="E8F1FA"/>
          </a:solidFill>
          <a:ln/>
        </p:spPr>
      </p:sp>
      <p:sp>
        <p:nvSpPr>
          <p:cNvPr id="72" name="Text 70"/>
          <p:cNvSpPr/>
          <p:nvPr/>
        </p:nvSpPr>
        <p:spPr>
          <a:xfrm>
            <a:off x="4661611" y="5440680"/>
            <a:ext cx="18836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5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Modular architecture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3840480" cy="3840480"/>
          </a:xfrm>
          <a:prstGeom prst="ellipse">
            <a:avLst/>
          </a:prstGeom>
          <a:solidFill>
            <a:srgbClr val="24365C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937760"/>
            <a:ext cx="4114800" cy="4114800"/>
          </a:xfrm>
          <a:prstGeom prst="ellipse">
            <a:avLst/>
          </a:prstGeom>
          <a:solidFill>
            <a:srgbClr val="24365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CONCLUSION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Approach Is the Right Strategic Choice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792328" y="1691640"/>
            <a:ext cx="3291840" cy="1554480"/>
          </a:xfrm>
          <a:prstGeom prst="roundRect">
            <a:avLst>
              <a:gd name="adj" fmla="val 5294"/>
            </a:avLst>
          </a:prstGeom>
          <a:solidFill>
            <a:srgbClr val="24365C"/>
          </a:solidFill>
          <a:ln/>
        </p:spPr>
      </p:sp>
      <p:sp>
        <p:nvSpPr>
          <p:cNvPr id="7" name="Shape 5"/>
          <p:cNvSpPr/>
          <p:nvPr/>
        </p:nvSpPr>
        <p:spPr>
          <a:xfrm>
            <a:off x="2072488" y="1892808"/>
            <a:ext cx="731520" cy="731520"/>
          </a:xfrm>
          <a:prstGeom prst="ellipse">
            <a:avLst/>
          </a:prstGeom>
          <a:solidFill>
            <a:srgbClr val="0055A4"/>
          </a:solidFill>
          <a:ln/>
        </p:spPr>
      </p:sp>
      <p:pic>
        <p:nvPicPr>
          <p:cNvPr id="8" name="Image 0" descr="/home/claude/nestle_deck/icons/brain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7585" y="1987906"/>
            <a:ext cx="541325" cy="54132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92328" y="26974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EC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92328" y="29260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“Predict”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449928" y="1691640"/>
            <a:ext cx="3291840" cy="1554480"/>
          </a:xfrm>
          <a:prstGeom prst="roundRect">
            <a:avLst>
              <a:gd name="adj" fmla="val 5294"/>
            </a:avLst>
          </a:prstGeom>
          <a:solidFill>
            <a:srgbClr val="24365C"/>
          </a:solidFill>
          <a:ln/>
        </p:spPr>
      </p:sp>
      <p:sp>
        <p:nvSpPr>
          <p:cNvPr id="12" name="Shape 9"/>
          <p:cNvSpPr/>
          <p:nvPr/>
        </p:nvSpPr>
        <p:spPr>
          <a:xfrm>
            <a:off x="5730088" y="1892808"/>
            <a:ext cx="731520" cy="731520"/>
          </a:xfrm>
          <a:prstGeom prst="ellipse">
            <a:avLst/>
          </a:prstGeom>
          <a:solidFill>
            <a:srgbClr val="5B9BD5"/>
          </a:solidFill>
          <a:ln/>
        </p:spPr>
      </p:sp>
      <p:pic>
        <p:nvPicPr>
          <p:cNvPr id="13" name="Image 1" descr="/home/claude/nestle_deck/icons/cog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5185" y="1987906"/>
            <a:ext cx="541325" cy="54132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449928" y="26974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EC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449928" y="29260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“Optimize”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8107528" y="1691640"/>
            <a:ext cx="3291840" cy="1554480"/>
          </a:xfrm>
          <a:prstGeom prst="roundRect">
            <a:avLst>
              <a:gd name="adj" fmla="val 5294"/>
            </a:avLst>
          </a:prstGeom>
          <a:solidFill>
            <a:srgbClr val="24365C"/>
          </a:solidFill>
          <a:ln/>
        </p:spPr>
      </p:sp>
      <p:sp>
        <p:nvSpPr>
          <p:cNvPr id="17" name="Shape 13"/>
          <p:cNvSpPr/>
          <p:nvPr/>
        </p:nvSpPr>
        <p:spPr>
          <a:xfrm>
            <a:off x="9387688" y="1892808"/>
            <a:ext cx="731520" cy="731520"/>
          </a:xfrm>
          <a:prstGeom prst="ellipse">
            <a:avLst/>
          </a:prstGeom>
          <a:solidFill>
            <a:srgbClr val="C89B3C"/>
          </a:solidFill>
          <a:ln/>
        </p:spPr>
      </p:sp>
      <p:pic>
        <p:nvPicPr>
          <p:cNvPr id="18" name="Image 2" descr="/home/claude/nestle_deck/icons/atom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2785" y="1987906"/>
            <a:ext cx="541325" cy="54132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07528" y="26974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EC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8107528" y="29260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“Explore the Future”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640080" y="35661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+ Classical + Quantum</a:t>
            </a:r>
            <a:endParaRPr lang="en-US" sz="1500" dirty="0"/>
          </a:p>
        </p:txBody>
      </p:sp>
      <p:pic>
        <p:nvPicPr>
          <p:cNvPr id="22" name="Image 3" descr="/home/claude/nestle_deck/icons/arrowRight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6013552" y="3931920"/>
            <a:ext cx="164592" cy="16459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40080" y="4133088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Decision Intelligence</a:t>
            </a:r>
            <a:endParaRPr lang="en-US" sz="1500" dirty="0"/>
          </a:p>
        </p:txBody>
      </p:sp>
      <p:pic>
        <p:nvPicPr>
          <p:cNvPr id="24" name="Image 4" descr="/home/claude/nestle_deck/icons/arrowRight_te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6013552" y="4498848"/>
            <a:ext cx="164592" cy="16459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40080" y="4700016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Supply Chain Decisions</a:t>
            </a:r>
            <a:endParaRPr lang="en-US" sz="1500" dirty="0"/>
          </a:p>
        </p:txBody>
      </p:sp>
      <p:sp>
        <p:nvSpPr>
          <p:cNvPr id="26" name="Shape 19"/>
          <p:cNvSpPr/>
          <p:nvPr/>
        </p:nvSpPr>
        <p:spPr>
          <a:xfrm>
            <a:off x="2743200" y="5257800"/>
            <a:ext cx="6675120" cy="0"/>
          </a:xfrm>
          <a:prstGeom prst="line">
            <a:avLst/>
          </a:prstGeom>
          <a:noFill/>
          <a:ln w="12700">
            <a:solidFill>
              <a:srgbClr val="3A4C74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1097280" y="5394960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7D6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final architecture balances today’s business requirements with tomorrow’s quantum opportunity.”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640080" y="630936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TOOLS, RESEARCH, EVIDENCE &amp; TESTING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2026-08-07T05:23:50Z</dcterms:created>
  <dcterms:modified xsi:type="dcterms:W3CDTF">2026-08-07T05:23:50Z</dcterms:modified>
</cp:coreProperties>
</file>